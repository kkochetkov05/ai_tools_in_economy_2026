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7" r:id="rId6"/>
    <p:sldId id="257" r:id="rId7"/>
    <p:sldId id="258" r:id="rId8"/>
    <p:sldId id="268" r:id="rId9"/>
    <p:sldId id="269" r:id="rId10"/>
    <p:sldId id="263" r:id="rId11"/>
    <p:sldId id="270" r:id="rId12"/>
    <p:sldId id="264" r:id="rId13"/>
    <p:sldId id="265" r:id="rId14"/>
    <p:sldId id="271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9" userDrawn="1">
          <p15:clr>
            <a:srgbClr val="A4A3A4"/>
          </p15:clr>
        </p15:guide>
        <p15:guide id="2" pos="41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6969"/>
    <a:srgbClr val="923826"/>
    <a:srgbClr val="8FAADC"/>
    <a:srgbClr val="66A0D0"/>
    <a:srgbClr val="8C6E8E"/>
    <a:srgbClr val="AE6464"/>
    <a:srgbClr val="F8F1F1"/>
    <a:srgbClr val="D3B25F"/>
    <a:srgbClr val="C2AA46"/>
    <a:srgbClr val="9900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43" autoAdjust="0"/>
    <p:restoredTop sz="94652" autoAdjust="0"/>
  </p:normalViewPr>
  <p:slideViewPr>
    <p:cSldViewPr snapToGrid="0">
      <p:cViewPr varScale="1">
        <p:scale>
          <a:sx n="85" d="100"/>
          <a:sy n="85" d="100"/>
        </p:scale>
        <p:origin x="283" y="77"/>
      </p:cViewPr>
      <p:guideLst>
        <p:guide orient="horz" pos="2409"/>
        <p:guide pos="41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6" d="100"/>
          <a:sy n="126" d="100"/>
        </p:scale>
        <p:origin x="-490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D93DD-A479-4F6C-AF5E-6152D069177D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27F79-BC16-4DE0-8BA2-D3AF1D768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471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DAC6F-BB1F-4063-BD4A-C26C60CE3AD6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60B39-B557-40BF-9ECA-089F8F897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7456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1"/>
            <a:ext cx="3987798" cy="36850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82042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6200774"/>
            <a:ext cx="3987798" cy="65722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396784"/>
            <a:ext cx="3987797" cy="1140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086929" y="3685064"/>
            <a:ext cx="7117272" cy="2515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168400" y="3746500"/>
            <a:ext cx="11023600" cy="23876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011" y="-267304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04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1"/>
            <a:ext cx="3987798" cy="3685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8204200" cy="6857999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6200774"/>
            <a:ext cx="3987798" cy="6572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086929" y="3685064"/>
            <a:ext cx="7117272" cy="2515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168400" y="3746500"/>
            <a:ext cx="11023600" cy="23876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011" y="-64686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8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1998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084" y="1178944"/>
            <a:ext cx="7004916" cy="4122264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77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084" y="1178944"/>
            <a:ext cx="7004916" cy="412226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928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908" y="1178944"/>
            <a:ext cx="6246089" cy="412226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444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908" y="1178944"/>
            <a:ext cx="6246089" cy="412226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32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2000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41" name="Рисунок 140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602" y="1178944"/>
            <a:ext cx="6183396" cy="412226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1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3" name="Группа 52"/>
          <p:cNvGrpSpPr/>
          <p:nvPr userDrawn="1"/>
        </p:nvGrpSpPr>
        <p:grpSpPr>
          <a:xfrm>
            <a:off x="9143115" y="0"/>
            <a:ext cx="2527884" cy="1474000"/>
            <a:chOff x="9225933" y="44624"/>
            <a:chExt cx="2527884" cy="1474000"/>
          </a:xfrm>
        </p:grpSpPr>
        <p:cxnSp>
          <p:nvCxnSpPr>
            <p:cNvPr id="55" name="Прямая соединительная линия 54"/>
            <p:cNvCxnSpPr/>
            <p:nvPr userDrawn="1"/>
          </p:nvCxnSpPr>
          <p:spPr>
            <a:xfrm flipV="1">
              <a:off x="9225933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Прямая соединительная линия 56"/>
            <p:cNvCxnSpPr/>
            <p:nvPr userDrawn="1"/>
          </p:nvCxnSpPr>
          <p:spPr>
            <a:xfrm flipV="1">
              <a:off x="9340501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Прямая соединительная линия 57"/>
            <p:cNvCxnSpPr/>
            <p:nvPr userDrawn="1"/>
          </p:nvCxnSpPr>
          <p:spPr>
            <a:xfrm flipV="1">
              <a:off x="9447708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Прямая соединительная линия 58"/>
            <p:cNvCxnSpPr/>
            <p:nvPr userDrawn="1"/>
          </p:nvCxnSpPr>
          <p:spPr>
            <a:xfrm flipV="1">
              <a:off x="9562276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/>
            <p:cNvCxnSpPr/>
            <p:nvPr userDrawn="1"/>
          </p:nvCxnSpPr>
          <p:spPr>
            <a:xfrm flipV="1">
              <a:off x="9677537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Прямая соединительная линия 60"/>
            <p:cNvCxnSpPr/>
            <p:nvPr userDrawn="1"/>
          </p:nvCxnSpPr>
          <p:spPr>
            <a:xfrm flipV="1">
              <a:off x="9792105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Прямая соединительная линия 61"/>
            <p:cNvCxnSpPr/>
            <p:nvPr userDrawn="1"/>
          </p:nvCxnSpPr>
          <p:spPr>
            <a:xfrm flipV="1">
              <a:off x="9899312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единительная линия 62"/>
            <p:cNvCxnSpPr/>
            <p:nvPr userDrawn="1"/>
          </p:nvCxnSpPr>
          <p:spPr>
            <a:xfrm flipV="1">
              <a:off x="10013880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/>
            <p:cNvCxnSpPr/>
            <p:nvPr userDrawn="1"/>
          </p:nvCxnSpPr>
          <p:spPr>
            <a:xfrm flipV="1">
              <a:off x="10132589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/>
            <p:cNvCxnSpPr/>
            <p:nvPr userDrawn="1"/>
          </p:nvCxnSpPr>
          <p:spPr>
            <a:xfrm flipV="1">
              <a:off x="10247157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единительная линия 65"/>
            <p:cNvCxnSpPr/>
            <p:nvPr userDrawn="1"/>
          </p:nvCxnSpPr>
          <p:spPr>
            <a:xfrm flipV="1">
              <a:off x="10354364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единительная линия 66"/>
            <p:cNvCxnSpPr/>
            <p:nvPr userDrawn="1"/>
          </p:nvCxnSpPr>
          <p:spPr>
            <a:xfrm flipV="1">
              <a:off x="10468932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Прямая соединительная линия 67"/>
            <p:cNvCxnSpPr/>
            <p:nvPr userDrawn="1"/>
          </p:nvCxnSpPr>
          <p:spPr>
            <a:xfrm flipV="1">
              <a:off x="10584193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Прямая соединительная линия 68"/>
            <p:cNvCxnSpPr/>
            <p:nvPr userDrawn="1"/>
          </p:nvCxnSpPr>
          <p:spPr>
            <a:xfrm flipV="1">
              <a:off x="10698761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Прямая соединительная линия 69"/>
            <p:cNvCxnSpPr/>
            <p:nvPr userDrawn="1"/>
          </p:nvCxnSpPr>
          <p:spPr>
            <a:xfrm flipV="1">
              <a:off x="10805968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Прямая соединительная линия 70"/>
            <p:cNvCxnSpPr/>
            <p:nvPr userDrawn="1"/>
          </p:nvCxnSpPr>
          <p:spPr>
            <a:xfrm flipV="1">
              <a:off x="10920536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1" name="Рисунок 140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602" y="1178944"/>
            <a:ext cx="6183396" cy="4122264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62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2992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+ ненумер.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5735" y="1188720"/>
            <a:ext cx="6086475" cy="548639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426329" y="1183006"/>
            <a:ext cx="5580886" cy="549211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32289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нумерованный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5735" y="1148715"/>
            <a:ext cx="11835765" cy="548640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800100" indent="-342900">
              <a:lnSpc>
                <a:spcPct val="100000"/>
              </a:lnSpc>
              <a:buFont typeface="+mj-lt"/>
              <a:buAutoNum type="arabicPeriod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lnSpc>
                <a:spcPct val="100000"/>
              </a:lnSpc>
              <a:buFont typeface="+mj-lt"/>
              <a:buAutoNum type="arabicPeriod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714500" indent="-342900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171700" indent="-342900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57897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сто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1450" y="1177290"/>
            <a:ext cx="11812905" cy="5486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92820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+ текст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0"/>
            <a:ext cx="7008813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1450" y="1138687"/>
            <a:ext cx="4831871" cy="55135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4840605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869188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исунок +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57035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279" y="5852160"/>
            <a:ext cx="11886086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8429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лев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600646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66072" y="1786243"/>
            <a:ext cx="5242849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831" y="554439"/>
            <a:ext cx="5264342" cy="89479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07976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600646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1532" y="1786243"/>
            <a:ext cx="5681932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31" y="554439"/>
            <a:ext cx="4998322" cy="89479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71101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в центре + врезк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896758-14D2-4791-A35D-AC2EEF5FA7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13339"/>
            <a:ext cx="12203466" cy="2017541"/>
          </a:xfrm>
          <a:prstGeom prst="rect">
            <a:avLst/>
          </a:prstGeom>
        </p:spPr>
      </p:pic>
      <p:sp>
        <p:nvSpPr>
          <p:cNvPr id="5" name="Прямоугольник: один усеченный угол 11">
            <a:extLst>
              <a:ext uri="{FF2B5EF4-FFF2-40B4-BE49-F238E27FC236}">
                <a16:creationId xmlns:a16="http://schemas.microsoft.com/office/drawing/2014/main" id="{06DDF098-5CAA-4198-B8DF-EFE37CAA9E92}"/>
              </a:ext>
            </a:extLst>
          </p:cNvPr>
          <p:cNvSpPr/>
          <p:nvPr userDrawn="1"/>
        </p:nvSpPr>
        <p:spPr>
          <a:xfrm>
            <a:off x="7833360" y="2560320"/>
            <a:ext cx="3933287" cy="4000499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</a:t>
            </a:r>
            <a:endParaRPr lang="ru-RU" dirty="0"/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8161522" y="2830182"/>
            <a:ext cx="3051307" cy="22104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177165" y="3406140"/>
            <a:ext cx="7315201" cy="31375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967895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в центре + врезк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896758-14D2-4791-A35D-AC2EEF5FA7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213339"/>
            <a:ext cx="7622546" cy="2017541"/>
          </a:xfrm>
          <a:prstGeom prst="rect">
            <a:avLst/>
          </a:prstGeom>
        </p:spPr>
      </p:pic>
      <p:sp>
        <p:nvSpPr>
          <p:cNvPr id="5" name="Прямоугольник: один усеченный угол 11">
            <a:extLst>
              <a:ext uri="{FF2B5EF4-FFF2-40B4-BE49-F238E27FC236}">
                <a16:creationId xmlns:a16="http://schemas.microsoft.com/office/drawing/2014/main" id="{06DDF098-5CAA-4198-B8DF-EFE37CAA9E92}"/>
              </a:ext>
            </a:extLst>
          </p:cNvPr>
          <p:cNvSpPr/>
          <p:nvPr userDrawn="1"/>
        </p:nvSpPr>
        <p:spPr>
          <a:xfrm>
            <a:off x="7833360" y="1213338"/>
            <a:ext cx="3933287" cy="5331235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</a:t>
            </a:r>
            <a:endParaRPr lang="ru-RU" dirty="0"/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8161522" y="1483200"/>
            <a:ext cx="3051307" cy="22104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177165" y="3406140"/>
            <a:ext cx="7315201" cy="31375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4995471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+ текст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8922" y="1223010"/>
            <a:ext cx="5575433" cy="5372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Диаграмма 7"/>
          <p:cNvSpPr>
            <a:spLocks noGrp="1"/>
          </p:cNvSpPr>
          <p:nvPr>
            <p:ph type="chart" sz="quarter" idx="11"/>
          </p:nvPr>
        </p:nvSpPr>
        <p:spPr>
          <a:xfrm>
            <a:off x="171451" y="1229042"/>
            <a:ext cx="6052184" cy="5354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961370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95446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&quot;Дорожная карта&quo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Соединительная линия уступом 5"/>
          <p:cNvCxnSpPr/>
          <p:nvPr userDrawn="1"/>
        </p:nvCxnSpPr>
        <p:spPr>
          <a:xfrm>
            <a:off x="165735" y="1417320"/>
            <a:ext cx="11755755" cy="1194435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8579" y="1603362"/>
            <a:ext cx="1560232" cy="23628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2711624" y="1603362"/>
            <a:ext cx="1560232" cy="23628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308600" y="1277607"/>
            <a:ext cx="5612889" cy="5626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5879975" y="2780929"/>
            <a:ext cx="3418329" cy="10138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479220" y="2780929"/>
            <a:ext cx="2442270" cy="10138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48577" y="4821687"/>
            <a:ext cx="11612917" cy="14939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531460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1998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439165" y="2249512"/>
            <a:ext cx="5108575" cy="490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Прямоугольник 3"/>
          <p:cNvSpPr/>
          <p:nvPr userDrawn="1"/>
        </p:nvSpPr>
        <p:spPr>
          <a:xfrm>
            <a:off x="439165" y="1354812"/>
            <a:ext cx="21130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Контакты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12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D3705242-639C-4816-B6E8-01005FE983B9}"/>
              </a:ext>
            </a:extLst>
          </p:cNvPr>
          <p:cNvCxnSpPr>
            <a:cxnSpLocks/>
          </p:cNvCxnSpPr>
          <p:nvPr userDrawn="1"/>
        </p:nvCxnSpPr>
        <p:spPr>
          <a:xfrm>
            <a:off x="0" y="163887"/>
            <a:ext cx="10548046" cy="0"/>
          </a:xfrm>
          <a:prstGeom prst="line">
            <a:avLst/>
          </a:prstGeom>
          <a:ln w="9525">
            <a:solidFill>
              <a:srgbClr val="9238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3813" y="-309257"/>
            <a:ext cx="2044945" cy="110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9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51" r:id="rId3"/>
    <p:sldLayoutId id="2147483673" r:id="rId4"/>
    <p:sldLayoutId id="2147483661" r:id="rId5"/>
    <p:sldLayoutId id="2147483674" r:id="rId6"/>
    <p:sldLayoutId id="2147483660" r:id="rId7"/>
    <p:sldLayoutId id="2147483675" r:id="rId8"/>
    <p:sldLayoutId id="2147483654" r:id="rId9"/>
    <p:sldLayoutId id="2147483664" r:id="rId10"/>
    <p:sldLayoutId id="2147483658" r:id="rId11"/>
    <p:sldLayoutId id="2147483655" r:id="rId12"/>
    <p:sldLayoutId id="2147483657" r:id="rId13"/>
    <p:sldLayoutId id="2147483663" r:id="rId14"/>
    <p:sldLayoutId id="2147483665" r:id="rId15"/>
    <p:sldLayoutId id="2147483670" r:id="rId16"/>
    <p:sldLayoutId id="2147483667" r:id="rId17"/>
    <p:sldLayoutId id="2147483677" r:id="rId18"/>
    <p:sldLayoutId id="2147483668" r:id="rId19"/>
    <p:sldLayoutId id="2147483669" r:id="rId20"/>
    <p:sldLayoutId id="2147483671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pypi.org/project/Faker/" TargetMode="External"/><Relationship Id="rId3" Type="http://schemas.openxmlformats.org/officeDocument/2006/relationships/hyperlink" Target="https://aclanthology.org/2025.naacl-srw.23/" TargetMode="External"/><Relationship Id="rId7" Type="http://schemas.openxmlformats.org/officeDocument/2006/relationships/hyperlink" Target="https://huggingface.co/docs/datasets/" TargetMode="External"/><Relationship Id="rId2" Type="http://schemas.openxmlformats.org/officeDocument/2006/relationships/hyperlink" Target="https://github.com/microsoft/presidio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arxiv.org/abs/2605.09973" TargetMode="External"/><Relationship Id="rId5" Type="http://schemas.openxmlformats.org/officeDocument/2006/relationships/hyperlink" Target="https://cs.cl/" TargetMode="External"/><Relationship Id="rId4" Type="http://schemas.openxmlformats.org/officeDocument/2006/relationships/hyperlink" Target="https://huggingface.co/datasets/mks-logic/SPY" TargetMode="External"/><Relationship Id="rId9" Type="http://schemas.openxmlformats.org/officeDocument/2006/relationships/hyperlink" Target="https://huggingface.co/microsoft/mdeberta-v3-bas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200000" y="3750000"/>
            <a:ext cx="10695826" cy="149486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r>
              <a:rPr lang="ru-RU" sz="2400" dirty="0">
                <a:solidFill>
                  <a:schemeClr val="bg1"/>
                </a:solidFill>
              </a:rPr>
              <a:t>Повышение приватности данных с помощью синтетических датасетов: детекция персональных данных (PII) с использованием SPY-бенчмарка.</a:t>
            </a:r>
            <a:endParaRPr lang="ru-RU" sz="2400" dirty="0">
              <a:solidFill>
                <a:schemeClr val="bg1"/>
              </a:solidFill>
              <a:latin typeface="Open Sans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1200000" y="5143268"/>
            <a:ext cx="6900000" cy="600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l">
              <a:buNone/>
            </a:pPr>
            <a:r>
              <a:rPr lang="ru-RU" dirty="0">
                <a:solidFill>
                  <a:schemeClr val="bg1"/>
                </a:solidFill>
                <a:latin typeface="Open Sans"/>
              </a:rPr>
              <a:t>Косоруков Алексей 23.Б06-пу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Объект 1">
                <a:extLst>
                  <a:ext uri="{FF2B5EF4-FFF2-40B4-BE49-F238E27FC236}">
                    <a16:creationId xmlns:a16="http://schemas.microsoft.com/office/drawing/2014/main" id="{D23E297A-7611-55FC-55F3-7C69C1C2821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ru-RU" sz="2400" dirty="0">
                    <a:latin typeface="Open Sans"/>
                  </a:rPr>
                  <a:t>PII — </a:t>
                </a:r>
                <a:r>
                  <a:rPr lang="ru-RU" sz="2400" dirty="0" err="1">
                    <a:latin typeface="Open Sans"/>
                  </a:rPr>
                  <a:t>Personally</a:t>
                </a:r>
                <a:r>
                  <a:rPr lang="ru-RU" sz="2400" dirty="0">
                    <a:latin typeface="Open Sans"/>
                  </a:rPr>
                  <a:t> </a:t>
                </a:r>
                <a:r>
                  <a:rPr lang="ru-RU" sz="2400" dirty="0" err="1">
                    <a:latin typeface="Open Sans"/>
                  </a:rPr>
                  <a:t>Identifiable</a:t>
                </a:r>
                <a:r>
                  <a:rPr lang="ru-RU" sz="2400" dirty="0">
                    <a:latin typeface="Open Sans"/>
                  </a:rPr>
                  <a:t> Information</a:t>
                </a:r>
              </a:p>
              <a:p>
                <a:r>
                  <a:rPr lang="ru-RU" sz="1800" dirty="0">
                    <a:latin typeface="Open Sans"/>
                  </a:rPr>
                  <a:t>Информация, позволяющая идентифицировать индивида: имена, адреса, телефоны,</a:t>
                </a:r>
                <a:r>
                  <a:rPr lang="en-US" sz="1800" dirty="0">
                    <a:latin typeface="Open Sans"/>
                  </a:rPr>
                  <a:t> </a:t>
                </a:r>
                <a:r>
                  <a:rPr lang="ru-RU" sz="1800" dirty="0" err="1">
                    <a:latin typeface="Open Sans"/>
                  </a:rPr>
                  <a:t>email</a:t>
                </a:r>
                <a:r>
                  <a:rPr lang="ru-RU" sz="1800" dirty="0">
                    <a:latin typeface="Open Sans"/>
                  </a:rPr>
                  <a:t>, ID-номера, банковские реквизиты и т.д.</a:t>
                </a:r>
              </a:p>
              <a:p>
                <a:endParaRPr lang="ru-RU" dirty="0">
                  <a:latin typeface="Open Sans"/>
                </a:endParaRPr>
              </a:p>
              <a:p>
                <a:r>
                  <a:rPr lang="ru-RU" sz="2400" dirty="0">
                    <a:latin typeface="Open Sans"/>
                  </a:rPr>
                  <a:t>Формальная постановка задачи</a:t>
                </a:r>
                <a:endParaRPr lang="en-US" sz="2400" dirty="0">
                  <a:latin typeface="Open Sans"/>
                </a:endParaRPr>
              </a:p>
              <a:p>
                <a:r>
                  <a:rPr lang="ru-RU" sz="1800" dirty="0">
                    <a:latin typeface="Open Sans"/>
                  </a:rPr>
                  <a:t>Дана последовательность </a:t>
                </a:r>
                <a:r>
                  <a:rPr lang="en-US" sz="1800" b="1" dirty="0"/>
                  <a:t>x</a:t>
                </a:r>
                <a:r>
                  <a:rPr lang="en-US" sz="1800" dirty="0"/>
                  <a:t>=(</a:t>
                </a:r>
                <a:r>
                  <a:rPr lang="en-US" sz="1800" i="1" dirty="0"/>
                  <a:t>x</a:t>
                </a:r>
                <a:r>
                  <a:rPr lang="en-US" sz="1800" dirty="0"/>
                  <a:t>1​,...,</a:t>
                </a:r>
                <a:r>
                  <a:rPr lang="en-US" sz="1800" i="1" dirty="0" err="1"/>
                  <a:t>xn</a:t>
                </a:r>
                <a:r>
                  <a:rPr lang="en-US" sz="1800" dirty="0"/>
                  <a:t>​), </a:t>
                </a:r>
                <a:r>
                  <a:rPr lang="ru-RU" sz="1800" dirty="0">
                    <a:latin typeface="Open Sans"/>
                  </a:rPr>
                  <a:t>предсказать </a:t>
                </a:r>
                <a:r>
                  <a:rPr lang="ar-AE" sz="1800" dirty="0"/>
                  <a:t> 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800" b="1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acc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sz="1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..</m:t>
                        </m:r>
                        <m:sSub>
                          <m:sSub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ar-AE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sz="1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800" dirty="0">
                    <a:latin typeface="Open Sans"/>
                  </a:rPr>
                  <a:t>, где 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800">
                        <a:latin typeface="Cambria Math" panose="02040503050406030204" pitchFamily="18" charset="0"/>
                      </a:rPr>
                      <m:t>∈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ru-RU" sz="1800" dirty="0">
                    <a:latin typeface="Open Sans"/>
                  </a:rPr>
                  <a:t> — метки BIO-схемы.</a:t>
                </a:r>
              </a:p>
              <a:p>
                <a:endParaRPr lang="ru-RU" sz="2400" dirty="0">
                  <a:latin typeface="Open Sans"/>
                </a:endParaRPr>
              </a:p>
              <a:p>
                <a:r>
                  <a:rPr lang="ru-RU" sz="2400" dirty="0">
                    <a:solidFill>
                      <a:srgbClr val="696969"/>
                    </a:solidFill>
                    <a:latin typeface="Open Sans"/>
                  </a:rPr>
                  <a:t>BIO-схема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2" name="Объект 1">
                <a:extLst>
                  <a:ext uri="{FF2B5EF4-FFF2-40B4-BE49-F238E27FC236}">
                    <a16:creationId xmlns:a16="http://schemas.microsoft.com/office/drawing/2014/main" id="{D23E297A-7611-55FC-55F3-7C69C1C282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771" t="-88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484B810-16C0-FA70-5644-64726BB7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Open Sans"/>
              </a:rPr>
              <a:t>Что такое PII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B238A13-EBA4-7A91-0A2C-8156AA1E8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878482"/>
              </p:ext>
            </p:extLst>
          </p:nvPr>
        </p:nvGraphicFramePr>
        <p:xfrm>
          <a:off x="263584" y="4214724"/>
          <a:ext cx="5628258" cy="233207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2799751">
                  <a:extLst>
                    <a:ext uri="{9D8B030D-6E8A-4147-A177-3AD203B41FA5}">
                      <a16:colId xmlns:a16="http://schemas.microsoft.com/office/drawing/2014/main" val="3199757619"/>
                    </a:ext>
                  </a:extLst>
                </a:gridCol>
                <a:gridCol w="2828507">
                  <a:extLst>
                    <a:ext uri="{9D8B030D-6E8A-4147-A177-3AD203B41FA5}">
                      <a16:colId xmlns:a16="http://schemas.microsoft.com/office/drawing/2014/main" val="3947525705"/>
                    </a:ext>
                  </a:extLst>
                </a:gridCol>
              </a:tblGrid>
              <a:tr h="85680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ru-RU" sz="2400" b="0" dirty="0">
                          <a:solidFill>
                            <a:schemeClr val="bg1"/>
                          </a:solidFill>
                          <a:latin typeface="+mn-lt"/>
                        </a:rPr>
                        <a:t>B-TYPE</a:t>
                      </a:r>
                      <a:endParaRPr lang="ru-RU" sz="2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dirty="0">
                          <a:solidFill>
                            <a:schemeClr val="bg1"/>
                          </a:solidFill>
                          <a:latin typeface="+mn-lt"/>
                        </a:rPr>
                        <a:t>начало сущности типа TYPE</a:t>
                      </a:r>
                    </a:p>
                    <a:p>
                      <a:endParaRPr lang="ru-RU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235641"/>
                  </a:ext>
                </a:extLst>
              </a:tr>
              <a:tr h="6556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400" b="0" dirty="0">
                          <a:solidFill>
                            <a:schemeClr val="bg1"/>
                          </a:solidFill>
                          <a:latin typeface="+mn-lt"/>
                        </a:rPr>
                        <a:t>I-TYPE</a:t>
                      </a:r>
                      <a:endParaRPr lang="ru-RU" sz="2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bg1"/>
                          </a:solidFill>
                          <a:latin typeface="+mn-lt"/>
                        </a:rPr>
                        <a:t>продолжение сущности</a:t>
                      </a:r>
                      <a:endParaRPr lang="ru-RU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37577"/>
                  </a:ext>
                </a:extLst>
              </a:tr>
              <a:tr h="6556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400" b="0" dirty="0">
                          <a:solidFill>
                            <a:schemeClr val="bg1"/>
                          </a:solidFill>
                          <a:latin typeface="+mn-lt"/>
                        </a:rPr>
                        <a:t>O</a:t>
                      </a:r>
                      <a:endParaRPr lang="ru-RU" sz="2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solidFill>
                            <a:schemeClr val="bg1"/>
                          </a:solidFill>
                          <a:latin typeface="+mn-lt"/>
                        </a:rPr>
                        <a:t>токен вне PII</a:t>
                      </a:r>
                      <a:endParaRPr lang="ru-RU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23920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DC36AAE-8617-4BE8-4732-7A67E80A0CA8}"/>
              </a:ext>
            </a:extLst>
          </p:cNvPr>
          <p:cNvSpPr txBox="1"/>
          <p:nvPr/>
        </p:nvSpPr>
        <p:spPr>
          <a:xfrm>
            <a:off x="6258932" y="3694158"/>
            <a:ext cx="499469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696969"/>
                </a:solidFill>
              </a:rPr>
              <a:t>Пример</a:t>
            </a:r>
          </a:p>
          <a:p>
            <a:endParaRPr lang="ru-RU" dirty="0"/>
          </a:p>
          <a:p>
            <a:r>
              <a:rPr lang="pt-BR" dirty="0">
                <a:solidFill>
                  <a:srgbClr val="696969"/>
                </a:solidFill>
              </a:rPr>
              <a:t>Меня     O</a:t>
            </a:r>
          </a:p>
          <a:p>
            <a:r>
              <a:rPr lang="pt-BR" dirty="0">
                <a:solidFill>
                  <a:srgbClr val="696969"/>
                </a:solidFill>
              </a:rPr>
              <a:t>зовут    O</a:t>
            </a:r>
          </a:p>
          <a:p>
            <a:r>
              <a:rPr lang="pt-BR" dirty="0">
                <a:solidFill>
                  <a:srgbClr val="696969"/>
                </a:solidFill>
              </a:rPr>
              <a:t>Иван     B-NAME</a:t>
            </a:r>
          </a:p>
          <a:p>
            <a:r>
              <a:rPr lang="pt-BR" dirty="0">
                <a:solidFill>
                  <a:srgbClr val="696969"/>
                </a:solidFill>
              </a:rPr>
              <a:t>Петров   I-NAME</a:t>
            </a:r>
          </a:p>
          <a:p>
            <a:r>
              <a:rPr lang="pt-BR" dirty="0">
                <a:solidFill>
                  <a:srgbClr val="696969"/>
                </a:solidFill>
              </a:rPr>
              <a:t>,        O</a:t>
            </a:r>
          </a:p>
          <a:p>
            <a:r>
              <a:rPr lang="pt-BR" dirty="0">
                <a:solidFill>
                  <a:srgbClr val="696969"/>
                </a:solidFill>
              </a:rPr>
              <a:t>email    O</a:t>
            </a:r>
          </a:p>
          <a:p>
            <a:r>
              <a:rPr lang="pt-BR" dirty="0">
                <a:solidFill>
                  <a:srgbClr val="696969"/>
                </a:solidFill>
              </a:rPr>
              <a:t>ivan@mail.ru B-EMAIL</a:t>
            </a:r>
            <a:endParaRPr lang="ru-RU" dirty="0">
              <a:solidFill>
                <a:srgbClr val="6969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2705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Текст 1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ru-RU" sz="2400" dirty="0">
                    <a:latin typeface="Open Sans"/>
                  </a:rPr>
                  <a:t>Фундаментальное противоречие</a:t>
                </a:r>
              </a:p>
              <a:p>
                <a:pPr marL="342900" indent="-342900">
                  <a:buChar char="•"/>
                </a:pPr>
                <a:r>
                  <a:rPr lang="ru-RU" sz="1800" dirty="0">
                    <a:latin typeface="Open Sans"/>
                  </a:rPr>
                  <a:t>Для обучения PII-детекторов нужны реальные тексты с именами, телефонами, адресами</a:t>
                </a:r>
              </a:p>
              <a:p>
                <a:pPr marL="342900" indent="-342900">
                  <a:buChar char="•"/>
                </a:pPr>
                <a:r>
                  <a:rPr lang="ru-RU" sz="1800" dirty="0">
                    <a:latin typeface="Open Sans"/>
                  </a:rPr>
                  <a:t>Сбор и распространение таких данных создают неприемлемые риски утечки</a:t>
                </a:r>
              </a:p>
              <a:p>
                <a:pPr marL="342900" indent="-342900">
                  <a:buChar char="•"/>
                </a:pPr>
                <a:r>
                  <a:rPr lang="ru-RU" sz="1800" dirty="0">
                    <a:latin typeface="Open Sans"/>
                  </a:rPr>
                  <a:t>Решение — синтетические датасеты, воспроизводящие статистические паттерны без привязки к живым людям</a:t>
                </a:r>
              </a:p>
              <a:p>
                <a:pPr>
                  <a:buNone/>
                </a:pPr>
                <a:endParaRPr lang="ru-RU" sz="1600" dirty="0">
                  <a:latin typeface="Open Sans"/>
                </a:endParaRPr>
              </a:p>
              <a:p>
                <a:pPr>
                  <a:buNone/>
                </a:pPr>
                <a:endParaRPr lang="ru-RU" sz="1600" dirty="0">
                  <a:latin typeface="Open Sans"/>
                </a:endParaRPr>
              </a:p>
              <a:p>
                <a:pPr>
                  <a:buNone/>
                </a:pPr>
                <a:r>
                  <a:rPr lang="ru-RU" sz="2400" dirty="0">
                    <a:latin typeface="Open Sans"/>
                  </a:rPr>
                  <a:t>Математическая формализация</a:t>
                </a:r>
              </a:p>
              <a:p>
                <a:r>
                  <a:rPr lang="ru-RU" sz="1800" dirty="0">
                    <a:latin typeface="Open Sans"/>
                  </a:rPr>
                  <a:t>Задача: построить </a:t>
                </a:r>
                <a:r>
                  <a:rPr lang="ar-AE" sz="1800" dirty="0"/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800"/>
                          <m:t>synth</m:t>
                        </m:r>
                      </m:sub>
                    </m:sSub>
                    <m:d>
                      <m:dPr>
                        <m:sepChr m:val=","/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sSup>
                          <m:sSup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sz="1800" dirty="0">
                    <a:latin typeface="Open Sans"/>
                  </a:rPr>
                  <a:t> такое, что модель, обученная на синтетике, минимизирует риск на реальных данных при обучении на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sSup>
                          <m:sSup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ru-RU" sz="1800" dirty="0">
                  <a:latin typeface="Open Sans"/>
                </a:endParaRPr>
              </a:p>
              <a:p>
                <a:endParaRPr lang="ru-RU" sz="2000" dirty="0">
                  <a:latin typeface="Open Sans"/>
                </a:endParaRPr>
              </a:p>
              <a:p>
                <a:endParaRPr lang="ru-RU" sz="2000" dirty="0">
                  <a:latin typeface="Open Sans"/>
                </a:endParaRPr>
              </a:p>
              <a:p>
                <a:endParaRPr lang="ru-RU" sz="2000" dirty="0">
                  <a:latin typeface="Open Sans"/>
                </a:endParaRPr>
              </a:p>
              <a:p>
                <a:r>
                  <a:rPr lang="ru-RU" sz="1800" dirty="0">
                    <a:latin typeface="Open Sans"/>
                  </a:rPr>
                  <a:t>Ключевой момент: обучаемся на</a:t>
                </a:r>
                <a:r>
                  <a:rPr lang="ru-RU" sz="2400" dirty="0">
                    <a:latin typeface="Open Sans"/>
                  </a:rPr>
                  <a:t> </a:t>
                </a:r>
                <a:r>
                  <a:rPr lang="ar-AE" sz="2400" dirty="0"/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800"/>
                          <m:t>synth</m:t>
                        </m:r>
                      </m:sub>
                    </m:sSub>
                  </m:oMath>
                </a14:m>
                <a:r>
                  <a:rPr lang="ru-RU" sz="1800" dirty="0">
                    <a:latin typeface="Open Sans"/>
                  </a:rPr>
                  <a:t>, но оцениваемся на </a:t>
                </a:r>
                <a:r>
                  <a:rPr lang="ar-AE" sz="1800" dirty="0"/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rea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ru-RU" sz="1800" dirty="0">
                  <a:latin typeface="Open Sans"/>
                </a:endParaRPr>
              </a:p>
            </p:txBody>
          </p:sp>
        </mc:Choice>
        <mc:Fallback xmlns="">
          <p:sp>
            <p:nvSpPr>
              <p:cNvPr id="2" name="Текст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771" t="-88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ru-RU" sz="2800" b="1" dirty="0">
                <a:latin typeface="Open Sans"/>
              </a:rPr>
              <a:t>Проблема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1D2918-0DF4-86E6-2127-BDA9005C8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596" y="4884316"/>
            <a:ext cx="4189385" cy="7314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Текст 1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65734" y="1188720"/>
                <a:ext cx="9737391" cy="5486399"/>
              </a:xfrm>
            </p:spPr>
            <p:txBody>
              <a:bodyPr/>
              <a:lstStyle/>
              <a:p>
                <a:pPr>
                  <a:buNone/>
                </a:pPr>
                <a:r>
                  <a:rPr lang="ru-RU" sz="2400" dirty="0">
                    <a:latin typeface="Open Sans"/>
                  </a:rPr>
                  <a:t>Принцип динамической генерации</a:t>
                </a:r>
              </a:p>
              <a:p>
                <a:pPr>
                  <a:buNone/>
                </a:pPr>
                <a:r>
                  <a:rPr lang="en-US" sz="1600" dirty="0">
                    <a:latin typeface="Open Sans"/>
                  </a:rPr>
                  <a:t>	</a:t>
                </a:r>
                <a:r>
                  <a:rPr lang="ru-RU" sz="1800" dirty="0">
                    <a:latin typeface="Open Sans"/>
                  </a:rPr>
                  <a:t>Тексты хранятся как шаблоны с плейсхолдерами. При</a:t>
                </a:r>
                <a:r>
                  <a:rPr lang="en-US" sz="1800" dirty="0">
                    <a:latin typeface="Open Sans"/>
                  </a:rPr>
                  <a:t> </a:t>
                </a:r>
                <a:r>
                  <a:rPr lang="ru-RU" sz="1800" dirty="0">
                    <a:latin typeface="Open Sans"/>
                  </a:rPr>
                  <a:t>загрузке PII-сущности</a:t>
                </a:r>
                <a:r>
                  <a:rPr lang="en-US" sz="1800" dirty="0">
                    <a:latin typeface="Open Sans"/>
                  </a:rPr>
                  <a:t> </a:t>
                </a:r>
                <a:r>
                  <a:rPr lang="ru-RU" sz="1800" dirty="0">
                    <a:latin typeface="Open Sans"/>
                  </a:rPr>
                  <a:t>подставляются «на лету»</a:t>
                </a:r>
                <a:r>
                  <a:rPr lang="en-US" sz="1800" dirty="0">
                    <a:latin typeface="Open Sans"/>
                  </a:rPr>
                  <a:t> </a:t>
                </a:r>
                <a:r>
                  <a:rPr lang="ru-RU" sz="1800" dirty="0">
                    <a:latin typeface="Open Sans"/>
                  </a:rPr>
                  <a:t>из библиотеки </a:t>
                </a:r>
                <a:r>
                  <a:rPr lang="ru-RU" sz="1800" dirty="0" err="1">
                    <a:latin typeface="Open Sans"/>
                  </a:rPr>
                  <a:t>Faker</a:t>
                </a:r>
                <a:r>
                  <a:rPr lang="ru-RU" sz="1800" dirty="0">
                    <a:latin typeface="Open Sans"/>
                  </a:rPr>
                  <a:t>.</a:t>
                </a:r>
                <a:endParaRPr lang="en-US" sz="1800" dirty="0">
                  <a:latin typeface="Open Sans"/>
                </a:endParaRPr>
              </a:p>
              <a:p>
                <a:pPr>
                  <a:buNone/>
                </a:pPr>
                <a:endParaRPr lang="ru-RU" sz="1600" dirty="0">
                  <a:latin typeface="Open Sans"/>
                </a:endParaRPr>
              </a:p>
              <a:p>
                <a:pPr>
                  <a:buNone/>
                </a:pPr>
                <a:r>
                  <a:rPr lang="ru-RU" sz="2400" dirty="0">
                    <a:latin typeface="Open Sans"/>
                  </a:rPr>
                  <a:t>Преимущества:</a:t>
                </a:r>
              </a:p>
              <a:p>
                <a:pPr marL="342900" indent="-342900">
                  <a:buChar char="•"/>
                </a:pPr>
                <a:r>
                  <a:rPr lang="ru-RU" sz="1800" dirty="0">
                    <a:latin typeface="Open Sans"/>
                  </a:rPr>
                  <a:t>Бесконечная вариативность при каждом новом сиде</a:t>
                </a:r>
              </a:p>
              <a:p>
                <a:pPr marL="342900" indent="-342900">
                  <a:buChar char="•"/>
                </a:pPr>
                <a:r>
                  <a:rPr lang="ru-RU" sz="1800" dirty="0">
                    <a:latin typeface="Open Sans"/>
                  </a:rPr>
                  <a:t>Полная воспроизводимость при фиксированном </a:t>
                </a:r>
                <a:r>
                  <a:rPr lang="ru-RU" sz="1800" b="1" dirty="0">
                    <a:latin typeface="Open Sans"/>
                  </a:rPr>
                  <a:t>faker_random_seed</a:t>
                </a:r>
              </a:p>
              <a:p>
                <a:pPr marL="342900" indent="-342900">
                  <a:buChar char="•"/>
                </a:pPr>
                <a:r>
                  <a:rPr lang="ru-RU" sz="1800" dirty="0">
                    <a:latin typeface="Open Sans"/>
                  </a:rPr>
                  <a:t>Разметка BIO вычисляется автоматически — ручной труд не требуется</a:t>
                </a:r>
                <a:endParaRPr lang="en-US" sz="1800" dirty="0">
                  <a:latin typeface="Open Sans"/>
                </a:endParaRPr>
              </a:p>
              <a:p>
                <a:pPr marL="342900" indent="-342900">
                  <a:buChar char="•"/>
                </a:pPr>
                <a:endParaRPr lang="ru-RU" sz="1600" dirty="0">
                  <a:latin typeface="Open Sans"/>
                </a:endParaRPr>
              </a:p>
              <a:p>
                <a:pPr>
                  <a:buNone/>
                </a:pPr>
                <a:r>
                  <a:rPr lang="ru-RU" sz="2400" dirty="0">
                    <a:latin typeface="Open Sans"/>
                  </a:rPr>
                  <a:t>Математическая модель</a:t>
                </a:r>
              </a:p>
              <a:p>
                <a:pPr>
                  <a:buNone/>
                </a:pPr>
                <a:r>
                  <a:rPr lang="en-US" sz="1800" dirty="0">
                    <a:latin typeface="Open Sans"/>
                  </a:rPr>
                  <a:t>	</a:t>
                </a:r>
                <a:r>
                  <a:rPr lang="ru-RU" sz="1800" dirty="0">
                    <a:latin typeface="Open Sans"/>
                  </a:rPr>
                  <a:t>Шаблон </a:t>
                </a:r>
                <a:r>
                  <a:rPr lang="en-US" sz="2400" i="1" dirty="0"/>
                  <a:t>T 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ℰ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→ X, </a:t>
                </a:r>
                <a:r>
                  <a:rPr lang="ru-RU" sz="2400" dirty="0"/>
                  <a:t>где 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ℰ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ar-AE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..</m:t>
                        </m:r>
                        <m:sSub>
                          <m:sSub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800" dirty="0">
                    <a:latin typeface="Open Sans"/>
                  </a:rPr>
                  <a:t>— множество типов сущностей</a:t>
                </a:r>
              </a:p>
              <a:p>
                <a:pPr>
                  <a:buNone/>
                </a:pPr>
                <a:r>
                  <a:rPr lang="en-US" sz="1800" dirty="0">
                    <a:latin typeface="Open Sans"/>
                  </a:rPr>
                  <a:t>	</a:t>
                </a:r>
                <a:r>
                  <a:rPr lang="ru-RU" sz="1800" dirty="0">
                    <a:latin typeface="Open Sans"/>
                  </a:rPr>
                  <a:t>Генератор </a:t>
                </a:r>
                <a:r>
                  <a:rPr lang="en-US" sz="2400" i="1" dirty="0" err="1"/>
                  <a:t>gj</a:t>
                </a:r>
                <a:r>
                  <a:rPr lang="en-US" sz="2400" i="1" dirty="0"/>
                  <a:t> </a:t>
                </a:r>
                <a:r>
                  <a:rPr lang="en-US" sz="2400" dirty="0"/>
                  <a:t>​: S → </a:t>
                </a:r>
                <a:r>
                  <a:rPr lang="en-US" sz="2400" dirty="0" err="1"/>
                  <a:t>V</a:t>
                </a:r>
                <a:r>
                  <a:rPr lang="en-US" sz="2400" i="1" dirty="0" err="1"/>
                  <a:t>j</a:t>
                </a:r>
                <a:r>
                  <a:rPr lang="en-US" sz="2400" dirty="0"/>
                  <a:t>​</a:t>
                </a:r>
                <a:r>
                  <a:rPr lang="ru-RU" sz="1800" dirty="0">
                    <a:latin typeface="Open Sans"/>
                  </a:rPr>
                  <a:t>— отображает сид в значение сущности</a:t>
                </a:r>
              </a:p>
            </p:txBody>
          </p:sp>
        </mc:Choice>
        <mc:Fallback xmlns="">
          <p:sp>
            <p:nvSpPr>
              <p:cNvPr id="2" name="Текст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65734" y="1188720"/>
                <a:ext cx="9737391" cy="5486399"/>
              </a:xfrm>
              <a:blipFill>
                <a:blip r:embed="rId2"/>
                <a:stretch>
                  <a:fillRect l="-939" t="-1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ru-RU" sz="2800" b="1" dirty="0">
                <a:latin typeface="Open Sans"/>
              </a:rPr>
              <a:t>Генерация синтетических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013708-D069-AB3F-F598-0F65C8868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875" y="5926811"/>
            <a:ext cx="6892604" cy="4967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098BE-BDF9-EDD2-B412-C657E648D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DF856078-6559-4AD0-FE2E-E77FFB5EFB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sz="2000" dirty="0"/>
              <a:t>Функция потерь — перекрёстная энтропия на уровне токенов</a:t>
            </a:r>
            <a:r>
              <a:rPr lang="ru-RU" sz="2400" dirty="0"/>
              <a:t>:</a:t>
            </a:r>
          </a:p>
          <a:p>
            <a:endParaRPr lang="ru-RU" dirty="0">
              <a:latin typeface="Open Sans"/>
            </a:endParaRPr>
          </a:p>
          <a:p>
            <a:endParaRPr lang="ru-RU" dirty="0">
              <a:latin typeface="Open Sans"/>
            </a:endParaRPr>
          </a:p>
          <a:p>
            <a:endParaRPr lang="ru-RU" dirty="0">
              <a:latin typeface="Open Sans"/>
            </a:endParaRPr>
          </a:p>
          <a:p>
            <a:endParaRPr lang="ru-RU" dirty="0">
              <a:latin typeface="Open Sans"/>
            </a:endParaRPr>
          </a:p>
          <a:p>
            <a:r>
              <a:rPr lang="ru-RU" sz="2000" dirty="0"/>
              <a:t>Метрика — </a:t>
            </a:r>
            <a:r>
              <a:rPr lang="en-US" sz="2000" dirty="0"/>
              <a:t>span-level F1</a:t>
            </a:r>
            <a:endParaRPr lang="ru-RU" sz="2000" dirty="0"/>
          </a:p>
          <a:p>
            <a:r>
              <a:rPr lang="ru-RU" sz="1800" dirty="0"/>
              <a:t>В отличие от </a:t>
            </a:r>
            <a:r>
              <a:rPr lang="en-US" sz="1800" b="1" dirty="0"/>
              <a:t>token-level</a:t>
            </a:r>
            <a:r>
              <a:rPr lang="ru-RU" sz="1800" dirty="0"/>
              <a:t> </a:t>
            </a:r>
            <a:r>
              <a:rPr lang="ru-RU" sz="1800" b="1" dirty="0" err="1"/>
              <a:t>accuracy</a:t>
            </a:r>
            <a:r>
              <a:rPr lang="ru-RU" sz="1800" dirty="0"/>
              <a:t>, засчитывает предсказание как верное только при точном совпадении всех токенов </a:t>
            </a:r>
            <a:r>
              <a:rPr lang="ru-RU" sz="1800" dirty="0" err="1"/>
              <a:t>спана</a:t>
            </a:r>
            <a:r>
              <a:rPr lang="ru-RU" sz="1800" dirty="0"/>
              <a:t> и его типа: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en-US" sz="1800" dirty="0">
                <a:latin typeface="Open Sans"/>
              </a:rPr>
              <a:t>s</a:t>
            </a:r>
            <a:r>
              <a:rPr lang="ru-RU" sz="1800" dirty="0" err="1">
                <a:latin typeface="Open Sans"/>
              </a:rPr>
              <a:t>pan-level</a:t>
            </a:r>
            <a:r>
              <a:rPr lang="ru-RU" sz="1800" dirty="0">
                <a:latin typeface="Open Sans"/>
              </a:rPr>
              <a:t> F1 фокусируется именно на качестве обнаружения PII-</a:t>
            </a:r>
            <a:r>
              <a:rPr lang="ru-RU" sz="1800" dirty="0" err="1">
                <a:latin typeface="Open Sans"/>
              </a:rPr>
              <a:t>спанов</a:t>
            </a:r>
            <a:r>
              <a:rPr lang="ru-RU" sz="1800" dirty="0">
                <a:latin typeface="Open Sans"/>
              </a:rPr>
              <a:t>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94F3561-8EB3-7541-8F79-72C4D19BC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Open Sans"/>
              </a:rPr>
              <a:t>Функция потерь и метрики</a:t>
            </a:r>
            <a:endParaRPr lang="ru-RU" b="1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5886EB7-A880-7D46-37A4-3005798BA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6" y="1572172"/>
            <a:ext cx="5246001" cy="85783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7C723F4-14EC-6848-7464-413503A53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551" y="3992358"/>
            <a:ext cx="7301676" cy="144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392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F64A2-48A4-404B-F1DC-92B643021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36B54DFB-D2E7-459D-E894-96A4391E77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sz="1800" dirty="0">
                <a:latin typeface="Open Sans"/>
              </a:rPr>
              <a:t>SPY — </a:t>
            </a:r>
            <a:r>
              <a:rPr lang="ru-RU" sz="1800" dirty="0" err="1">
                <a:latin typeface="Open Sans"/>
              </a:rPr>
              <a:t>Specify</a:t>
            </a:r>
            <a:r>
              <a:rPr lang="ru-RU" sz="1800" dirty="0">
                <a:latin typeface="Open Sans"/>
              </a:rPr>
              <a:t> </a:t>
            </a:r>
            <a:r>
              <a:rPr lang="ru-RU" sz="1800" dirty="0" err="1">
                <a:latin typeface="Open Sans"/>
              </a:rPr>
              <a:t>Privacy</a:t>
            </a:r>
            <a:r>
              <a:rPr lang="ru-RU" sz="1800" dirty="0">
                <a:latin typeface="Open Sans"/>
              </a:rPr>
              <a:t> </a:t>
            </a:r>
            <a:r>
              <a:rPr lang="ru-RU" sz="1800" dirty="0" err="1">
                <a:latin typeface="Open Sans"/>
              </a:rPr>
              <a:t>Yourself</a:t>
            </a:r>
            <a:r>
              <a:rPr lang="ru-RU" sz="1800" dirty="0">
                <a:latin typeface="Open Sans"/>
              </a:rPr>
              <a:t> (NAACL 2025)</a:t>
            </a:r>
            <a:r>
              <a:rPr lang="en-US" sz="1800" dirty="0">
                <a:latin typeface="Open Sans"/>
              </a:rPr>
              <a:t>. </a:t>
            </a:r>
            <a:r>
              <a:rPr lang="ru-RU" sz="1800" dirty="0">
                <a:latin typeface="Open Sans"/>
              </a:rPr>
              <a:t>Первый публичный кросс-доменный бенчмарк для PII-детекторов.</a:t>
            </a:r>
            <a:endParaRPr lang="en-US" sz="1800" dirty="0">
              <a:latin typeface="Open Sans"/>
            </a:endParaRPr>
          </a:p>
          <a:p>
            <a:endParaRPr lang="ru-RU" sz="2000" dirty="0">
              <a:latin typeface="Open Sans"/>
            </a:endParaRPr>
          </a:p>
          <a:p>
            <a:r>
              <a:rPr lang="ru-RU" sz="2400" dirty="0">
                <a:latin typeface="Open Sans"/>
              </a:rPr>
              <a:t>Состав датасета</a:t>
            </a:r>
          </a:p>
          <a:p>
            <a:pPr marL="342900" indent="-342900">
              <a:buChar char="•"/>
            </a:pPr>
            <a:r>
              <a:rPr lang="ru-RU" sz="1800" dirty="0">
                <a:latin typeface="Open Sans"/>
              </a:rPr>
              <a:t>Медицинские консультации: 4 491 текст</a:t>
            </a:r>
          </a:p>
          <a:p>
            <a:pPr marL="342900" indent="-342900">
              <a:buChar char="•"/>
            </a:pPr>
            <a:r>
              <a:rPr lang="ru-RU" sz="1800" dirty="0">
                <a:latin typeface="Open Sans"/>
              </a:rPr>
              <a:t>Юридические вопросы: 4 197 текстов</a:t>
            </a:r>
            <a:endParaRPr lang="en-US" sz="1800" dirty="0">
              <a:latin typeface="Open Sans"/>
            </a:endParaRPr>
          </a:p>
          <a:p>
            <a:pPr marL="342900" indent="-342900">
              <a:buChar char="•"/>
            </a:pPr>
            <a:endParaRPr lang="ru-RU" sz="1800" dirty="0">
              <a:latin typeface="Open Sans"/>
            </a:endParaRPr>
          </a:p>
          <a:p>
            <a:r>
              <a:rPr lang="ru-RU" sz="2400" dirty="0">
                <a:latin typeface="Open Sans"/>
              </a:rPr>
              <a:t>7 типов PII:</a:t>
            </a:r>
          </a:p>
          <a:p>
            <a:r>
              <a:rPr lang="ru-RU" sz="1800" dirty="0">
                <a:latin typeface="Open Sans"/>
              </a:rPr>
              <a:t>URL, </a:t>
            </a:r>
            <a:r>
              <a:rPr lang="ru-RU" sz="1800" dirty="0" err="1">
                <a:latin typeface="Open Sans"/>
              </a:rPr>
              <a:t>email</a:t>
            </a:r>
            <a:r>
              <a:rPr lang="ru-RU" sz="1800" dirty="0">
                <a:latin typeface="Open Sans"/>
              </a:rPr>
              <a:t>, </a:t>
            </a:r>
            <a:r>
              <a:rPr lang="ru-RU" sz="1800" dirty="0" err="1">
                <a:latin typeface="Open Sans"/>
              </a:rPr>
              <a:t>username</a:t>
            </a:r>
            <a:r>
              <a:rPr lang="ru-RU" sz="1800" dirty="0">
                <a:latin typeface="Open Sans"/>
              </a:rPr>
              <a:t>, физический адрес, имя, номер телефона, ID-номер</a:t>
            </a:r>
            <a:endParaRPr lang="en-US" sz="1800" dirty="0">
              <a:latin typeface="Open Sans"/>
            </a:endParaRPr>
          </a:p>
          <a:p>
            <a:endParaRPr lang="en-US" sz="1800" dirty="0">
              <a:latin typeface="Open Sans"/>
            </a:endParaRPr>
          </a:p>
          <a:p>
            <a:r>
              <a:rPr lang="ru-RU" sz="2400" dirty="0">
                <a:latin typeface="Open Sans"/>
              </a:rPr>
              <a:t>Архитектурная особенность</a:t>
            </a:r>
          </a:p>
          <a:p>
            <a:r>
              <a:rPr lang="ru-RU" sz="1800" dirty="0">
                <a:latin typeface="Open Sans"/>
              </a:rPr>
              <a:t>Динамическая генерация через </a:t>
            </a:r>
            <a:r>
              <a:rPr lang="ru-RU" sz="1800" dirty="0" err="1">
                <a:latin typeface="Open Sans"/>
              </a:rPr>
              <a:t>Hugging</a:t>
            </a:r>
            <a:r>
              <a:rPr lang="ru-RU" sz="1800" dirty="0">
                <a:latin typeface="Open Sans"/>
              </a:rPr>
              <a:t> Face </a:t>
            </a:r>
            <a:r>
              <a:rPr lang="ru-RU" sz="1800" dirty="0" err="1">
                <a:latin typeface="Open Sans"/>
              </a:rPr>
              <a:t>datasets</a:t>
            </a:r>
            <a:r>
              <a:rPr lang="ru-RU" sz="1800" dirty="0">
                <a:latin typeface="Open Sans"/>
              </a:rPr>
              <a:t> + </a:t>
            </a:r>
            <a:r>
              <a:rPr lang="ru-RU" sz="1800" dirty="0" err="1">
                <a:latin typeface="Open Sans"/>
              </a:rPr>
              <a:t>Faker</a:t>
            </a:r>
            <a:r>
              <a:rPr lang="ru-RU" sz="1800" dirty="0">
                <a:latin typeface="Open Sans"/>
              </a:rPr>
              <a:t>.</a:t>
            </a:r>
          </a:p>
          <a:p>
            <a:r>
              <a:rPr lang="ru-RU" sz="1800" dirty="0">
                <a:latin typeface="Open Sans"/>
              </a:rPr>
              <a:t>Бесконечная вариативность + полная воспроизводимость.</a:t>
            </a:r>
          </a:p>
          <a:p>
            <a:endParaRPr lang="ru-RU" sz="1800" dirty="0">
              <a:latin typeface="Open Sans"/>
            </a:endParaRPr>
          </a:p>
          <a:p>
            <a:endParaRPr lang="en-US" sz="2000" dirty="0">
              <a:latin typeface="Open Sans"/>
            </a:endParaRPr>
          </a:p>
          <a:p>
            <a:endParaRPr lang="ru-RU" sz="2000" dirty="0">
              <a:latin typeface="Open Sans"/>
            </a:endParaRPr>
          </a:p>
          <a:p>
            <a:endParaRPr lang="ru-RU" dirty="0">
              <a:latin typeface="Open Sans"/>
            </a:endParaRPr>
          </a:p>
          <a:p>
            <a:endParaRPr lang="ru-RU" dirty="0">
              <a:latin typeface="Open Sans"/>
            </a:endParaRPr>
          </a:p>
          <a:p>
            <a:endParaRPr lang="ru-RU" dirty="0">
              <a:latin typeface="Open Sans"/>
            </a:endParaRPr>
          </a:p>
          <a:p>
            <a:endParaRPr lang="ru-RU" dirty="0">
              <a:latin typeface="Open Sans"/>
            </a:endParaRPr>
          </a:p>
          <a:p>
            <a:endParaRPr lang="ru-RU" dirty="0"/>
          </a:p>
          <a:p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7EBC8B-9CB3-C67E-E891-4FFC709F0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Open Sans"/>
              </a:rPr>
              <a:t>SPY-бенчмарк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937432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ru-RU" sz="2400" dirty="0">
                <a:latin typeface="Open Sans"/>
              </a:rPr>
              <a:t>Результаты лидеров</a:t>
            </a:r>
          </a:p>
          <a:p>
            <a:pPr>
              <a:buNone/>
            </a:pPr>
            <a:endParaRPr lang="ru-RU" sz="2000" b="1" dirty="0">
              <a:latin typeface="Open Sans"/>
            </a:endParaRPr>
          </a:p>
          <a:p>
            <a:pPr>
              <a:buNone/>
            </a:pPr>
            <a:endParaRPr lang="ru-RU" sz="2000" b="1" dirty="0">
              <a:latin typeface="Open Sans"/>
            </a:endParaRPr>
          </a:p>
          <a:p>
            <a:pPr>
              <a:buNone/>
            </a:pPr>
            <a:endParaRPr lang="en-US" sz="2000" b="1" dirty="0">
              <a:latin typeface="Open Sans"/>
            </a:endParaRPr>
          </a:p>
          <a:p>
            <a:pPr>
              <a:buNone/>
            </a:pPr>
            <a:endParaRPr lang="ru-RU" sz="2000" b="1" dirty="0">
              <a:latin typeface="Open Sans"/>
            </a:endParaRPr>
          </a:p>
          <a:p>
            <a:pPr>
              <a:buNone/>
            </a:pPr>
            <a:endParaRPr lang="en-US" sz="2400" dirty="0">
              <a:latin typeface="Open Sans"/>
            </a:endParaRPr>
          </a:p>
          <a:p>
            <a:pPr>
              <a:buNone/>
            </a:pPr>
            <a:r>
              <a:rPr lang="ru-RU" sz="2400" dirty="0">
                <a:latin typeface="Open Sans"/>
              </a:rPr>
              <a:t>Детальные метрики GLiNER2-PII</a:t>
            </a:r>
          </a:p>
          <a:p>
            <a:pPr>
              <a:buNone/>
            </a:pPr>
            <a:endParaRPr lang="en-US" sz="2000" b="1" dirty="0">
              <a:latin typeface="Open Sans"/>
            </a:endParaRPr>
          </a:p>
          <a:p>
            <a:pPr>
              <a:buNone/>
            </a:pPr>
            <a:endParaRPr lang="en-US" sz="2000" b="1" dirty="0">
              <a:latin typeface="Open Sans"/>
            </a:endParaRPr>
          </a:p>
          <a:p>
            <a:pPr>
              <a:buNone/>
            </a:pPr>
            <a:endParaRPr lang="en-US" sz="2000" b="1" dirty="0">
              <a:latin typeface="Open Sans"/>
            </a:endParaRPr>
          </a:p>
          <a:p>
            <a:pPr>
              <a:buNone/>
            </a:pPr>
            <a:endParaRPr lang="en-US" sz="1600" dirty="0">
              <a:latin typeface="Open Sans"/>
            </a:endParaRPr>
          </a:p>
          <a:p>
            <a:pPr>
              <a:buNone/>
            </a:pPr>
            <a:r>
              <a:rPr lang="ru-RU" sz="1800" dirty="0">
                <a:latin typeface="Open Sans"/>
              </a:rPr>
              <a:t>Для задач редакции пропуск PII критичнее избыточного маскирования</a:t>
            </a:r>
            <a:r>
              <a:rPr lang="ru-RU" sz="1600" dirty="0">
                <a:latin typeface="Open Sans"/>
              </a:rPr>
              <a:t>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ru-RU" sz="2800" b="1" dirty="0">
                <a:latin typeface="Open Sans"/>
              </a:rPr>
              <a:t>Модели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73588476-9C7A-1DFB-E89E-F498A06EC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03465"/>
              </p:ext>
            </p:extLst>
          </p:nvPr>
        </p:nvGraphicFramePr>
        <p:xfrm>
          <a:off x="1554070" y="1622966"/>
          <a:ext cx="9083860" cy="185620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70965">
                  <a:extLst>
                    <a:ext uri="{9D8B030D-6E8A-4147-A177-3AD203B41FA5}">
                      <a16:colId xmlns:a16="http://schemas.microsoft.com/office/drawing/2014/main" val="3624113080"/>
                    </a:ext>
                  </a:extLst>
                </a:gridCol>
                <a:gridCol w="2270965">
                  <a:extLst>
                    <a:ext uri="{9D8B030D-6E8A-4147-A177-3AD203B41FA5}">
                      <a16:colId xmlns:a16="http://schemas.microsoft.com/office/drawing/2014/main" val="596464531"/>
                    </a:ext>
                  </a:extLst>
                </a:gridCol>
                <a:gridCol w="2270965">
                  <a:extLst>
                    <a:ext uri="{9D8B030D-6E8A-4147-A177-3AD203B41FA5}">
                      <a16:colId xmlns:a16="http://schemas.microsoft.com/office/drawing/2014/main" val="1889355507"/>
                    </a:ext>
                  </a:extLst>
                </a:gridCol>
                <a:gridCol w="2270965">
                  <a:extLst>
                    <a:ext uri="{9D8B030D-6E8A-4147-A177-3AD203B41FA5}">
                      <a16:colId xmlns:a16="http://schemas.microsoft.com/office/drawing/2014/main" val="3828085570"/>
                    </a:ext>
                  </a:extLst>
                </a:gridCol>
              </a:tblGrid>
              <a:tr h="340676">
                <a:tc>
                  <a:txBody>
                    <a:bodyPr/>
                    <a:lstStyle/>
                    <a:p>
                      <a:r>
                        <a:rPr lang="ru-RU" dirty="0"/>
                        <a:t>Модель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Legal F1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Medical F1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Avg F1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476283"/>
                  </a:ext>
                </a:extLst>
              </a:tr>
              <a:tr h="340676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latin typeface="+mn-lt"/>
                        </a:rPr>
                        <a:t>GLiNER2-PII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latin typeface="+mn-lt"/>
                        </a:rPr>
                        <a:t>0.473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latin typeface="+mn-lt"/>
                        </a:rPr>
                        <a:t>0.480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latin typeface="+mn-lt"/>
                        </a:rPr>
                        <a:t> 0.477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664811"/>
                  </a:ext>
                </a:extLst>
              </a:tr>
              <a:tr h="52849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800" dirty="0">
                          <a:latin typeface="+mn-lt"/>
                        </a:rPr>
                        <a:t>NVIDIA </a:t>
                      </a:r>
                      <a:r>
                        <a:rPr lang="ru-RU" sz="1800" dirty="0" err="1">
                          <a:latin typeface="+mn-lt"/>
                        </a:rPr>
                        <a:t>GLiNER</a:t>
                      </a:r>
                      <a:r>
                        <a:rPr lang="ru-RU" sz="1800" dirty="0">
                          <a:latin typeface="+mn-lt"/>
                        </a:rPr>
                        <a:t>-PII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+mn-lt"/>
                        </a:rPr>
                        <a:t>0.390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+mn-lt"/>
                        </a:rPr>
                        <a:t>0.411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+mn-lt"/>
                        </a:rPr>
                        <a:t>0.400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381886"/>
                  </a:ext>
                </a:extLst>
              </a:tr>
              <a:tr h="596183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+mn-lt"/>
                        </a:rPr>
                        <a:t>OpenAI </a:t>
                      </a:r>
                      <a:r>
                        <a:rPr lang="ru-RU" sz="1800" dirty="0" err="1">
                          <a:latin typeface="+mn-lt"/>
                        </a:rPr>
                        <a:t>Privacy</a:t>
                      </a:r>
                      <a:r>
                        <a:rPr lang="ru-RU" sz="1800" dirty="0">
                          <a:latin typeface="+mn-lt"/>
                        </a:rPr>
                        <a:t> Filter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+mn-lt"/>
                        </a:rPr>
                        <a:t>0.354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+mn-lt"/>
                        </a:rPr>
                        <a:t>0.406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+mn-lt"/>
                        </a:rPr>
                        <a:t>0.380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436040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CFDDC11-4F53-A5FB-F3C9-76FCB2F64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353920"/>
              </p:ext>
            </p:extLst>
          </p:nvPr>
        </p:nvGraphicFramePr>
        <p:xfrm>
          <a:off x="1554070" y="4122514"/>
          <a:ext cx="9083860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70965">
                  <a:extLst>
                    <a:ext uri="{9D8B030D-6E8A-4147-A177-3AD203B41FA5}">
                      <a16:colId xmlns:a16="http://schemas.microsoft.com/office/drawing/2014/main" val="2022106443"/>
                    </a:ext>
                  </a:extLst>
                </a:gridCol>
                <a:gridCol w="2270965">
                  <a:extLst>
                    <a:ext uri="{9D8B030D-6E8A-4147-A177-3AD203B41FA5}">
                      <a16:colId xmlns:a16="http://schemas.microsoft.com/office/drawing/2014/main" val="2748602861"/>
                    </a:ext>
                  </a:extLst>
                </a:gridCol>
                <a:gridCol w="2270965">
                  <a:extLst>
                    <a:ext uri="{9D8B030D-6E8A-4147-A177-3AD203B41FA5}">
                      <a16:colId xmlns:a16="http://schemas.microsoft.com/office/drawing/2014/main" val="3802410399"/>
                    </a:ext>
                  </a:extLst>
                </a:gridCol>
                <a:gridCol w="2270965">
                  <a:extLst>
                    <a:ext uri="{9D8B030D-6E8A-4147-A177-3AD203B41FA5}">
                      <a16:colId xmlns:a16="http://schemas.microsoft.com/office/drawing/2014/main" val="1028894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Домен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97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+mn-lt"/>
                        </a:rPr>
                        <a:t>Юридический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+mn-lt"/>
                        </a:rPr>
                        <a:t>0.346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+mn-lt"/>
                        </a:rPr>
                        <a:t>0.750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+mn-lt"/>
                        </a:rPr>
                        <a:t>0.473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164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+mn-lt"/>
                        </a:rPr>
                        <a:t>Медицинский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+mn-lt"/>
                        </a:rPr>
                        <a:t>0.369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+mn-lt"/>
                        </a:rPr>
                        <a:t>0.686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+mn-lt"/>
                        </a:rPr>
                        <a:t>0.480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0812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6F397FDC-8D98-DB66-CC2A-A7F6FC39FB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9545" y="1165860"/>
            <a:ext cx="11852910" cy="5514975"/>
          </a:xfrm>
        </p:spPr>
        <p:txBody>
          <a:bodyPr/>
          <a:lstStyle/>
          <a:p>
            <a:r>
              <a:rPr lang="ru-RU" sz="2400" dirty="0"/>
              <a:t>Каскад из пяти компонентов</a:t>
            </a: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ru-RU" sz="2000" b="1" dirty="0"/>
              <a:t>Энкодер (</a:t>
            </a:r>
            <a:r>
              <a:rPr lang="en-US" sz="2000" b="1" dirty="0"/>
              <a:t>mDeBERTa-v3-base):</a:t>
            </a:r>
            <a:r>
              <a:rPr lang="en-US" sz="2000" dirty="0"/>
              <a:t> </a:t>
            </a:r>
            <a:r>
              <a:rPr lang="en-US" sz="1800" dirty="0"/>
              <a:t>self-attention </a:t>
            </a:r>
            <a:r>
              <a:rPr lang="ru-RU" sz="1800" dirty="0"/>
              <a:t>над входными токенами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Span Representation:</a:t>
            </a:r>
            <a:r>
              <a:rPr lang="en-US" sz="2000" dirty="0"/>
              <a:t> </a:t>
            </a:r>
            <a:r>
              <a:rPr lang="ru-RU" sz="1800" dirty="0" err="1"/>
              <a:t>эмбеддинги</a:t>
            </a:r>
            <a:r>
              <a:rPr lang="ru-RU" sz="1800" dirty="0"/>
              <a:t> всех </a:t>
            </a:r>
            <a:r>
              <a:rPr lang="ru-RU" sz="1800" dirty="0" err="1"/>
              <a:t>спанов</a:t>
            </a:r>
            <a:r>
              <a:rPr lang="ru-RU" sz="1800" dirty="0"/>
              <a:t> до </a:t>
            </a:r>
            <a:r>
              <a:rPr lang="en-US" sz="1800" dirty="0" err="1"/>
              <a:t>max_width</a:t>
            </a:r>
            <a:r>
              <a:rPr lang="en-US" sz="1800" dirty="0"/>
              <a:t> (</a:t>
            </a:r>
            <a:r>
              <a:rPr lang="ru-RU" sz="1800" dirty="0"/>
              <a:t>типично 8 токенов)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ru-RU" sz="2000" b="1" dirty="0" err="1"/>
              <a:t>Count</a:t>
            </a:r>
            <a:r>
              <a:rPr lang="ru-RU" sz="2000" b="1" dirty="0"/>
              <a:t> </a:t>
            </a:r>
            <a:r>
              <a:rPr lang="ru-RU" sz="2000" b="1" dirty="0" err="1"/>
              <a:t>Prediction</a:t>
            </a:r>
            <a:r>
              <a:rPr lang="ru-RU" sz="2000" b="1" dirty="0"/>
              <a:t>:</a:t>
            </a:r>
            <a:r>
              <a:rPr lang="ru-RU" sz="2000" dirty="0"/>
              <a:t> </a:t>
            </a:r>
            <a:r>
              <a:rPr lang="ru-RU" sz="1800" dirty="0"/>
              <a:t>предсказывает количество сущностей каждого типа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ru-RU" sz="1800" dirty="0"/>
          </a:p>
          <a:p>
            <a:pPr marL="342900" indent="-342900">
              <a:buFont typeface="+mj-lt"/>
              <a:buAutoNum type="arabicPeriod"/>
            </a:pPr>
            <a:r>
              <a:rPr lang="ru-RU" sz="2000" b="1" dirty="0" err="1"/>
              <a:t>Count</a:t>
            </a:r>
            <a:r>
              <a:rPr lang="ru-RU" sz="2000" b="1" dirty="0"/>
              <a:t> </a:t>
            </a:r>
            <a:r>
              <a:rPr lang="ru-RU" sz="2000" b="1" dirty="0" err="1"/>
              <a:t>Embedding</a:t>
            </a:r>
            <a:r>
              <a:rPr lang="ru-RU" sz="2000" b="1" dirty="0"/>
              <a:t>:</a:t>
            </a:r>
            <a:r>
              <a:rPr lang="ru-RU" sz="2000" dirty="0"/>
              <a:t> </a:t>
            </a:r>
            <a:r>
              <a:rPr lang="ru-RU" sz="1800" dirty="0"/>
              <a:t>преобразует предсказания в </a:t>
            </a:r>
            <a:r>
              <a:rPr lang="ru-RU" sz="1800" dirty="0" err="1"/>
              <a:t>эмбеддинги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ru-RU" sz="1800" dirty="0"/>
          </a:p>
          <a:p>
            <a:pPr marL="342900" indent="-342900">
              <a:buFont typeface="+mj-lt"/>
              <a:buAutoNum type="arabicPeriod"/>
            </a:pPr>
            <a:r>
              <a:rPr lang="ru-RU" sz="2000" b="1" dirty="0"/>
              <a:t>Классификатор:</a:t>
            </a:r>
            <a:r>
              <a:rPr lang="ru-RU" sz="2000" dirty="0"/>
              <a:t> </a:t>
            </a:r>
            <a:r>
              <a:rPr lang="ru-RU" sz="1800" dirty="0" err="1"/>
              <a:t>логиты</a:t>
            </a:r>
            <a:r>
              <a:rPr lang="ru-RU" sz="1800" dirty="0"/>
              <a:t> для троек (начало, конец, тип):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ru-RU" sz="1800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BE41566-44D2-886E-AE0B-9AAC70109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Архитектура </a:t>
            </a:r>
            <a:r>
              <a:rPr lang="en-US" b="1" dirty="0"/>
              <a:t>GLiNER2</a:t>
            </a:r>
            <a:br>
              <a:rPr lang="en-US" b="1" dirty="0"/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BAFAA58-F77C-5822-796A-18C4127DB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311" y="1999252"/>
            <a:ext cx="4946176" cy="77845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54FCBF6-A143-375C-9ED7-657A944C8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3205" y="5437325"/>
            <a:ext cx="4650185" cy="70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529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Char char="•"/>
            </a:pPr>
            <a:endParaRPr lang="en-US" sz="2000" dirty="0">
              <a:latin typeface="Open Sans"/>
            </a:endParaRPr>
          </a:p>
          <a:p>
            <a:pPr marL="342900" indent="-342900">
              <a:buChar char="•"/>
            </a:pPr>
            <a:r>
              <a:rPr lang="ru-RU" sz="2000" dirty="0">
                <a:latin typeface="Open Sans"/>
              </a:rPr>
              <a:t>Microsoft Presidio </a:t>
            </a:r>
            <a:r>
              <a:rPr lang="ru-RU" sz="1600" dirty="0">
                <a:latin typeface="Open Sans"/>
              </a:rPr>
              <a:t>— </a:t>
            </a:r>
            <a:r>
              <a:rPr lang="ru-RU" sz="1800" dirty="0">
                <a:latin typeface="Open Sans"/>
              </a:rPr>
              <a:t>фреймворк детекции и анонимизации с поддержкой синтетической генерации</a:t>
            </a:r>
            <a:endParaRPr lang="ru-RU" sz="1600" dirty="0">
              <a:latin typeface="Open Sans"/>
            </a:endParaRPr>
          </a:p>
          <a:p>
            <a:pPr marL="342900" indent="-342900">
              <a:buChar char="•"/>
            </a:pPr>
            <a:r>
              <a:rPr lang="ru-RU" sz="2000" dirty="0">
                <a:latin typeface="Open Sans"/>
              </a:rPr>
              <a:t>presidio-evaluator</a:t>
            </a:r>
            <a:r>
              <a:rPr lang="ru-RU" sz="2400" dirty="0">
                <a:latin typeface="Open Sans"/>
              </a:rPr>
              <a:t> </a:t>
            </a:r>
            <a:r>
              <a:rPr lang="ru-RU" sz="1600" dirty="0">
                <a:latin typeface="Open Sans"/>
              </a:rPr>
              <a:t>— </a:t>
            </a:r>
            <a:r>
              <a:rPr lang="ru-RU" sz="1800" dirty="0">
                <a:latin typeface="Open Sans"/>
              </a:rPr>
              <a:t>пакет для генерации датасетов с шаблонизацией и BIO-разметкой</a:t>
            </a:r>
          </a:p>
          <a:p>
            <a:pPr marL="342900" indent="-342900">
              <a:buChar char="•"/>
            </a:pPr>
            <a:endParaRPr lang="en-US" sz="1600" dirty="0">
              <a:latin typeface="Open Sans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ru-RU" b="1" dirty="0">
                <a:latin typeface="Open Sans"/>
              </a:rPr>
              <a:t>Другие </a:t>
            </a:r>
            <a:r>
              <a:rPr lang="ru-RU" sz="2800" b="1" dirty="0">
                <a:latin typeface="Open Sans"/>
              </a:rPr>
              <a:t>инструменты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ru-RU" sz="2400" dirty="0">
                <a:latin typeface="Open Sans"/>
              </a:rPr>
              <a:t>Открытые проблемы</a:t>
            </a:r>
          </a:p>
          <a:p>
            <a:pPr marL="342900" indent="-342900">
              <a:buChar char="•"/>
            </a:pPr>
            <a:r>
              <a:rPr lang="ru-RU" sz="1800" dirty="0">
                <a:latin typeface="Open Sans"/>
              </a:rPr>
              <a:t>F1 ~0.48 — значительный зазор для улучшений</a:t>
            </a:r>
          </a:p>
          <a:p>
            <a:pPr marL="342900" indent="-342900">
              <a:buChar char="•"/>
            </a:pPr>
            <a:r>
              <a:rPr lang="ru-RU" sz="1800" dirty="0">
                <a:latin typeface="Open Sans"/>
              </a:rPr>
              <a:t>Синтетика не покрывает краевые случаи: опечатки, сленг, транслитерации</a:t>
            </a:r>
          </a:p>
          <a:p>
            <a:pPr marL="342900" indent="-342900">
              <a:buChar char="•"/>
            </a:pPr>
            <a:r>
              <a:rPr lang="ru-RU" sz="1800" dirty="0">
                <a:latin typeface="Open Sans"/>
              </a:rPr>
              <a:t>SPY охватывает только 2 домена — экстраполяция на финансы, логи, чаты под вопросом</a:t>
            </a:r>
            <a:endParaRPr lang="en-US" sz="1800" dirty="0">
              <a:latin typeface="Open Sans"/>
            </a:endParaRPr>
          </a:p>
          <a:p>
            <a:pPr marL="342900" indent="-342900">
              <a:buChar char="•"/>
            </a:pPr>
            <a:endParaRPr lang="ru-RU" sz="1800" dirty="0">
              <a:latin typeface="Open Sans"/>
            </a:endParaRPr>
          </a:p>
          <a:p>
            <a:pPr>
              <a:buNone/>
            </a:pPr>
            <a:r>
              <a:rPr lang="ru-RU" sz="2400" dirty="0">
                <a:latin typeface="Open Sans"/>
              </a:rPr>
              <a:t>Выводы</a:t>
            </a:r>
          </a:p>
          <a:p>
            <a:pPr marL="342900" indent="-342900">
              <a:buChar char="•"/>
            </a:pPr>
            <a:r>
              <a:rPr lang="ru-RU" sz="1800" dirty="0">
                <a:latin typeface="Open Sans"/>
              </a:rPr>
              <a:t>Полностью синтетическое обучение уже конкурирует с неоткрытыми решениями (OpenAI, NVIDIA)</a:t>
            </a:r>
          </a:p>
          <a:p>
            <a:pPr marL="342900" indent="-342900">
              <a:buChar char="•"/>
            </a:pPr>
            <a:r>
              <a:rPr lang="ru-RU" sz="1800" dirty="0">
                <a:latin typeface="Open Sans"/>
              </a:rPr>
              <a:t>Ключевые направления: повышение Precision, расширение таксономии PII, расширение тематических областей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ru-RU" sz="2800" b="1" dirty="0">
                <a:latin typeface="Open Sans"/>
              </a:rPr>
              <a:t>Открытые проблемы и выводы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8DBCADB5-BA3C-6DF2-4F0C-F2CD5CD452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Microsoft. Presidio</a:t>
            </a:r>
            <a:r>
              <a:rPr lang="en-US" dirty="0"/>
              <a:t>: data protection and de-identification SDK : [</a:t>
            </a:r>
            <a:r>
              <a:rPr lang="ru-RU" dirty="0"/>
              <a:t>сайт] / </a:t>
            </a:r>
            <a:r>
              <a:rPr lang="en-US" dirty="0"/>
              <a:t>Microsoft Corporation. — 2018–2026. — URL: </a:t>
            </a:r>
            <a:r>
              <a:rPr lang="en-US" dirty="0">
                <a:solidFill>
                  <a:srgbClr val="69696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https://github.com/microsoft/presidio</a:t>
            </a:r>
            <a:r>
              <a:rPr lang="en-US" dirty="0">
                <a:solidFill>
                  <a:srgbClr val="696969"/>
                </a:solidFill>
              </a:rPr>
              <a:t> </a:t>
            </a:r>
            <a:endParaRPr lang="ru-RU" dirty="0">
              <a:solidFill>
                <a:srgbClr val="696969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Savkin M.</a:t>
            </a:r>
            <a:r>
              <a:rPr lang="en-US" dirty="0"/>
              <a:t> SPY: Enhancing Privacy with Synthetic PII Detection Dataset / M. Savkin, T. Ionov, V. Konovalov // Proceedings of the 2025 Conference of the Nations of the Americas Chapter of the Association for Computational Linguistics: Human Language Technologies (Volume 4: Student Research Workshop). — Albuquerque, USA : Association for Computational Linguistics, 2025. — P. 236–246. — URL: </a:t>
            </a:r>
            <a:r>
              <a:rPr lang="en-US" dirty="0">
                <a:solidFill>
                  <a:srgbClr val="69696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https://aclanthology.org/2025.naacl-srw.23/</a:t>
            </a:r>
            <a:r>
              <a:rPr lang="ru-RU" dirty="0"/>
              <a:t>— </a:t>
            </a:r>
            <a:r>
              <a:rPr lang="en-US" dirty="0"/>
              <a:t>DOI: 10.18653/v1/2025.naacl-srw.23.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SPY Dataset</a:t>
            </a:r>
            <a:r>
              <a:rPr lang="en-US" dirty="0"/>
              <a:t> : [</a:t>
            </a:r>
            <a:r>
              <a:rPr lang="ru-RU" dirty="0"/>
              <a:t>сайт] / </a:t>
            </a:r>
            <a:r>
              <a:rPr lang="en-US" dirty="0"/>
              <a:t>M. Savkin, T. Ionov, V. Konovalov ; Hugging Face. — 2025. — URL:</a:t>
            </a:r>
            <a:r>
              <a:rPr lang="en-US" dirty="0">
                <a:solidFill>
                  <a:srgbClr val="696969"/>
                </a:solidFill>
              </a:rPr>
              <a:t> </a:t>
            </a:r>
            <a:r>
              <a:rPr lang="en-US" dirty="0">
                <a:solidFill>
                  <a:srgbClr val="696969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https://huggingface.co/datasets/mks-logic/SPY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en-US" b="1" dirty="0" err="1"/>
              <a:t>Zaratiana</a:t>
            </a:r>
            <a:r>
              <a:rPr lang="en-US" b="1" dirty="0"/>
              <a:t> U.</a:t>
            </a:r>
            <a:r>
              <a:rPr lang="en-US" dirty="0"/>
              <a:t> GLiNER2-PII: A Multilingual Model for Personally Identifiable Information Extraction / U. </a:t>
            </a:r>
            <a:r>
              <a:rPr lang="en-US" dirty="0" err="1"/>
              <a:t>Zaratiana</a:t>
            </a:r>
            <a:r>
              <a:rPr lang="en-US" dirty="0"/>
              <a:t>, [</a:t>
            </a:r>
            <a:r>
              <a:rPr lang="ru-RU" dirty="0"/>
              <a:t>и др.]. — 2026. — </a:t>
            </a:r>
            <a:r>
              <a:rPr lang="en-US" dirty="0"/>
              <a:t>arXiv:2605.09973 [</a:t>
            </a:r>
            <a:r>
              <a:rPr lang="en-US" dirty="0">
                <a:solidFill>
                  <a:srgbClr val="696969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cs.CL</a:t>
            </a:r>
            <a:r>
              <a:rPr lang="en-US" dirty="0"/>
              <a:t>]. — URL:</a:t>
            </a:r>
            <a:r>
              <a:rPr lang="en-US" dirty="0">
                <a:solidFill>
                  <a:srgbClr val="696969"/>
                </a:solidFill>
              </a:rPr>
              <a:t> </a:t>
            </a:r>
            <a:r>
              <a:rPr lang="en-US" dirty="0">
                <a:solidFill>
                  <a:srgbClr val="696969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https://arxiv.org/abs/2605.09973</a:t>
            </a:r>
            <a:r>
              <a:rPr lang="en-US" dirty="0">
                <a:solidFill>
                  <a:srgbClr val="696969"/>
                </a:solidFill>
              </a:rPr>
              <a:t> </a:t>
            </a:r>
            <a:r>
              <a:rPr lang="en-US" b="1" dirty="0"/>
              <a:t>Hugging Face Datasets</a:t>
            </a:r>
            <a:r>
              <a:rPr lang="en-US" dirty="0"/>
              <a:t> : [</a:t>
            </a:r>
            <a:r>
              <a:rPr lang="ru-RU" dirty="0"/>
              <a:t>сайт] / </a:t>
            </a:r>
            <a:r>
              <a:rPr lang="en-US" dirty="0"/>
              <a:t>Hugging Face Inc. — 2021–2026. — URL: </a:t>
            </a:r>
            <a:r>
              <a:rPr lang="en-US" dirty="0">
                <a:solidFill>
                  <a:srgbClr val="696969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https://huggingface.co/docs/datasets/</a:t>
            </a:r>
            <a:r>
              <a:rPr lang="en-US" dirty="0">
                <a:solidFill>
                  <a:srgbClr val="696969"/>
                </a:solidFill>
              </a:rPr>
              <a:t> </a:t>
            </a:r>
            <a:endParaRPr lang="ru-RU" dirty="0">
              <a:solidFill>
                <a:srgbClr val="696969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Faker</a:t>
            </a:r>
            <a:r>
              <a:rPr lang="en-US" dirty="0"/>
              <a:t> : [</a:t>
            </a:r>
            <a:r>
              <a:rPr lang="ru-RU" dirty="0"/>
              <a:t>сайт] / </a:t>
            </a:r>
            <a:r>
              <a:rPr lang="en-US" dirty="0"/>
              <a:t>Community Project ; </a:t>
            </a:r>
            <a:r>
              <a:rPr lang="en-US" dirty="0" err="1"/>
              <a:t>PyPI</a:t>
            </a:r>
            <a:r>
              <a:rPr lang="en-US" dirty="0"/>
              <a:t>. — 2008–2026. — URL: </a:t>
            </a:r>
            <a:r>
              <a:rPr lang="en-US" dirty="0">
                <a:solidFill>
                  <a:srgbClr val="696969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https://pypi.org/project/Faker/</a:t>
            </a:r>
            <a:r>
              <a:rPr lang="en-US" dirty="0">
                <a:solidFill>
                  <a:srgbClr val="696969"/>
                </a:solidFill>
              </a:rPr>
              <a:t> </a:t>
            </a:r>
            <a:endParaRPr lang="ru-RU" dirty="0">
              <a:solidFill>
                <a:srgbClr val="696969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mDeBERTa-v3-base</a:t>
            </a:r>
            <a:r>
              <a:rPr lang="en-US" dirty="0"/>
              <a:t> : [</a:t>
            </a:r>
            <a:r>
              <a:rPr lang="ru-RU" dirty="0"/>
              <a:t>сайт] / </a:t>
            </a:r>
            <a:r>
              <a:rPr lang="en-US" dirty="0"/>
              <a:t>Microsoft Corporation ; Hugging Face. — 2021. — URL: </a:t>
            </a:r>
            <a:r>
              <a:rPr lang="en-US" dirty="0">
                <a:solidFill>
                  <a:srgbClr val="696969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https://huggingface.co/microsoft/mdeberta-v3-base</a:t>
            </a:r>
            <a:r>
              <a:rPr lang="en-US" dirty="0">
                <a:solidFill>
                  <a:srgbClr val="696969"/>
                </a:solidFill>
              </a:rPr>
              <a:t> </a:t>
            </a:r>
            <a:endParaRPr lang="ru-RU" dirty="0">
              <a:solidFill>
                <a:srgbClr val="696969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8B10668-36E5-A072-8263-040CDDCE5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литературы</a:t>
            </a:r>
          </a:p>
        </p:txBody>
      </p:sp>
    </p:spTree>
    <p:extLst>
      <p:ext uri="{BB962C8B-B14F-4D97-AF65-F5344CB8AC3E}">
        <p14:creationId xmlns:p14="http://schemas.microsoft.com/office/powerpoint/2010/main" val="11352040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ПбГУ">
      <a:dk1>
        <a:srgbClr val="181818"/>
      </a:dk1>
      <a:lt1>
        <a:sysClr val="window" lastClr="FFFFFF"/>
      </a:lt1>
      <a:dk2>
        <a:srgbClr val="632423"/>
      </a:dk2>
      <a:lt2>
        <a:srgbClr val="FBF9F7"/>
      </a:lt2>
      <a:accent1>
        <a:srgbClr val="4F81BD"/>
      </a:accent1>
      <a:accent2>
        <a:srgbClr val="C0504D"/>
      </a:accent2>
      <a:accent3>
        <a:srgbClr val="923826"/>
      </a:accent3>
      <a:accent4>
        <a:srgbClr val="8064A2"/>
      </a:accent4>
      <a:accent5>
        <a:srgbClr val="8FAADC"/>
      </a:accent5>
      <a:accent6>
        <a:srgbClr val="AE6464"/>
      </a:accent6>
      <a:hlink>
        <a:srgbClr val="F2F2F2"/>
      </a:hlink>
      <a:folHlink>
        <a:srgbClr val="0070C0"/>
      </a:folHlink>
    </a:clrScheme>
    <a:fontScheme name="СПбГУ">
      <a:majorFont>
        <a:latin typeface="Open Sans Extrabold"/>
        <a:ea typeface=""/>
        <a:cs typeface=""/>
      </a:majorFont>
      <a:minorFont>
        <a:latin typeface="Open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D8C519613280949AA22B76DC3D9D7B2" ma:contentTypeVersion="17" ma:contentTypeDescription="Создание документа." ma:contentTypeScope="" ma:versionID="c1aee2efb7f4004aed17619c1a5733c5">
  <xsd:schema xmlns:xsd="http://www.w3.org/2001/XMLSchema" xmlns:xs="http://www.w3.org/2001/XMLSchema" xmlns:p="http://schemas.microsoft.com/office/2006/metadata/properties" xmlns:ns1="http://schemas.microsoft.com/sharepoint/v3" xmlns:ns2="9a63fdcb-41de-41b7-a29c-51f72461a67b" xmlns:ns3="02abcde4-0d41-4d92-9ad7-003839eabdeb" targetNamespace="http://schemas.microsoft.com/office/2006/metadata/properties" ma:root="true" ma:fieldsID="3d5820956cb7eaded5206240577e0de0" ns1:_="" ns2:_="" ns3:_="">
    <xsd:import namespace="http://schemas.microsoft.com/sharepoint/v3"/>
    <xsd:import namespace="9a63fdcb-41de-41b7-a29c-51f72461a67b"/>
    <xsd:import namespace="02abcde4-0d41-4d92-9ad7-003839eabd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Свойства единой политики соответствия требованиям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Действие с пользовательским интерфейсом в рамках единой политики соответствия требованиям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63fdcb-41de-41b7-a29c-51f72461a6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3dac30f7-4b6a-4d0c-a073-8dcd7cc3cb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abcde4-0d41-4d92-9ad7-003839eabde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50e6830-2c83-4f36-8696-426a14030bf5}" ma:internalName="TaxCatchAll" ma:showField="CatchAllData" ma:web="02abcde4-0d41-4d92-9ad7-003839eabd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02abcde4-0d41-4d92-9ad7-003839eabdeb" xsi:nil="true"/>
    <lcf76f155ced4ddcb4097134ff3c332f xmlns="9a63fdcb-41de-41b7-a29c-51f72461a67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D7F0394-DA30-41D1-BA79-55D90E960F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a63fdcb-41de-41b7-a29c-51f72461a67b"/>
    <ds:schemaRef ds:uri="02abcde4-0d41-4d92-9ad7-003839eabd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B233416-0D41-4853-A815-5627BA43D3C0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9a63fdcb-41de-41b7-a29c-51f72461a67b"/>
    <ds:schemaRef ds:uri="02abcde4-0d41-4d92-9ad7-003839eabdeb"/>
    <ds:schemaRef ds:uri="http://schemas.microsoft.com/sharepoint/v3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AE8BD70-FE7F-4E2E-8A0C-B56C29E7533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10976</TotalTime>
  <Words>882</Words>
  <Application>Microsoft Office PowerPoint</Application>
  <PresentationFormat>Широкоэкранный</PresentationFormat>
  <Paragraphs>158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 Math</vt:lpstr>
      <vt:lpstr>Open Sans</vt:lpstr>
      <vt:lpstr>Open Sans Extrabold</vt:lpstr>
      <vt:lpstr>Open Sans Light</vt:lpstr>
      <vt:lpstr>Тема Office</vt:lpstr>
      <vt:lpstr>Презентация PowerPoint</vt:lpstr>
      <vt:lpstr>Что такое PII</vt:lpstr>
      <vt:lpstr>Проблема</vt:lpstr>
      <vt:lpstr>Генерация синтетических данных</vt:lpstr>
      <vt:lpstr>Функция потерь и метрики</vt:lpstr>
      <vt:lpstr>SPY-бенчмарк</vt:lpstr>
      <vt:lpstr>Модели</vt:lpstr>
      <vt:lpstr>Архитектура GLiNER2 </vt:lpstr>
      <vt:lpstr>Другие инструменты</vt:lpstr>
      <vt:lpstr>Открытые проблемы и выводы</vt:lpstr>
      <vt:lpstr>Список литературы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Надежда Лапшина</dc:creator>
  <cp:lastModifiedBy>Косоруков Алексей</cp:lastModifiedBy>
  <cp:revision>617</cp:revision>
  <dcterms:created xsi:type="dcterms:W3CDTF">2020-09-23T09:03:25Z</dcterms:created>
  <dcterms:modified xsi:type="dcterms:W3CDTF">2026-05-16T08:37:33Z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0x010100CD8C519613280949AA22B76DC3D9D7B2</vt:lpwstr>
  </property>
  <property fmtid="{D5CDD505-2E9C-101B-9397-08002B2CF9AE}" pid="3" name="MediaServiceImageTags">
    <vt:lpwstr/>
  </property>
</Properties>
</file>