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notesSlides/notesSlide8.xml" ContentType="application/vnd.openxmlformats-officedocument.presentationml.notesSlide+xml"/>
  <Override PartName="/ppt/tags/tag14.xml" ContentType="application/vnd.openxmlformats-officedocument.presentationml.tags+xml"/>
  <Override PartName="/ppt/notesSlides/notesSlide9.xml" ContentType="application/vnd.openxmlformats-officedocument.presentationml.notesSlide+xml"/>
  <Override PartName="/ppt/tags/tag15.xml" ContentType="application/vnd.openxmlformats-officedocument.presentationml.tags+xml"/>
  <Override PartName="/ppt/notesSlides/notesSlide10.xml" ContentType="application/vnd.openxmlformats-officedocument.presentationml.notesSlide+xml"/>
  <Override PartName="/ppt/tags/tag1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4.xml" ContentType="application/vnd.openxmlformats-officedocument.presentationml.notesSlide+xml"/>
  <Override PartName="/ppt/tags/tag20.xml" ContentType="application/vnd.openxmlformats-officedocument.presentationml.tags+xml"/>
  <Override PartName="/ppt/notesSlides/notesSlide15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6.xml" ContentType="application/vnd.openxmlformats-officedocument.presentationml.notesSlide+xml"/>
  <Override PartName="/ppt/tags/tag25.xml" ContentType="application/vnd.openxmlformats-officedocument.presentationml.tags+xml"/>
  <Override PartName="/ppt/notesSlides/notesSlide17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2"/>
  </p:notesMasterIdLst>
  <p:sldIdLst>
    <p:sldId id="289" r:id="rId2"/>
    <p:sldId id="292" r:id="rId3"/>
    <p:sldId id="257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2" r:id="rId13"/>
    <p:sldId id="301" r:id="rId14"/>
    <p:sldId id="303" r:id="rId15"/>
    <p:sldId id="304" r:id="rId16"/>
    <p:sldId id="305" r:id="rId17"/>
    <p:sldId id="306" r:id="rId18"/>
    <p:sldId id="307" r:id="rId19"/>
    <p:sldId id="308" r:id="rId20"/>
    <p:sldId id="309" r:id="rId2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Segoe Fluent Icons" panose="050A0102010101010101" pitchFamily="18" charset="0"/>
      <p:regular r:id="rId2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AFAE84BD-37EA-4A2F-9B0E-9E43EC7DAD4F}">
          <p14:sldIdLst>
            <p14:sldId id="289"/>
            <p14:sldId id="292"/>
            <p14:sldId id="257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2"/>
            <p14:sldId id="301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2D20"/>
    <a:srgbClr val="76767C"/>
    <a:srgbClr val="A8ADB4"/>
    <a:srgbClr val="E4801C"/>
    <a:srgbClr val="EF9511"/>
    <a:srgbClr val="FF9801"/>
    <a:srgbClr val="FF9E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5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9zhexo@gmail.com" userId="63104af2624b0cd6" providerId="LiveId" clId="{C814AFE3-48ED-4DCB-AF47-BBBD1CE3CF9A}"/>
    <pc:docChg chg="modSld">
      <pc:chgData name="r9zhexo@gmail.com" userId="63104af2624b0cd6" providerId="LiveId" clId="{C814AFE3-48ED-4DCB-AF47-BBBD1CE3CF9A}" dt="2025-05-19T22:00:49.065" v="17"/>
      <pc:docMkLst>
        <pc:docMk/>
      </pc:docMkLst>
      <pc:sldChg chg="addSp modSp mod">
        <pc:chgData name="r9zhexo@gmail.com" userId="63104af2624b0cd6" providerId="LiveId" clId="{C814AFE3-48ED-4DCB-AF47-BBBD1CE3CF9A}" dt="2025-05-19T22:00:42.507" v="16" actId="1076"/>
        <pc:sldMkLst>
          <pc:docMk/>
          <pc:sldMk cId="3884340244" sldId="290"/>
        </pc:sldMkLst>
        <pc:spChg chg="add mod">
          <ac:chgData name="r9zhexo@gmail.com" userId="63104af2624b0cd6" providerId="LiveId" clId="{C814AFE3-48ED-4DCB-AF47-BBBD1CE3CF9A}" dt="2025-05-19T22:00:42.507" v="16" actId="1076"/>
          <ac:spMkLst>
            <pc:docMk/>
            <pc:sldMk cId="3884340244" sldId="290"/>
            <ac:spMk id="5" creationId="{7B6E8B25-A596-F02F-FB5C-F61BD9BEE511}"/>
          </ac:spMkLst>
        </pc:spChg>
      </pc:sldChg>
      <pc:sldChg chg="addSp modSp">
        <pc:chgData name="r9zhexo@gmail.com" userId="63104af2624b0cd6" providerId="LiveId" clId="{C814AFE3-48ED-4DCB-AF47-BBBD1CE3CF9A}" dt="2025-05-19T22:00:49.065" v="17"/>
        <pc:sldMkLst>
          <pc:docMk/>
          <pc:sldMk cId="2236795422" sldId="291"/>
        </pc:sldMkLst>
        <pc:spChg chg="add mod">
          <ac:chgData name="r9zhexo@gmail.com" userId="63104af2624b0cd6" providerId="LiveId" clId="{C814AFE3-48ED-4DCB-AF47-BBBD1CE3CF9A}" dt="2025-05-19T22:00:49.065" v="17"/>
          <ac:spMkLst>
            <pc:docMk/>
            <pc:sldMk cId="2236795422" sldId="291"/>
            <ac:spMk id="2" creationId="{CE8087FC-27E9-F58F-A43C-513FFD85DB7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14733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7810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9956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2927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7009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4183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0761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2676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3167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9467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387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913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7779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37965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363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2831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6349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08865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41063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a278640fb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a278640fb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3447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solidFill>
                  <a:srgbClr val="5E7076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403648" y="2859782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380057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8743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323527" y="843559"/>
            <a:ext cx="8704741" cy="504056"/>
          </a:xfrm>
        </p:spPr>
        <p:txBody>
          <a:bodyPr>
            <a:noAutofit/>
          </a:bodyPr>
          <a:lstStyle>
            <a:lvl1pPr algn="l">
              <a:defRPr sz="2800" b="1">
                <a:solidFill>
                  <a:srgbClr val="5E7076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323527" y="1419622"/>
            <a:ext cx="8704741" cy="3024336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395536" y="4659982"/>
            <a:ext cx="1512168" cy="216024"/>
          </a:xfrm>
        </p:spPr>
        <p:txBody>
          <a:bodyPr/>
          <a:lstStyle>
            <a:lvl1pPr algn="l"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7956376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323528" y="267494"/>
            <a:ext cx="3610744" cy="4215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67255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бочий слайд с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23528" y="267494"/>
            <a:ext cx="3610744" cy="421555"/>
          </a:xfrm>
        </p:spPr>
        <p:txBody>
          <a:bodyPr>
            <a:noAutofit/>
          </a:bodyPr>
          <a:lstStyle>
            <a:lvl1pPr algn="l"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395536" y="4659982"/>
            <a:ext cx="1512168" cy="216024"/>
          </a:xfrm>
        </p:spPr>
        <p:txBody>
          <a:bodyPr/>
          <a:lstStyle>
            <a:lvl1pPr algn="l"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7956376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10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323528" y="1059582"/>
            <a:ext cx="4038600" cy="331236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фото</a:t>
            </a:r>
          </a:p>
        </p:txBody>
      </p:sp>
      <p:sp>
        <p:nvSpPr>
          <p:cNvPr id="11" name="Подзаголовок 2"/>
          <p:cNvSpPr>
            <a:spLocks noGrp="1"/>
          </p:cNvSpPr>
          <p:nvPr>
            <p:ph type="subTitle" idx="13" hasCustomPrompt="1"/>
          </p:nvPr>
        </p:nvSpPr>
        <p:spPr>
          <a:xfrm>
            <a:off x="4572000" y="1059582"/>
            <a:ext cx="4320480" cy="33843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4145206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с большой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0" y="1059582"/>
            <a:ext cx="9144000" cy="4083918"/>
          </a:xfrm>
          <a:solidFill>
            <a:schemeClr val="bg1">
              <a:lumMod val="75000"/>
            </a:schemeClr>
          </a:solidFill>
          <a:ln>
            <a:solidFill>
              <a:srgbClr val="000000">
                <a:alpha val="21176"/>
              </a:srgbClr>
            </a:solidFill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фото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23528" y="267494"/>
            <a:ext cx="3610744" cy="421555"/>
          </a:xfrm>
        </p:spPr>
        <p:txBody>
          <a:bodyPr>
            <a:noAutofit/>
          </a:bodyPr>
          <a:lstStyle>
            <a:lvl1pPr algn="l"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4299942"/>
            <a:ext cx="8820472" cy="504056"/>
          </a:xfrm>
          <a:prstGeom prst="rect">
            <a:avLst/>
          </a:prstGeom>
          <a:solidFill>
            <a:srgbClr val="FFFFFF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дзаголовок 2"/>
          <p:cNvSpPr>
            <a:spLocks noGrp="1"/>
          </p:cNvSpPr>
          <p:nvPr>
            <p:ph type="subTitle" idx="13" hasCustomPrompt="1"/>
          </p:nvPr>
        </p:nvSpPr>
        <p:spPr>
          <a:xfrm>
            <a:off x="323528" y="4316113"/>
            <a:ext cx="8640960" cy="50405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ru-RU" sz="1600" baseline="0" dirty="0">
                <a:solidFill>
                  <a:schemeClr val="bg1"/>
                </a:solidFill>
              </a:rPr>
              <a:t>Санкт-Петербургский государственный университет</a:t>
            </a:r>
          </a:p>
        </p:txBody>
      </p:sp>
    </p:spTree>
    <p:extLst>
      <p:ext uri="{BB962C8B-B14F-4D97-AF65-F5344CB8AC3E}">
        <p14:creationId xmlns:p14="http://schemas.microsoft.com/office/powerpoint/2010/main" val="6373780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крывающ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/>
          <p:cNvSpPr txBox="1">
            <a:spLocks/>
          </p:cNvSpPr>
          <p:nvPr/>
        </p:nvSpPr>
        <p:spPr>
          <a:xfrm>
            <a:off x="380057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323528" y="267494"/>
            <a:ext cx="3610744" cy="4215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Колонтитул</a:t>
            </a:r>
            <a:endParaRPr lang="ru-RU" dirty="0"/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323528" y="1131590"/>
            <a:ext cx="8568952" cy="36004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995936" y="3939902"/>
            <a:ext cx="1201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5E7076"/>
                </a:solidFill>
                <a:latin typeface="+mj-lt"/>
              </a:rPr>
              <a:t>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15865471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7227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406C7-4D28-40E2-A2CB-00F1FE68E05F}" type="datetime1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77278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3.xml"/><Relationship Id="rId7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7.png"/><Relationship Id="rId4" Type="http://schemas.openxmlformats.org/officeDocument/2006/relationships/tags" Target="../tags/tag4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8.xml"/><Relationship Id="rId7" Type="http://schemas.openxmlformats.org/officeDocument/2006/relationships/image" Target="../media/image10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13.png"/><Relationship Id="rId4" Type="http://schemas.openxmlformats.org/officeDocument/2006/relationships/tags" Target="../tags/tag9.xml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tags" Target="../tags/tag19.xml"/><Relationship Id="rId7" Type="http://schemas.openxmlformats.org/officeDocument/2006/relationships/image" Target="../media/image30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9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23.xml"/><Relationship Id="rId7" Type="http://schemas.openxmlformats.org/officeDocument/2006/relationships/image" Target="../media/image33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36.png"/><Relationship Id="rId4" Type="http://schemas.openxmlformats.org/officeDocument/2006/relationships/tags" Target="../tags/tag24.xml"/><Relationship Id="rId9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5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tags" Target="../tags/tag27.xml"/><Relationship Id="rId7" Type="http://schemas.openxmlformats.org/officeDocument/2006/relationships/image" Target="../media/image39.png"/><Relationship Id="rId2" Type="http://schemas.openxmlformats.org/officeDocument/2006/relationships/tags" Target="../tags/tag26.xml"/><Relationship Id="rId1" Type="http://schemas.openxmlformats.org/officeDocument/2006/relationships/vmlDrawing" Target="../drawings/vmlDrawing1.vml"/><Relationship Id="rId6" Type="http://schemas.openxmlformats.org/officeDocument/2006/relationships/notesSlide" Target="../notesSlides/notesSlide18.xml"/><Relationship Id="rId11" Type="http://schemas.openxmlformats.org/officeDocument/2006/relationships/image" Target="../media/image41.png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38.wmf"/><Relationship Id="rId4" Type="http://schemas.openxmlformats.org/officeDocument/2006/relationships/tags" Target="../tags/tag28.xml"/><Relationship Id="rId9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70A2CD6-0AE3-0414-ECF4-F45112DC01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168" y="1719739"/>
            <a:ext cx="7217664" cy="1102519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6767C"/>
                </a:solidFill>
              </a:rPr>
              <a:t>Оценка результатов обучения без учителя</a:t>
            </a:r>
            <a:endParaRPr lang="ru-RU" dirty="0">
              <a:solidFill>
                <a:srgbClr val="7676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31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426943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 smtClean="0">
                <a:solidFill>
                  <a:srgbClr val="9F2D20"/>
                </a:solidFill>
              </a:rPr>
              <a:t>Введение</a:t>
            </a: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1" y="1009957"/>
            <a:ext cx="7505700" cy="2447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Обучение без учителя - </a:t>
            </a:r>
            <a:r>
              <a:rPr lang="ru-RU" sz="1800" dirty="0">
                <a:solidFill>
                  <a:srgbClr val="76767C"/>
                </a:solidFill>
              </a:rPr>
              <a:t>это класс методов машинного обучения, в котором алгоритм обучается на данных, не имеющих заранее размеченных правильных ответов</a:t>
            </a:r>
            <a:endParaRPr sz="1800" dirty="0">
              <a:solidFill>
                <a:srgbClr val="7676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75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426943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 smtClean="0">
                <a:solidFill>
                  <a:srgbClr val="9F2D20"/>
                </a:solidFill>
              </a:rPr>
              <a:t>Задачи</a:t>
            </a: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1" y="1009957"/>
            <a:ext cx="7505700" cy="35498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31800" indent="-285750">
              <a:spcBef>
                <a:spcPts val="0"/>
              </a:spcBef>
              <a:buSzPts val="1300"/>
            </a:pPr>
            <a:r>
              <a:rPr lang="ru-RU" sz="1800" dirty="0" smtClean="0">
                <a:solidFill>
                  <a:srgbClr val="76767C"/>
                </a:solidFill>
              </a:rPr>
              <a:t>Кластеризация </a:t>
            </a:r>
            <a:r>
              <a:rPr lang="en-US" sz="1800" dirty="0">
                <a:solidFill>
                  <a:srgbClr val="76767C"/>
                </a:solidFill>
              </a:rPr>
              <a:t>-</a:t>
            </a:r>
            <a:r>
              <a:rPr lang="ru-RU" sz="1800" dirty="0" smtClean="0">
                <a:solidFill>
                  <a:srgbClr val="76767C"/>
                </a:solidFill>
              </a:rPr>
              <a:t> задача </a:t>
            </a:r>
            <a:r>
              <a:rPr lang="ru-RU" sz="1800" dirty="0">
                <a:solidFill>
                  <a:srgbClr val="76767C"/>
                </a:solidFill>
              </a:rPr>
              <a:t>разбиения объектов на </a:t>
            </a:r>
            <a:r>
              <a:rPr lang="ru-RU" sz="1800" dirty="0" smtClean="0">
                <a:solidFill>
                  <a:srgbClr val="76767C"/>
                </a:solidFill>
              </a:rPr>
              <a:t>группы</a:t>
            </a:r>
          </a:p>
          <a:p>
            <a:pPr marL="431800" indent="-285750">
              <a:spcBef>
                <a:spcPts val="0"/>
              </a:spcBef>
              <a:buSzPts val="1300"/>
            </a:pPr>
            <a:r>
              <a:rPr lang="ru-RU" sz="1800" dirty="0" smtClean="0">
                <a:solidFill>
                  <a:srgbClr val="76767C"/>
                </a:solidFill>
              </a:rPr>
              <a:t>Снижение размерности - задача </a:t>
            </a:r>
            <a:r>
              <a:rPr lang="ru-RU" sz="1800" dirty="0">
                <a:solidFill>
                  <a:srgbClr val="76767C"/>
                </a:solidFill>
              </a:rPr>
              <a:t>уменьшения количества признаков </a:t>
            </a:r>
            <a:r>
              <a:rPr lang="ru-RU" sz="1800" dirty="0" smtClean="0">
                <a:solidFill>
                  <a:srgbClr val="76767C"/>
                </a:solidFill>
              </a:rPr>
              <a:t>в </a:t>
            </a:r>
            <a:r>
              <a:rPr lang="ru-RU" sz="1800" dirty="0">
                <a:solidFill>
                  <a:srgbClr val="76767C"/>
                </a:solidFill>
              </a:rPr>
              <a:t>наборе данных при максимальном сохранении полезной </a:t>
            </a:r>
            <a:r>
              <a:rPr lang="ru-RU" sz="1800" dirty="0" smtClean="0">
                <a:solidFill>
                  <a:srgbClr val="76767C"/>
                </a:solidFill>
              </a:rPr>
              <a:t>информации</a:t>
            </a:r>
          </a:p>
          <a:p>
            <a:pPr marL="431800" indent="-285750">
              <a:spcBef>
                <a:spcPts val="0"/>
              </a:spcBef>
              <a:buSzPts val="1300"/>
            </a:pPr>
            <a:r>
              <a:rPr lang="ru-RU" sz="1800" dirty="0" smtClean="0">
                <a:solidFill>
                  <a:srgbClr val="76767C"/>
                </a:solidFill>
              </a:rPr>
              <a:t>Поиск аномалий - обнаружение </a:t>
            </a:r>
            <a:r>
              <a:rPr lang="ru-RU" sz="1800" dirty="0">
                <a:solidFill>
                  <a:srgbClr val="76767C"/>
                </a:solidFill>
              </a:rPr>
              <a:t>объектов, событий или наблюдений, которые существенно отклоняются от нормального поведения или типичного распределения основной массы </a:t>
            </a:r>
            <a:r>
              <a:rPr lang="ru-RU" sz="1800" dirty="0" smtClean="0">
                <a:solidFill>
                  <a:srgbClr val="76767C"/>
                </a:solidFill>
              </a:rPr>
              <a:t>данных</a:t>
            </a:r>
          </a:p>
          <a:p>
            <a:pPr marL="431800" indent="-285750">
              <a:spcBef>
                <a:spcPts val="0"/>
              </a:spcBef>
              <a:buSzPts val="1300"/>
            </a:pPr>
            <a:r>
              <a:rPr lang="ru-RU" sz="1800" dirty="0" smtClean="0">
                <a:solidFill>
                  <a:srgbClr val="76767C"/>
                </a:solidFill>
              </a:rPr>
              <a:t>Поиск ассоциативных правил - задача </a:t>
            </a:r>
            <a:r>
              <a:rPr lang="ru-RU" sz="1800" dirty="0">
                <a:solidFill>
                  <a:srgbClr val="76767C"/>
                </a:solidFill>
              </a:rPr>
              <a:t>поиска частых совместных закономерностей между </a:t>
            </a:r>
            <a:r>
              <a:rPr lang="ru-RU" sz="1800" dirty="0" smtClean="0">
                <a:solidFill>
                  <a:srgbClr val="76767C"/>
                </a:solidFill>
              </a:rPr>
              <a:t>признаками</a:t>
            </a:r>
            <a:endParaRPr sz="1800" dirty="0">
              <a:solidFill>
                <a:srgbClr val="76767C"/>
              </a:solidFill>
              <a:latin typeface="Segoe Fluent Icons" panose="050A0102010101010101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426943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 smtClean="0">
                <a:solidFill>
                  <a:srgbClr val="9F2D20"/>
                </a:solidFill>
              </a:rPr>
              <a:t>Индекс силуэта (</a:t>
            </a:r>
            <a:r>
              <a:rPr lang="en-US" sz="4000" dirty="0" smtClean="0">
                <a:solidFill>
                  <a:srgbClr val="9F2D20"/>
                </a:solidFill>
              </a:rPr>
              <a:t>Silhouette index</a:t>
            </a:r>
            <a:r>
              <a:rPr lang="ru-RU" sz="4000" dirty="0" smtClean="0">
                <a:solidFill>
                  <a:srgbClr val="9F2D20"/>
                </a:solidFill>
              </a:rPr>
              <a:t>)</a:t>
            </a: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0" y="954087"/>
            <a:ext cx="8704597" cy="36057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Для каждой точки считаем среднее расстояние </a:t>
            </a:r>
            <a:r>
              <a:rPr lang="ru-RU" sz="1800" dirty="0">
                <a:solidFill>
                  <a:srgbClr val="76767C"/>
                </a:solidFill>
              </a:rPr>
              <a:t>до остальных объектов её </a:t>
            </a:r>
            <a:r>
              <a:rPr lang="ru-RU" sz="1800" dirty="0" smtClean="0">
                <a:solidFill>
                  <a:srgbClr val="76767C"/>
                </a:solidFill>
              </a:rPr>
              <a:t>кластера: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Считаем минимальное среднее </a:t>
            </a:r>
            <a:r>
              <a:rPr lang="ru-RU" sz="1800" dirty="0">
                <a:solidFill>
                  <a:srgbClr val="76767C"/>
                </a:solidFill>
              </a:rPr>
              <a:t>расстояние до </a:t>
            </a:r>
            <a:r>
              <a:rPr lang="ru-RU" sz="1800" dirty="0" smtClean="0">
                <a:solidFill>
                  <a:srgbClr val="76767C"/>
                </a:solidFill>
              </a:rPr>
              <a:t>объектов любого другого кластера: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Получаем индекс силуэта точки:</a:t>
            </a:r>
            <a:endParaRPr sz="1800" dirty="0">
              <a:solidFill>
                <a:srgbClr val="76767C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5B5197FA-FB6B-8F31-2924-DD7C7483427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213" y="1430506"/>
            <a:ext cx="3181573" cy="57685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A1E1D7FB-68DB-D8EE-1C9C-FD2A4754E67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20" y="2435999"/>
            <a:ext cx="3240380" cy="58646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188E3222-6A56-51B6-E813-4F72672857A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770" y="2562250"/>
            <a:ext cx="1760100" cy="31320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F414D747-9045-EB41-6F92-EC723456751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213" y="3762485"/>
            <a:ext cx="3351722" cy="50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18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426943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 smtClean="0">
                <a:solidFill>
                  <a:srgbClr val="9F2D20"/>
                </a:solidFill>
              </a:rPr>
              <a:t>Индекс силуэта (</a:t>
            </a:r>
            <a:r>
              <a:rPr lang="en-US" sz="4000" dirty="0" smtClean="0">
                <a:solidFill>
                  <a:srgbClr val="9F2D20"/>
                </a:solidFill>
              </a:rPr>
              <a:t>Silhouette index</a:t>
            </a:r>
            <a:r>
              <a:rPr lang="ru-RU" sz="4000" dirty="0" smtClean="0">
                <a:solidFill>
                  <a:srgbClr val="9F2D20"/>
                </a:solidFill>
              </a:rPr>
              <a:t>)</a:t>
            </a: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0" y="954087"/>
            <a:ext cx="8704597" cy="13197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Итоговый коэффициент - </a:t>
            </a:r>
            <a:r>
              <a:rPr lang="ru-RU" sz="1800" dirty="0">
                <a:solidFill>
                  <a:srgbClr val="76767C"/>
                </a:solidFill>
              </a:rPr>
              <a:t>среднее по всем точкам</a:t>
            </a:r>
            <a:r>
              <a:rPr lang="ru-RU" sz="1800" dirty="0" smtClean="0">
                <a:solidFill>
                  <a:srgbClr val="76767C"/>
                </a:solidFill>
              </a:rPr>
              <a:t>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</p:txBody>
      </p:sp>
      <p:pic>
        <p:nvPicPr>
          <p:cNvPr id="1028" name="Picture 4" descr="Диаграмма силуэтов для трех кластеров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185" y="1976565"/>
            <a:ext cx="4977972" cy="2269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DB3DA7AD-B933-A9B6-B15C-B5F839729DA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672" y="1464565"/>
            <a:ext cx="1340952" cy="512000"/>
          </a:xfrm>
          <a:prstGeom prst="rect">
            <a:avLst/>
          </a:prstGeom>
        </p:spPr>
      </p:pic>
      <p:sp>
        <p:nvSpPr>
          <p:cNvPr id="13" name="Google Shape;135;p14"/>
          <p:cNvSpPr txBox="1">
            <a:spLocks/>
          </p:cNvSpPr>
          <p:nvPr/>
        </p:nvSpPr>
        <p:spPr>
          <a:xfrm>
            <a:off x="213849" y="2042160"/>
            <a:ext cx="4065543" cy="246278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6050" indent="0">
              <a:spcBef>
                <a:spcPts val="0"/>
              </a:spcBef>
              <a:buSzPts val="1300"/>
              <a:buFont typeface="Arial" panose="020B0604020202020204" pitchFamily="34" charset="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Если значение индекса точки:</a:t>
            </a:r>
          </a:p>
          <a:p>
            <a:pPr marL="431800" indent="-285750">
              <a:spcBef>
                <a:spcPts val="0"/>
              </a:spcBef>
              <a:buSzPts val="1300"/>
            </a:pPr>
            <a:r>
              <a:rPr lang="ru-RU" sz="1800" dirty="0" smtClean="0">
                <a:solidFill>
                  <a:srgbClr val="76767C"/>
                </a:solidFill>
              </a:rPr>
              <a:t>Близко к 1 – точка хорошо вписана в свой кластер</a:t>
            </a:r>
          </a:p>
          <a:p>
            <a:pPr marL="431800" indent="-285750">
              <a:spcBef>
                <a:spcPts val="0"/>
              </a:spcBef>
              <a:buSzPts val="1300"/>
            </a:pPr>
            <a:r>
              <a:rPr lang="ru-RU" sz="1800" dirty="0" smtClean="0">
                <a:solidFill>
                  <a:srgbClr val="76767C"/>
                </a:solidFill>
              </a:rPr>
              <a:t>Близко к 0 – точка лежит на границе</a:t>
            </a:r>
          </a:p>
          <a:p>
            <a:pPr marL="431800" indent="-285750">
              <a:spcBef>
                <a:spcPts val="0"/>
              </a:spcBef>
              <a:buSzPts val="1300"/>
            </a:pPr>
            <a:r>
              <a:rPr lang="ru-RU" sz="1800" dirty="0" smtClean="0">
                <a:solidFill>
                  <a:srgbClr val="76767C"/>
                </a:solidFill>
              </a:rPr>
              <a:t>Близко к -1 – точка попала не в тот кластер</a:t>
            </a:r>
          </a:p>
          <a:p>
            <a:pPr marL="146050" indent="0">
              <a:spcBef>
                <a:spcPts val="0"/>
              </a:spcBef>
              <a:buSzPts val="1300"/>
              <a:buFont typeface="Arial" panose="020B0604020202020204" pitchFamily="34" charset="0"/>
              <a:buNone/>
            </a:pPr>
            <a:endParaRPr lang="ru-RU" sz="1800" dirty="0">
              <a:solidFill>
                <a:srgbClr val="7676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81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426943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 smtClean="0">
                <a:solidFill>
                  <a:srgbClr val="9F2D20"/>
                </a:solidFill>
              </a:rPr>
              <a:t>Индекс Дэвиса-Болдина</a:t>
            </a: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0" y="954087"/>
            <a:ext cx="8704597" cy="36057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Находим </a:t>
            </a:r>
            <a:r>
              <a:rPr lang="ru-RU" sz="1800" dirty="0" err="1" smtClean="0">
                <a:solidFill>
                  <a:srgbClr val="76767C"/>
                </a:solidFill>
              </a:rPr>
              <a:t>центроиду</a:t>
            </a:r>
            <a:r>
              <a:rPr lang="en-US" sz="1800" dirty="0" smtClean="0">
                <a:solidFill>
                  <a:srgbClr val="76767C"/>
                </a:solidFill>
              </a:rPr>
              <a:t> </a:t>
            </a:r>
            <a:r>
              <a:rPr lang="ru-RU" sz="1800" dirty="0" smtClean="0">
                <a:solidFill>
                  <a:srgbClr val="76767C"/>
                </a:solidFill>
              </a:rPr>
              <a:t>каждого кластера: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Для каждого кластера вычисляем </a:t>
            </a:r>
            <a:r>
              <a:rPr lang="ru-RU" sz="1800" dirty="0">
                <a:solidFill>
                  <a:srgbClr val="76767C"/>
                </a:solidFill>
              </a:rPr>
              <a:t>среднее расстояние от </a:t>
            </a:r>
            <a:r>
              <a:rPr lang="ru-RU" sz="1800" dirty="0" err="1" smtClean="0">
                <a:solidFill>
                  <a:srgbClr val="76767C"/>
                </a:solidFill>
              </a:rPr>
              <a:t>центроиды</a:t>
            </a:r>
            <a:r>
              <a:rPr lang="ru-RU" sz="1800" dirty="0" smtClean="0">
                <a:solidFill>
                  <a:srgbClr val="76767C"/>
                </a:solidFill>
              </a:rPr>
              <a:t> до точек: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Для </a:t>
            </a:r>
            <a:r>
              <a:rPr lang="ru-RU" sz="1800" dirty="0">
                <a:solidFill>
                  <a:srgbClr val="76767C"/>
                </a:solidFill>
              </a:rPr>
              <a:t>каждой пары кластеров вычисляем </a:t>
            </a:r>
            <a:r>
              <a:rPr lang="ru-RU" sz="1800" dirty="0" smtClean="0">
                <a:solidFill>
                  <a:srgbClr val="76767C"/>
                </a:solidFill>
              </a:rPr>
              <a:t>коэффициент. Для каждого кластера берем «худший» вариант:</a:t>
            </a:r>
            <a:endParaRPr sz="1800" dirty="0">
              <a:solidFill>
                <a:srgbClr val="76767C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61CB4C5C-C52B-9ACC-1680-B988A957F55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282" y="1405845"/>
            <a:ext cx="1347732" cy="58390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C34C1BDF-3EB7-3EDF-C0DD-3DF40127802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500" y="2571750"/>
            <a:ext cx="1787000" cy="50063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17C09BF7-44CC-5896-7CC5-819A5090C48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442" y="3781048"/>
            <a:ext cx="1337636" cy="45795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0D0F074F-53FE-6877-BDD0-52756020A60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500" y="3958588"/>
            <a:ext cx="1090865" cy="28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9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426943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 smtClean="0">
                <a:solidFill>
                  <a:srgbClr val="9F2D20"/>
                </a:solidFill>
              </a:rPr>
              <a:t>Индекс Дэвиса-Болдина</a:t>
            </a: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0" y="954088"/>
            <a:ext cx="8704597" cy="11568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Вычислив среднее арифметическое, получаем непосредственно сам индекс: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sz="1800" dirty="0">
              <a:solidFill>
                <a:srgbClr val="76767C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xmlns="" id="{D8DFA01A-3F5B-F439-EDC6-10F179BA618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190" y="1423874"/>
            <a:ext cx="1381915" cy="60929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392" y="2110898"/>
            <a:ext cx="2063661" cy="237733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824" y="2033173"/>
            <a:ext cx="2706621" cy="2401300"/>
          </a:xfrm>
          <a:prstGeom prst="rect">
            <a:avLst/>
          </a:prstGeom>
        </p:spPr>
      </p:pic>
      <p:sp>
        <p:nvSpPr>
          <p:cNvPr id="14" name="Google Shape;135;p14"/>
          <p:cNvSpPr txBox="1">
            <a:spLocks/>
          </p:cNvSpPr>
          <p:nvPr/>
        </p:nvSpPr>
        <p:spPr>
          <a:xfrm>
            <a:off x="213850" y="2110898"/>
            <a:ext cx="4303286" cy="233308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Чем значение индекса меньше – тем </a:t>
            </a:r>
            <a:r>
              <a:rPr lang="ru-RU" sz="1800" dirty="0">
                <a:solidFill>
                  <a:srgbClr val="76767C"/>
                </a:solidFill>
              </a:rPr>
              <a:t>лучше разделены кластеры. </a:t>
            </a:r>
            <a:r>
              <a:rPr lang="ru-RU" sz="1800" dirty="0" smtClean="0">
                <a:solidFill>
                  <a:srgbClr val="76767C"/>
                </a:solidFill>
              </a:rPr>
              <a:t>Эффективнее при малой внутренней дисперсии и больших расстояниях между центрами</a:t>
            </a:r>
          </a:p>
          <a:p>
            <a:pPr marL="146050" indent="0">
              <a:spcBef>
                <a:spcPts val="0"/>
              </a:spcBef>
              <a:buSzPts val="1300"/>
              <a:buFont typeface="Arial" panose="020B0604020202020204" pitchFamily="34" charset="0"/>
              <a:buNone/>
            </a:pPr>
            <a:endParaRPr lang="ru-RU" sz="1800" dirty="0">
              <a:solidFill>
                <a:srgbClr val="7676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10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426943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>
              <a:spcBef>
                <a:spcPts val="0"/>
              </a:spcBef>
            </a:pPr>
            <a:r>
              <a:rPr lang="ru-RU" sz="4000" dirty="0" smtClean="0">
                <a:solidFill>
                  <a:srgbClr val="9F2D20"/>
                </a:solidFill>
              </a:rPr>
              <a:t>Индекс </a:t>
            </a:r>
            <a:r>
              <a:rPr lang="ru-RU" sz="4000" dirty="0" err="1">
                <a:solidFill>
                  <a:srgbClr val="9F2D20"/>
                </a:solidFill>
              </a:rPr>
              <a:t>Калинского-Харабаша</a:t>
            </a: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0" y="954088"/>
            <a:ext cx="8704597" cy="34959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>
                <a:solidFill>
                  <a:srgbClr val="76767C"/>
                </a:solidFill>
              </a:rPr>
              <a:t>Вычисляем </a:t>
            </a:r>
            <a:r>
              <a:rPr lang="ru-RU" sz="1800" dirty="0" err="1">
                <a:solidFill>
                  <a:srgbClr val="76767C"/>
                </a:solidFill>
              </a:rPr>
              <a:t>внутрикластерную</a:t>
            </a:r>
            <a:r>
              <a:rPr lang="ru-RU" sz="1800" dirty="0">
                <a:solidFill>
                  <a:srgbClr val="76767C"/>
                </a:solidFill>
              </a:rPr>
              <a:t> дисперсию </a:t>
            </a:r>
            <a:r>
              <a:rPr lang="ru-RU" sz="1800" dirty="0" smtClean="0">
                <a:solidFill>
                  <a:srgbClr val="76767C"/>
                </a:solidFill>
              </a:rPr>
              <a:t>как сумму </a:t>
            </a:r>
            <a:r>
              <a:rPr lang="ru-RU" sz="1800" dirty="0">
                <a:solidFill>
                  <a:srgbClr val="76767C"/>
                </a:solidFill>
              </a:rPr>
              <a:t>расстояний всех точек до </a:t>
            </a:r>
            <a:r>
              <a:rPr lang="ru-RU" sz="1800" dirty="0" err="1">
                <a:solidFill>
                  <a:srgbClr val="76767C"/>
                </a:solidFill>
              </a:rPr>
              <a:t>центроид</a:t>
            </a:r>
            <a:r>
              <a:rPr lang="ru-RU" sz="1800" dirty="0">
                <a:solidFill>
                  <a:srgbClr val="76767C"/>
                </a:solidFill>
              </a:rPr>
              <a:t> своего </a:t>
            </a:r>
            <a:r>
              <a:rPr lang="ru-RU" sz="1800" dirty="0" smtClean="0">
                <a:solidFill>
                  <a:srgbClr val="76767C"/>
                </a:solidFill>
              </a:rPr>
              <a:t>кластера</a:t>
            </a:r>
            <a:r>
              <a:rPr lang="en-US" sz="1800" dirty="0" smtClean="0">
                <a:solidFill>
                  <a:srgbClr val="76767C"/>
                </a:solidFill>
              </a:rPr>
              <a:t>:</a:t>
            </a: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en-US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en-US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en-US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Вычисляем </a:t>
            </a:r>
            <a:r>
              <a:rPr lang="ru-RU" sz="1800" dirty="0" err="1">
                <a:solidFill>
                  <a:srgbClr val="76767C"/>
                </a:solidFill>
              </a:rPr>
              <a:t>м</a:t>
            </a:r>
            <a:r>
              <a:rPr lang="ru-RU" sz="1800" dirty="0" err="1" smtClean="0">
                <a:solidFill>
                  <a:srgbClr val="76767C"/>
                </a:solidFill>
              </a:rPr>
              <a:t>ежкластерную</a:t>
            </a:r>
            <a:r>
              <a:rPr lang="ru-RU" sz="1800" dirty="0" smtClean="0">
                <a:solidFill>
                  <a:srgbClr val="76767C"/>
                </a:solidFill>
              </a:rPr>
              <a:t> дисперсию как </a:t>
            </a:r>
            <a:r>
              <a:rPr lang="ru-RU" sz="1800" dirty="0">
                <a:solidFill>
                  <a:srgbClr val="76767C"/>
                </a:solidFill>
              </a:rPr>
              <a:t>сумму расстояний </a:t>
            </a:r>
            <a:r>
              <a:rPr lang="ru-RU" sz="1800" dirty="0" err="1">
                <a:solidFill>
                  <a:srgbClr val="76767C"/>
                </a:solidFill>
              </a:rPr>
              <a:t>центроид</a:t>
            </a:r>
            <a:r>
              <a:rPr lang="ru-RU" sz="1800" dirty="0">
                <a:solidFill>
                  <a:srgbClr val="76767C"/>
                </a:solidFill>
              </a:rPr>
              <a:t> кластеров до общего </a:t>
            </a:r>
            <a:r>
              <a:rPr lang="ru-RU" sz="1800" dirty="0" err="1">
                <a:solidFill>
                  <a:srgbClr val="76767C"/>
                </a:solidFill>
              </a:rPr>
              <a:t>центроида</a:t>
            </a:r>
            <a:r>
              <a:rPr lang="ru-RU" sz="1800" dirty="0">
                <a:solidFill>
                  <a:srgbClr val="76767C"/>
                </a:solidFill>
              </a:rPr>
              <a:t> всех данных, умноженную на размер </a:t>
            </a:r>
            <a:r>
              <a:rPr lang="ru-RU" sz="1800" dirty="0" smtClean="0">
                <a:solidFill>
                  <a:srgbClr val="76767C"/>
                </a:solidFill>
              </a:rPr>
              <a:t>кластеров: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en-TT" sz="1800" dirty="0"/>
          </a:p>
          <a:p>
            <a:pPr marL="146050" indent="0">
              <a:spcBef>
                <a:spcPts val="0"/>
              </a:spcBef>
              <a:buSzPts val="1300"/>
              <a:buNone/>
            </a:pPr>
            <a:endParaRPr sz="1800" dirty="0">
              <a:solidFill>
                <a:srgbClr val="76767C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9A3417E8-C0A5-C9A6-8898-C2DAE5C29E7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604" y="1529406"/>
            <a:ext cx="2180791" cy="61967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D9F7C213-4B4D-F41C-AA07-460ACB519E7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604" y="3080935"/>
            <a:ext cx="2148331" cy="65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1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426943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>
              <a:spcBef>
                <a:spcPts val="0"/>
              </a:spcBef>
            </a:pPr>
            <a:r>
              <a:rPr lang="ru-RU" sz="4000" dirty="0" smtClean="0">
                <a:solidFill>
                  <a:srgbClr val="9F2D20"/>
                </a:solidFill>
              </a:rPr>
              <a:t>Индекс </a:t>
            </a:r>
            <a:r>
              <a:rPr lang="ru-RU" sz="4000" dirty="0" err="1">
                <a:solidFill>
                  <a:srgbClr val="9F2D20"/>
                </a:solidFill>
              </a:rPr>
              <a:t>Калинского-Харабаша</a:t>
            </a: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0" y="954088"/>
            <a:ext cx="8704597" cy="11856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Итоговый индекс для </a:t>
            </a:r>
            <a:r>
              <a:rPr lang="en-US" sz="1800" dirty="0" smtClean="0">
                <a:solidFill>
                  <a:srgbClr val="76767C"/>
                </a:solidFill>
              </a:rPr>
              <a:t>n </a:t>
            </a:r>
            <a:r>
              <a:rPr lang="ru-RU" sz="1800" dirty="0" smtClean="0">
                <a:solidFill>
                  <a:srgbClr val="76767C"/>
                </a:solidFill>
              </a:rPr>
              <a:t>точек и </a:t>
            </a:r>
            <a:r>
              <a:rPr lang="en-US" sz="1800" dirty="0" smtClean="0">
                <a:solidFill>
                  <a:srgbClr val="76767C"/>
                </a:solidFill>
              </a:rPr>
              <a:t>k</a:t>
            </a:r>
            <a:r>
              <a:rPr lang="ru-RU" sz="1800" dirty="0" smtClean="0">
                <a:solidFill>
                  <a:srgbClr val="76767C"/>
                </a:solidFill>
              </a:rPr>
              <a:t> кластеров:</a:t>
            </a:r>
            <a:r>
              <a:rPr lang="ru-RU" sz="1800" dirty="0" smtClean="0"/>
              <a:t/>
            </a:r>
            <a:br>
              <a:rPr lang="ru-RU" sz="1800" dirty="0" smtClean="0"/>
            </a:br>
            <a:endParaRPr lang="en-TT" sz="1800" dirty="0"/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0D5BA546-9DC7-4767-0C0B-E5FB56DF420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392" y="1542241"/>
            <a:ext cx="1944530" cy="436437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92607" y="2280519"/>
            <a:ext cx="38587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76767C"/>
                </a:solidFill>
              </a:rPr>
              <a:t>Чем выше значение индекса, тем лучше разделены </a:t>
            </a:r>
            <a:r>
              <a:rPr lang="ru-RU" dirty="0" smtClean="0">
                <a:solidFill>
                  <a:srgbClr val="76767C"/>
                </a:solidFill>
              </a:rPr>
              <a:t>кластеры.</a:t>
            </a:r>
            <a:endParaRPr lang="en-TT" dirty="0">
              <a:solidFill>
                <a:srgbClr val="76767C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282" y="2221115"/>
            <a:ext cx="2063661" cy="237733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177" y="2172677"/>
            <a:ext cx="2821125" cy="240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15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426943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>
              <a:spcBef>
                <a:spcPts val="0"/>
              </a:spcBef>
            </a:pPr>
            <a:r>
              <a:rPr lang="ru-RU" sz="4000" dirty="0" smtClean="0">
                <a:solidFill>
                  <a:srgbClr val="9F2D20"/>
                </a:solidFill>
              </a:rPr>
              <a:t>Среднеквадратичная ошибка</a:t>
            </a: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0" y="954088"/>
            <a:ext cx="8704597" cy="3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>
                <a:solidFill>
                  <a:srgbClr val="76767C"/>
                </a:solidFill>
              </a:rPr>
              <a:t>Для методов с явным </a:t>
            </a:r>
            <a:r>
              <a:rPr lang="ru-RU" sz="1800" dirty="0" smtClean="0">
                <a:solidFill>
                  <a:srgbClr val="76767C"/>
                </a:solidFill>
              </a:rPr>
              <a:t>декодером (метод </a:t>
            </a:r>
            <a:r>
              <a:rPr lang="ru-RU" sz="1800" dirty="0">
                <a:solidFill>
                  <a:srgbClr val="76767C"/>
                </a:solidFill>
              </a:rPr>
              <a:t>главных компонент</a:t>
            </a:r>
            <a:r>
              <a:rPr lang="ru-RU" sz="1800" dirty="0" smtClean="0">
                <a:solidFill>
                  <a:srgbClr val="76767C"/>
                </a:solidFill>
              </a:rPr>
              <a:t> </a:t>
            </a:r>
            <a:r>
              <a:rPr lang="ru-RU" sz="1800" dirty="0">
                <a:solidFill>
                  <a:srgbClr val="76767C"/>
                </a:solidFill>
              </a:rPr>
              <a:t>или </a:t>
            </a:r>
            <a:r>
              <a:rPr lang="ru-RU" sz="1800" dirty="0" err="1" smtClean="0">
                <a:solidFill>
                  <a:srgbClr val="76767C"/>
                </a:solidFill>
              </a:rPr>
              <a:t>автоэнкодеры</a:t>
            </a:r>
            <a:r>
              <a:rPr lang="ru-RU" sz="1800" dirty="0">
                <a:solidFill>
                  <a:srgbClr val="76767C"/>
                </a:solidFill>
              </a:rPr>
              <a:t>)</a:t>
            </a:r>
            <a:r>
              <a:rPr lang="ru-RU" sz="1800" dirty="0" smtClean="0">
                <a:solidFill>
                  <a:srgbClr val="76767C"/>
                </a:solidFill>
              </a:rPr>
              <a:t> </a:t>
            </a:r>
            <a:r>
              <a:rPr lang="ru-RU" sz="1800" dirty="0">
                <a:solidFill>
                  <a:srgbClr val="76767C"/>
                </a:solidFill>
              </a:rPr>
              <a:t>можно напрямую измерить ошибку </a:t>
            </a:r>
            <a:r>
              <a:rPr lang="ru-RU" sz="1800" dirty="0" smtClean="0">
                <a:solidFill>
                  <a:srgbClr val="76767C"/>
                </a:solidFill>
              </a:rPr>
              <a:t>реконструкции как </a:t>
            </a:r>
            <a:r>
              <a:rPr lang="ru-RU" sz="1800" dirty="0">
                <a:solidFill>
                  <a:srgbClr val="76767C"/>
                </a:solidFill>
              </a:rPr>
              <a:t>среднеквадратичное отклонение между исходным объектом и </a:t>
            </a:r>
            <a:r>
              <a:rPr lang="ru-RU" sz="1800" dirty="0" smtClean="0">
                <a:solidFill>
                  <a:srgbClr val="76767C"/>
                </a:solidFill>
              </a:rPr>
              <a:t>восстановленным: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>
                <a:solidFill>
                  <a:srgbClr val="76767C"/>
                </a:solidFill>
              </a:rPr>
              <a:t>г</a:t>
            </a:r>
            <a:r>
              <a:rPr lang="ru-RU" sz="1800" dirty="0" smtClean="0">
                <a:solidFill>
                  <a:srgbClr val="76767C"/>
                </a:solidFill>
              </a:rPr>
              <a:t>де </a:t>
            </a:r>
            <a:r>
              <a:rPr lang="en-US" sz="1800" dirty="0" smtClean="0">
                <a:solidFill>
                  <a:srgbClr val="76767C"/>
                </a:solidFill>
              </a:rPr>
              <a:t>X – </a:t>
            </a:r>
            <a:r>
              <a:rPr lang="ru-RU" sz="1800" dirty="0" smtClean="0">
                <a:solidFill>
                  <a:srgbClr val="76767C"/>
                </a:solidFill>
              </a:rPr>
              <a:t>матрица, составленная из </a:t>
            </a:r>
            <a:r>
              <a:rPr lang="en-US" sz="1800" dirty="0" smtClean="0">
                <a:solidFill>
                  <a:srgbClr val="76767C"/>
                </a:solidFill>
              </a:rPr>
              <a:t>n </a:t>
            </a:r>
            <a:r>
              <a:rPr lang="ru-RU" sz="1800" smtClean="0">
                <a:solidFill>
                  <a:srgbClr val="76767C"/>
                </a:solidFill>
              </a:rPr>
              <a:t>точек изначальной </a:t>
            </a:r>
            <a:r>
              <a:rPr lang="ru-RU" sz="1800" dirty="0" smtClean="0">
                <a:solidFill>
                  <a:srgbClr val="76767C"/>
                </a:solidFill>
              </a:rPr>
              <a:t>размерности </a:t>
            </a:r>
            <a:r>
              <a:rPr lang="en-US" sz="1800" dirty="0" smtClean="0">
                <a:solidFill>
                  <a:srgbClr val="76767C"/>
                </a:solidFill>
              </a:rPr>
              <a:t>d</a:t>
            </a:r>
            <a:r>
              <a:rPr lang="ru-RU" sz="1800" dirty="0" smtClean="0">
                <a:solidFill>
                  <a:srgbClr val="76767C"/>
                </a:solidFill>
              </a:rPr>
              <a:t>.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Чем меньше ошибка, тем эффективнее снижена размерность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1FFACD52-D9FA-E3CA-A8A2-46845F689E5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495" y="2002208"/>
            <a:ext cx="2382115" cy="50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11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426943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>
              <a:spcBef>
                <a:spcPts val="0"/>
              </a:spcBef>
            </a:pPr>
            <a:r>
              <a:rPr lang="ru-RU" sz="4000" dirty="0" smtClean="0">
                <a:solidFill>
                  <a:srgbClr val="9F2D20"/>
                </a:solidFill>
              </a:rPr>
              <a:t>Функция стресса</a:t>
            </a: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0" y="954088"/>
            <a:ext cx="8704597" cy="3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>
                <a:solidFill>
                  <a:srgbClr val="76767C"/>
                </a:solidFill>
              </a:rPr>
              <a:t>Для методов без декодера, </a:t>
            </a:r>
            <a:r>
              <a:rPr lang="ru-RU" sz="1800" dirty="0" smtClean="0">
                <a:solidFill>
                  <a:srgbClr val="76767C"/>
                </a:solidFill>
              </a:rPr>
              <a:t>например, при многомерном </a:t>
            </a:r>
            <a:r>
              <a:rPr lang="ru-RU" sz="1800" dirty="0" err="1" smtClean="0">
                <a:solidFill>
                  <a:srgbClr val="76767C"/>
                </a:solidFill>
              </a:rPr>
              <a:t>шкалировании</a:t>
            </a:r>
            <a:r>
              <a:rPr lang="ru-RU" sz="1800" dirty="0" smtClean="0">
                <a:solidFill>
                  <a:srgbClr val="76767C"/>
                </a:solidFill>
              </a:rPr>
              <a:t>, используется </a:t>
            </a:r>
            <a:r>
              <a:rPr lang="ru-RU" sz="1800" dirty="0">
                <a:solidFill>
                  <a:srgbClr val="76767C"/>
                </a:solidFill>
              </a:rPr>
              <a:t>функция </a:t>
            </a:r>
            <a:r>
              <a:rPr lang="ru-RU" sz="1800" dirty="0" smtClean="0">
                <a:solidFill>
                  <a:srgbClr val="76767C"/>
                </a:solidFill>
              </a:rPr>
              <a:t>стресса как </a:t>
            </a:r>
            <a:r>
              <a:rPr lang="ru-RU" sz="1800" dirty="0">
                <a:solidFill>
                  <a:srgbClr val="76767C"/>
                </a:solidFill>
              </a:rPr>
              <a:t>корень из суммы квадратов отклонений попарных расстояний до и после проекции, делённый на норму исходных </a:t>
            </a:r>
            <a:r>
              <a:rPr lang="ru-RU" sz="1800" dirty="0" smtClean="0">
                <a:solidFill>
                  <a:srgbClr val="76767C"/>
                </a:solidFill>
              </a:rPr>
              <a:t>расстояний: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Чем меньше значение функции, </a:t>
            </a:r>
            <a:r>
              <a:rPr lang="ru-RU" sz="1800" dirty="0">
                <a:solidFill>
                  <a:srgbClr val="76767C"/>
                </a:solidFill>
              </a:rPr>
              <a:t>тем эффективнее снижена размерность.</a:t>
            </a:r>
            <a:endParaRPr lang="ru-RU" sz="1800" dirty="0" smtClean="0">
              <a:solidFill>
                <a:srgbClr val="76767C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8ECA0216-EC3A-C4D5-805E-F623708AD8B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479" y="2126924"/>
            <a:ext cx="4038293" cy="56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8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426943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>
              <a:spcBef>
                <a:spcPts val="0"/>
              </a:spcBef>
            </a:pPr>
            <a:r>
              <a:rPr lang="ru-RU" sz="4000" dirty="0" smtClean="0">
                <a:solidFill>
                  <a:srgbClr val="9F2D20"/>
                </a:solidFill>
              </a:rPr>
              <a:t>Надежность и непрерывность</a:t>
            </a: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0" y="954088"/>
            <a:ext cx="8704597" cy="3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Первая </a:t>
            </a:r>
            <a:r>
              <a:rPr lang="ru-RU" sz="1800" dirty="0">
                <a:solidFill>
                  <a:srgbClr val="76767C"/>
                </a:solidFill>
              </a:rPr>
              <a:t>штрафует за «ложных соседей»: точки, ставшие близкими в </a:t>
            </a:r>
            <a:r>
              <a:rPr lang="ru-RU" sz="1800" dirty="0" err="1">
                <a:solidFill>
                  <a:srgbClr val="76767C"/>
                </a:solidFill>
              </a:rPr>
              <a:t>низкоразмерном</a:t>
            </a:r>
            <a:r>
              <a:rPr lang="ru-RU" sz="1800" dirty="0">
                <a:solidFill>
                  <a:srgbClr val="76767C"/>
                </a:solidFill>
              </a:rPr>
              <a:t> представлении</a:t>
            </a:r>
            <a:r>
              <a:rPr lang="ru-RU" sz="1800" dirty="0" smtClean="0">
                <a:solidFill>
                  <a:srgbClr val="76767C"/>
                </a:solidFill>
              </a:rPr>
              <a:t>, </a:t>
            </a:r>
            <a:r>
              <a:rPr lang="ru-RU" sz="1800" dirty="0" smtClean="0">
                <a:solidFill>
                  <a:srgbClr val="76767C"/>
                </a:solidFill>
              </a:rPr>
              <a:t>но бывшие </a:t>
            </a:r>
            <a:r>
              <a:rPr lang="ru-RU" sz="1800" dirty="0">
                <a:solidFill>
                  <a:srgbClr val="76767C"/>
                </a:solidFill>
              </a:rPr>
              <a:t>далёкими в </a:t>
            </a:r>
            <a:r>
              <a:rPr lang="ru-RU" sz="1800" dirty="0" err="1">
                <a:solidFill>
                  <a:srgbClr val="76767C"/>
                </a:solidFill>
              </a:rPr>
              <a:t>высокоразмерном</a:t>
            </a:r>
            <a:r>
              <a:rPr lang="ru-RU" sz="1800" dirty="0">
                <a:solidFill>
                  <a:srgbClr val="76767C"/>
                </a:solidFill>
              </a:rPr>
              <a:t> </a:t>
            </a:r>
            <a:r>
              <a:rPr lang="ru-RU" sz="1800" dirty="0" smtClean="0">
                <a:solidFill>
                  <a:srgbClr val="76767C"/>
                </a:solidFill>
              </a:rPr>
              <a:t>пространстве</a:t>
            </a:r>
            <a:r>
              <a:rPr lang="en-US" sz="1800" dirty="0" smtClean="0">
                <a:solidFill>
                  <a:srgbClr val="76767C"/>
                </a:solidFill>
              </a:rPr>
              <a:t>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en-US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>
                <a:solidFill>
                  <a:srgbClr val="76767C"/>
                </a:solidFill>
              </a:rPr>
              <a:t>г</a:t>
            </a:r>
            <a:r>
              <a:rPr lang="ru-RU" sz="1800" dirty="0" smtClean="0">
                <a:solidFill>
                  <a:srgbClr val="76767C"/>
                </a:solidFill>
              </a:rPr>
              <a:t>де            - ранг точки </a:t>
            </a:r>
            <a:r>
              <a:rPr lang="en-US" sz="1800" dirty="0" smtClean="0">
                <a:solidFill>
                  <a:srgbClr val="76767C"/>
                </a:solidFill>
              </a:rPr>
              <a:t>j </a:t>
            </a:r>
            <a:r>
              <a:rPr lang="ru-RU" sz="1800" dirty="0" smtClean="0">
                <a:solidFill>
                  <a:srgbClr val="76767C"/>
                </a:solidFill>
              </a:rPr>
              <a:t>среди </a:t>
            </a:r>
            <a:r>
              <a:rPr lang="ru-RU" sz="1800" dirty="0">
                <a:solidFill>
                  <a:srgbClr val="76767C"/>
                </a:solidFill>
              </a:rPr>
              <a:t>всех точек по возрастанию расстояния от i в исходном </a:t>
            </a:r>
            <a:r>
              <a:rPr lang="ru-RU" sz="1800" dirty="0" smtClean="0">
                <a:solidFill>
                  <a:srgbClr val="76767C"/>
                </a:solidFill>
              </a:rPr>
              <a:t>пространстве.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       - </a:t>
            </a:r>
            <a:r>
              <a:rPr lang="ru-RU" sz="1800" dirty="0">
                <a:solidFill>
                  <a:srgbClr val="76767C"/>
                </a:solidFill>
              </a:rPr>
              <a:t>k ближайших </a:t>
            </a:r>
            <a:r>
              <a:rPr lang="ru-RU" sz="1800" dirty="0" smtClean="0">
                <a:solidFill>
                  <a:srgbClr val="76767C"/>
                </a:solidFill>
              </a:rPr>
              <a:t>соседей точки </a:t>
            </a:r>
            <a:r>
              <a:rPr lang="ru-RU" sz="1800" dirty="0">
                <a:solidFill>
                  <a:srgbClr val="76767C"/>
                </a:solidFill>
              </a:rPr>
              <a:t>i в исходном </a:t>
            </a:r>
            <a:r>
              <a:rPr lang="ru-RU" sz="1800" dirty="0" smtClean="0">
                <a:solidFill>
                  <a:srgbClr val="76767C"/>
                </a:solidFill>
              </a:rPr>
              <a:t>пространстве.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>
                <a:solidFill>
                  <a:srgbClr val="76767C"/>
                </a:solidFill>
              </a:rPr>
              <a:t> </a:t>
            </a:r>
            <a:r>
              <a:rPr lang="ru-RU" sz="1800" dirty="0" smtClean="0">
                <a:solidFill>
                  <a:srgbClr val="76767C"/>
                </a:solidFill>
              </a:rPr>
              <a:t>      - </a:t>
            </a:r>
            <a:r>
              <a:rPr lang="ru-RU" sz="1800" dirty="0">
                <a:solidFill>
                  <a:srgbClr val="76767C"/>
                </a:solidFill>
              </a:rPr>
              <a:t>k ближайших </a:t>
            </a:r>
            <a:r>
              <a:rPr lang="ru-RU" sz="1800" dirty="0" smtClean="0">
                <a:solidFill>
                  <a:srgbClr val="76767C"/>
                </a:solidFill>
              </a:rPr>
              <a:t>соседей точки </a:t>
            </a:r>
            <a:r>
              <a:rPr lang="ru-RU" sz="1800" dirty="0">
                <a:solidFill>
                  <a:srgbClr val="76767C"/>
                </a:solidFill>
              </a:rPr>
              <a:t>i в </a:t>
            </a:r>
            <a:r>
              <a:rPr lang="ru-RU" sz="1800" dirty="0" err="1" smtClean="0">
                <a:solidFill>
                  <a:srgbClr val="76767C"/>
                </a:solidFill>
              </a:rPr>
              <a:t>низкоразмерном</a:t>
            </a:r>
            <a:r>
              <a:rPr lang="ru-RU" sz="1800" dirty="0" smtClean="0">
                <a:solidFill>
                  <a:srgbClr val="76767C"/>
                </a:solidFill>
              </a:rPr>
              <a:t> </a:t>
            </a:r>
            <a:r>
              <a:rPr lang="ru-RU" sz="1800" dirty="0">
                <a:solidFill>
                  <a:srgbClr val="76767C"/>
                </a:solidFill>
              </a:rPr>
              <a:t>пространстве</a:t>
            </a:r>
            <a:endParaRPr lang="ru-RU" sz="1800" dirty="0" smtClean="0">
              <a:solidFill>
                <a:srgbClr val="76767C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134" y="1713449"/>
            <a:ext cx="4042028" cy="58308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81CD181B-43BE-5280-2B39-E68CC628FA8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29" y="2469959"/>
            <a:ext cx="483962" cy="20358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12" y="3005710"/>
            <a:ext cx="264604" cy="20968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12" y="3258884"/>
            <a:ext cx="264604" cy="24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909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426943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>
              <a:spcBef>
                <a:spcPts val="0"/>
              </a:spcBef>
            </a:pPr>
            <a:r>
              <a:rPr lang="ru-RU" sz="4000" dirty="0" smtClean="0">
                <a:solidFill>
                  <a:srgbClr val="9F2D20"/>
                </a:solidFill>
              </a:rPr>
              <a:t>Надежность и непрерывность</a:t>
            </a: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0" y="954088"/>
            <a:ext cx="8704597" cy="3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Вторая штрафует </a:t>
            </a:r>
            <a:r>
              <a:rPr lang="ru-RU" sz="1800" dirty="0">
                <a:solidFill>
                  <a:srgbClr val="76767C"/>
                </a:solidFill>
              </a:rPr>
              <a:t>за «потерянных </a:t>
            </a:r>
            <a:r>
              <a:rPr lang="ru-RU" sz="1800" dirty="0" smtClean="0">
                <a:solidFill>
                  <a:srgbClr val="76767C"/>
                </a:solidFill>
              </a:rPr>
              <a:t>соседей»</a:t>
            </a:r>
            <a:r>
              <a:rPr lang="ru-RU" sz="1800" dirty="0">
                <a:solidFill>
                  <a:srgbClr val="76767C"/>
                </a:solidFill>
              </a:rPr>
              <a:t>:</a:t>
            </a:r>
            <a:r>
              <a:rPr lang="en-US" sz="1800" dirty="0" smtClean="0">
                <a:solidFill>
                  <a:srgbClr val="76767C"/>
                </a:solidFill>
              </a:rPr>
              <a:t> </a:t>
            </a:r>
            <a:r>
              <a:rPr lang="ru-RU" sz="1800" dirty="0" smtClean="0">
                <a:solidFill>
                  <a:srgbClr val="76767C"/>
                </a:solidFill>
              </a:rPr>
              <a:t>точки</a:t>
            </a:r>
            <a:r>
              <a:rPr lang="ru-RU" sz="1800" dirty="0">
                <a:solidFill>
                  <a:srgbClr val="76767C"/>
                </a:solidFill>
              </a:rPr>
              <a:t>, бывшие близкими в </a:t>
            </a:r>
            <a:r>
              <a:rPr lang="ru-RU" sz="1800" dirty="0" err="1">
                <a:solidFill>
                  <a:srgbClr val="76767C"/>
                </a:solidFill>
              </a:rPr>
              <a:t>высокоразмерном</a:t>
            </a:r>
            <a:r>
              <a:rPr lang="ru-RU" sz="1800" dirty="0">
                <a:solidFill>
                  <a:srgbClr val="76767C"/>
                </a:solidFill>
              </a:rPr>
              <a:t> пространстве</a:t>
            </a:r>
            <a:r>
              <a:rPr lang="ru-RU" sz="1800" dirty="0" smtClean="0">
                <a:solidFill>
                  <a:srgbClr val="76767C"/>
                </a:solidFill>
              </a:rPr>
              <a:t>, </a:t>
            </a:r>
            <a:r>
              <a:rPr lang="ru-RU" sz="1800" dirty="0">
                <a:solidFill>
                  <a:srgbClr val="76767C"/>
                </a:solidFill>
              </a:rPr>
              <a:t>но разъехавшиеся в </a:t>
            </a:r>
            <a:r>
              <a:rPr lang="ru-RU" sz="1800" dirty="0" err="1">
                <a:solidFill>
                  <a:srgbClr val="76767C"/>
                </a:solidFill>
              </a:rPr>
              <a:t>низкоразмерном</a:t>
            </a:r>
            <a:r>
              <a:rPr lang="ru-RU" sz="1800" dirty="0">
                <a:solidFill>
                  <a:srgbClr val="76767C"/>
                </a:solidFill>
              </a:rPr>
              <a:t> </a:t>
            </a:r>
            <a:r>
              <a:rPr lang="ru-RU" sz="1800" dirty="0" smtClean="0">
                <a:solidFill>
                  <a:srgbClr val="76767C"/>
                </a:solidFill>
              </a:rPr>
              <a:t>представлении</a:t>
            </a:r>
            <a:r>
              <a:rPr lang="en-US" sz="1800" dirty="0" smtClean="0">
                <a:solidFill>
                  <a:srgbClr val="76767C"/>
                </a:solidFill>
              </a:rPr>
              <a:t>:</a:t>
            </a: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>
                <a:solidFill>
                  <a:srgbClr val="76767C"/>
                </a:solidFill>
              </a:rPr>
              <a:t>г</a:t>
            </a:r>
            <a:r>
              <a:rPr lang="ru-RU" sz="1800" dirty="0" smtClean="0">
                <a:solidFill>
                  <a:srgbClr val="76767C"/>
                </a:solidFill>
              </a:rPr>
              <a:t>де            - ранг точки </a:t>
            </a:r>
            <a:r>
              <a:rPr lang="en-US" sz="1800" dirty="0" smtClean="0">
                <a:solidFill>
                  <a:srgbClr val="76767C"/>
                </a:solidFill>
              </a:rPr>
              <a:t>j </a:t>
            </a:r>
            <a:r>
              <a:rPr lang="ru-RU" sz="1800" dirty="0" smtClean="0">
                <a:solidFill>
                  <a:srgbClr val="76767C"/>
                </a:solidFill>
              </a:rPr>
              <a:t>среди </a:t>
            </a:r>
            <a:r>
              <a:rPr lang="ru-RU" sz="1800" dirty="0">
                <a:solidFill>
                  <a:srgbClr val="76767C"/>
                </a:solidFill>
              </a:rPr>
              <a:t>всех точек по возрастанию расстояния от i </a:t>
            </a:r>
            <a:r>
              <a:rPr lang="ru-RU" sz="1800" dirty="0" smtClean="0">
                <a:solidFill>
                  <a:srgbClr val="76767C"/>
                </a:solidFill>
              </a:rPr>
              <a:t>в </a:t>
            </a:r>
            <a:r>
              <a:rPr lang="ru-RU" sz="1800" dirty="0" err="1" smtClean="0">
                <a:solidFill>
                  <a:srgbClr val="76767C"/>
                </a:solidFill>
              </a:rPr>
              <a:t>низкоразмерном</a:t>
            </a:r>
            <a:r>
              <a:rPr lang="ru-RU" sz="1800" dirty="0" smtClean="0">
                <a:solidFill>
                  <a:srgbClr val="76767C"/>
                </a:solidFill>
              </a:rPr>
              <a:t> пространстве.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Обе метрики находятся в диапазоне от 0 до 1. Чем больше </a:t>
            </a:r>
            <a:r>
              <a:rPr lang="ru-RU" sz="1800" dirty="0">
                <a:solidFill>
                  <a:srgbClr val="76767C"/>
                </a:solidFill>
              </a:rPr>
              <a:t>значение, эффективнее снижена размерность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270" y="1895731"/>
            <a:ext cx="4151756" cy="59599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48" y="2739004"/>
            <a:ext cx="483168" cy="21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888225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>
              <a:spcBef>
                <a:spcPts val="0"/>
              </a:spcBef>
            </a:pPr>
            <a:r>
              <a:rPr lang="ru-RU" dirty="0">
                <a:solidFill>
                  <a:srgbClr val="9F2D20"/>
                </a:solidFill>
              </a:rPr>
              <a:t>Инъекция синтетических аномалий</a:t>
            </a:r>
            <a:r>
              <a:rPr lang="ru-RU" sz="4000" dirty="0"/>
              <a:t/>
            </a:r>
            <a:br>
              <a:rPr lang="ru-RU" sz="4000" dirty="0"/>
            </a:b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0" y="954088"/>
            <a:ext cx="8704597" cy="3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>
                <a:solidFill>
                  <a:srgbClr val="76767C"/>
                </a:solidFill>
              </a:rPr>
              <a:t>Самый доступный </a:t>
            </a:r>
            <a:r>
              <a:rPr lang="ru-RU" sz="1800" dirty="0" smtClean="0">
                <a:solidFill>
                  <a:srgbClr val="76767C"/>
                </a:solidFill>
              </a:rPr>
              <a:t>способ</a:t>
            </a:r>
            <a:r>
              <a:rPr lang="en-US" sz="1800" dirty="0" smtClean="0">
                <a:solidFill>
                  <a:srgbClr val="76767C"/>
                </a:solidFill>
              </a:rPr>
              <a:t> </a:t>
            </a:r>
            <a:r>
              <a:rPr lang="ru-RU" sz="1800" dirty="0" smtClean="0">
                <a:solidFill>
                  <a:srgbClr val="76767C"/>
                </a:solidFill>
              </a:rPr>
              <a:t>в задаче поиска аномалий. В ней алгоритм </a:t>
            </a:r>
            <a:r>
              <a:rPr lang="ru-RU" sz="1800" dirty="0">
                <a:solidFill>
                  <a:srgbClr val="76767C"/>
                </a:solidFill>
              </a:rPr>
              <a:t>возвращает </a:t>
            </a:r>
            <a:r>
              <a:rPr lang="ru-RU" sz="1800" dirty="0" smtClean="0">
                <a:solidFill>
                  <a:srgbClr val="76767C"/>
                </a:solidFill>
              </a:rPr>
              <a:t>оценку </a:t>
            </a:r>
            <a:r>
              <a:rPr lang="ru-RU" sz="1800" dirty="0" err="1">
                <a:solidFill>
                  <a:srgbClr val="76767C"/>
                </a:solidFill>
              </a:rPr>
              <a:t>аномальности</a:t>
            </a:r>
            <a:r>
              <a:rPr lang="ru-RU" sz="1800" dirty="0">
                <a:solidFill>
                  <a:srgbClr val="76767C"/>
                </a:solidFill>
              </a:rPr>
              <a:t> для каждой точки. </a:t>
            </a: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Поэтому генерируем </a:t>
            </a:r>
            <a:r>
              <a:rPr lang="ru-RU" sz="1800" dirty="0">
                <a:solidFill>
                  <a:srgbClr val="76767C"/>
                </a:solidFill>
              </a:rPr>
              <a:t>заведомо аномальные </a:t>
            </a:r>
            <a:r>
              <a:rPr lang="ru-RU" sz="1800" dirty="0" smtClean="0">
                <a:solidFill>
                  <a:srgbClr val="76767C"/>
                </a:solidFill>
              </a:rPr>
              <a:t>объекты, </a:t>
            </a:r>
            <a:r>
              <a:rPr lang="ru-RU" sz="1800" dirty="0">
                <a:solidFill>
                  <a:srgbClr val="76767C"/>
                </a:solidFill>
              </a:rPr>
              <a:t>например, точки за пределами </a:t>
            </a:r>
            <a:r>
              <a:rPr lang="ru-RU" sz="1800" dirty="0" err="1">
                <a:solidFill>
                  <a:srgbClr val="76767C"/>
                </a:solidFill>
              </a:rPr>
              <a:t>гиперпрямоугольника</a:t>
            </a:r>
            <a:r>
              <a:rPr lang="ru-RU" sz="1800" dirty="0">
                <a:solidFill>
                  <a:srgbClr val="76767C"/>
                </a:solidFill>
              </a:rPr>
              <a:t> данных или перемешанные </a:t>
            </a:r>
            <a:r>
              <a:rPr lang="ru-RU" sz="1800" dirty="0" smtClean="0">
                <a:solidFill>
                  <a:srgbClr val="76767C"/>
                </a:solidFill>
              </a:rPr>
              <a:t>признаки</a:t>
            </a:r>
            <a:r>
              <a:rPr lang="en-US" sz="1800" dirty="0">
                <a:solidFill>
                  <a:srgbClr val="76767C"/>
                </a:solidFill>
              </a:rPr>
              <a:t>,</a:t>
            </a:r>
            <a:r>
              <a:rPr lang="ru-RU" sz="1800" dirty="0" smtClean="0">
                <a:solidFill>
                  <a:srgbClr val="76767C"/>
                </a:solidFill>
              </a:rPr>
              <a:t> </a:t>
            </a:r>
            <a:r>
              <a:rPr lang="ru-RU" sz="1800" dirty="0">
                <a:solidFill>
                  <a:srgbClr val="76767C"/>
                </a:solidFill>
              </a:rPr>
              <a:t>и добавляем их в </a:t>
            </a:r>
            <a:r>
              <a:rPr lang="ru-RU" sz="1800" dirty="0" smtClean="0">
                <a:solidFill>
                  <a:srgbClr val="76767C"/>
                </a:solidFill>
              </a:rPr>
              <a:t>выборку</a:t>
            </a:r>
            <a:r>
              <a:rPr lang="ru-RU" sz="1800" dirty="0">
                <a:solidFill>
                  <a:srgbClr val="76767C"/>
                </a:solidFill>
              </a:rPr>
              <a:t>. Затем смотрим, получают ли они стабильно </a:t>
            </a:r>
            <a:r>
              <a:rPr lang="ru-RU" sz="1800" dirty="0" smtClean="0">
                <a:solidFill>
                  <a:srgbClr val="76767C"/>
                </a:solidFill>
              </a:rPr>
              <a:t>высокую оценку </a:t>
            </a:r>
            <a:r>
              <a:rPr lang="ru-RU" sz="1800" dirty="0" err="1" smtClean="0">
                <a:solidFill>
                  <a:srgbClr val="76767C"/>
                </a:solidFill>
              </a:rPr>
              <a:t>аномальности</a:t>
            </a:r>
            <a:r>
              <a:rPr lang="ru-RU" sz="1800" dirty="0" smtClean="0">
                <a:solidFill>
                  <a:srgbClr val="76767C"/>
                </a:solidFill>
              </a:rPr>
              <a:t>.</a:t>
            </a:r>
            <a:endParaRPr lang="ru-RU" sz="1800" dirty="0">
              <a:solidFill>
                <a:srgbClr val="7676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20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888225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>
              <a:spcBef>
                <a:spcPts val="0"/>
              </a:spcBef>
            </a:pPr>
            <a:r>
              <a:rPr lang="ru-RU" dirty="0" smtClean="0">
                <a:solidFill>
                  <a:srgbClr val="9F2D20"/>
                </a:solidFill>
              </a:rPr>
              <a:t>Кривая «массы-объёма» (</a:t>
            </a:r>
            <a:r>
              <a:rPr lang="en-US" dirty="0" smtClean="0">
                <a:solidFill>
                  <a:srgbClr val="9F2D20"/>
                </a:solidFill>
              </a:rPr>
              <a:t>MV</a:t>
            </a:r>
            <a:r>
              <a:rPr lang="ru-RU" dirty="0" smtClean="0">
                <a:solidFill>
                  <a:srgbClr val="9F2D20"/>
                </a:solidFill>
              </a:rPr>
              <a:t>)</a:t>
            </a:r>
            <a:r>
              <a:rPr lang="ru-RU" sz="4000" dirty="0"/>
              <a:t/>
            </a:r>
            <a:br>
              <a:rPr lang="ru-RU" sz="4000" dirty="0"/>
            </a:b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0" y="954088"/>
            <a:ext cx="8704597" cy="3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Зафиксируем оценку </a:t>
            </a:r>
            <a:r>
              <a:rPr lang="ru-RU" sz="1800" dirty="0" err="1" smtClean="0">
                <a:solidFill>
                  <a:srgbClr val="76767C"/>
                </a:solidFill>
              </a:rPr>
              <a:t>аномальности</a:t>
            </a:r>
            <a:r>
              <a:rPr lang="en-US" sz="1800" dirty="0" smtClean="0">
                <a:solidFill>
                  <a:srgbClr val="76767C"/>
                </a:solidFill>
              </a:rPr>
              <a:t> </a:t>
            </a:r>
            <a:r>
              <a:rPr lang="ru-RU" sz="1800" dirty="0" smtClean="0">
                <a:solidFill>
                  <a:srgbClr val="76767C"/>
                </a:solidFill>
              </a:rPr>
              <a:t>как </a:t>
            </a:r>
            <a:r>
              <a:rPr lang="en-US" sz="1800" dirty="0" smtClean="0">
                <a:solidFill>
                  <a:srgbClr val="76767C"/>
                </a:solidFill>
              </a:rPr>
              <a:t>s(x)</a:t>
            </a:r>
            <a:r>
              <a:rPr lang="ru-RU" sz="1800" dirty="0" smtClean="0">
                <a:solidFill>
                  <a:srgbClr val="76767C"/>
                </a:solidFill>
              </a:rPr>
              <a:t> и рассмотрим пороговые множества: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Для каждого порога определим долю </a:t>
            </a:r>
            <a:r>
              <a:rPr lang="ru-RU" sz="1800" dirty="0">
                <a:solidFill>
                  <a:srgbClr val="76767C"/>
                </a:solidFill>
              </a:rPr>
              <a:t>точек α(η</a:t>
            </a:r>
            <a:r>
              <a:rPr lang="ru-RU" sz="1800" dirty="0" smtClean="0">
                <a:solidFill>
                  <a:srgbClr val="76767C"/>
                </a:solidFill>
              </a:rPr>
              <a:t>) </a:t>
            </a:r>
            <a:r>
              <a:rPr lang="ru-RU" sz="1800" dirty="0">
                <a:solidFill>
                  <a:srgbClr val="76767C"/>
                </a:solidFill>
              </a:rPr>
              <a:t>(масса</a:t>
            </a:r>
            <a:r>
              <a:rPr lang="ru-RU" sz="1800" dirty="0" smtClean="0">
                <a:solidFill>
                  <a:srgbClr val="76767C"/>
                </a:solidFill>
              </a:rPr>
              <a:t>), попавших в соответствующее множество, и меру Лебега в пространстве признаков </a:t>
            </a:r>
            <a:r>
              <a:rPr lang="ru-RU" sz="1800" dirty="0">
                <a:solidFill>
                  <a:srgbClr val="76767C"/>
                </a:solidFill>
              </a:rPr>
              <a:t>V(η)</a:t>
            </a:r>
            <a:r>
              <a:rPr lang="ru-RU" sz="1800" dirty="0" smtClean="0">
                <a:solidFill>
                  <a:srgbClr val="76767C"/>
                </a:solidFill>
              </a:rPr>
              <a:t> (объем):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en-TT" sz="1800" dirty="0" smtClean="0">
                <a:solidFill>
                  <a:srgbClr val="76767C"/>
                </a:solidFill>
              </a:rPr>
              <a:t>MV-</a:t>
            </a:r>
            <a:r>
              <a:rPr lang="ru-RU" sz="1800" dirty="0" smtClean="0">
                <a:solidFill>
                  <a:srgbClr val="76767C"/>
                </a:solidFill>
              </a:rPr>
              <a:t>кривая строит зависимость: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>
                <a:solidFill>
                  <a:srgbClr val="76767C"/>
                </a:solidFill>
              </a:rPr>
              <a:t>То есть: какой </a:t>
            </a:r>
            <a:r>
              <a:rPr lang="ru-RU" sz="1800" dirty="0" smtClean="0">
                <a:solidFill>
                  <a:srgbClr val="76767C"/>
                </a:solidFill>
              </a:rPr>
              <a:t>минимальный </a:t>
            </a:r>
            <a:r>
              <a:rPr lang="ru-RU" sz="1800" dirty="0">
                <a:solidFill>
                  <a:srgbClr val="76767C"/>
                </a:solidFill>
              </a:rPr>
              <a:t>объём нужен, чтобы накрыть хотя бы долю α</a:t>
            </a:r>
            <a:r>
              <a:rPr lang="ru-RU" sz="1800" dirty="0" smtClean="0">
                <a:solidFill>
                  <a:srgbClr val="76767C"/>
                </a:solidFill>
              </a:rPr>
              <a:t> </a:t>
            </a:r>
            <a:r>
              <a:rPr lang="ru-RU" sz="1800" dirty="0">
                <a:solidFill>
                  <a:srgbClr val="76767C"/>
                </a:solidFill>
              </a:rPr>
              <a:t>данных?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41A1961C-0B5C-970C-47BB-8AAC3561B6D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4172" y="1444794"/>
            <a:ext cx="1640932" cy="19574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88F2B5FC-9B84-ED93-5727-CEF45BB39E6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895" y="2546036"/>
            <a:ext cx="1626209" cy="24259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B506D2C8-AAC6-BB99-7906-E8B1B22E7A1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581" y="3422532"/>
            <a:ext cx="3919238" cy="20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1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888225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>
              <a:spcBef>
                <a:spcPts val="0"/>
              </a:spcBef>
            </a:pPr>
            <a:r>
              <a:rPr lang="ru-RU" dirty="0" smtClean="0">
                <a:solidFill>
                  <a:srgbClr val="9F2D20"/>
                </a:solidFill>
              </a:rPr>
              <a:t>Кривая «массы-объёма» (</a:t>
            </a:r>
            <a:r>
              <a:rPr lang="en-US" dirty="0" smtClean="0">
                <a:solidFill>
                  <a:srgbClr val="9F2D20"/>
                </a:solidFill>
              </a:rPr>
              <a:t>MV</a:t>
            </a:r>
            <a:r>
              <a:rPr lang="ru-RU" dirty="0" smtClean="0">
                <a:solidFill>
                  <a:srgbClr val="9F2D20"/>
                </a:solidFill>
              </a:rPr>
              <a:t>)</a:t>
            </a:r>
            <a:r>
              <a:rPr lang="ru-RU" sz="4000" dirty="0"/>
              <a:t/>
            </a:r>
            <a:br>
              <a:rPr lang="ru-RU" sz="4000" dirty="0"/>
            </a:b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0" y="954088"/>
            <a:ext cx="8704597" cy="3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Оценка качества: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Чем она </a:t>
            </a:r>
            <a:r>
              <a:rPr lang="ru-RU" sz="1800" dirty="0">
                <a:solidFill>
                  <a:srgbClr val="76767C"/>
                </a:solidFill>
              </a:rPr>
              <a:t>меньше </a:t>
            </a:r>
            <a:r>
              <a:rPr lang="ru-RU" sz="1800" dirty="0" smtClean="0">
                <a:solidFill>
                  <a:srgbClr val="76767C"/>
                </a:solidFill>
              </a:rPr>
              <a:t>​- тем лучше </a:t>
            </a:r>
            <a:r>
              <a:rPr lang="ru-RU" sz="1800" dirty="0">
                <a:solidFill>
                  <a:srgbClr val="76767C"/>
                </a:solidFill>
              </a:rPr>
              <a:t>детектор. </a:t>
            </a:r>
            <a:r>
              <a:rPr lang="ru-RU" sz="1800" dirty="0" smtClean="0">
                <a:solidFill>
                  <a:srgbClr val="76767C"/>
                </a:solidFill>
              </a:rPr>
              <a:t>В идеале </a:t>
            </a:r>
            <a:r>
              <a:rPr lang="ru-RU" sz="1800" dirty="0">
                <a:solidFill>
                  <a:srgbClr val="76767C"/>
                </a:solidFill>
              </a:rPr>
              <a:t>детектор при </a:t>
            </a:r>
            <a:r>
              <a:rPr lang="ru-RU" sz="1800" dirty="0" smtClean="0">
                <a:solidFill>
                  <a:srgbClr val="76767C"/>
                </a:solidFill>
              </a:rPr>
              <a:t>малых α </a:t>
            </a:r>
            <a:r>
              <a:rPr lang="ru-RU" sz="1800" dirty="0">
                <a:solidFill>
                  <a:srgbClr val="76767C"/>
                </a:solidFill>
              </a:rPr>
              <a:t>(редкие аномалии) накрывает их ничтожно малым </a:t>
            </a:r>
            <a:r>
              <a:rPr lang="ru-RU" sz="1800" dirty="0" smtClean="0">
                <a:solidFill>
                  <a:srgbClr val="76767C"/>
                </a:solidFill>
              </a:rPr>
              <a:t>объёмом, сама же MV-кривая в данном случае </a:t>
            </a:r>
            <a:r>
              <a:rPr lang="ru-RU" sz="1800" dirty="0">
                <a:solidFill>
                  <a:srgbClr val="76767C"/>
                </a:solidFill>
              </a:rPr>
              <a:t>выглядит </a:t>
            </a:r>
            <a:r>
              <a:rPr lang="ru-RU" sz="1800" dirty="0" smtClean="0">
                <a:solidFill>
                  <a:srgbClr val="76767C"/>
                </a:solidFill>
              </a:rPr>
              <a:t>выпуклой вверх </a:t>
            </a:r>
            <a:r>
              <a:rPr lang="ru-RU" sz="1800" dirty="0">
                <a:solidFill>
                  <a:srgbClr val="76767C"/>
                </a:solidFill>
              </a:rPr>
              <a:t>и </a:t>
            </a:r>
            <a:r>
              <a:rPr lang="ru-RU" sz="1800" dirty="0" smtClean="0">
                <a:solidFill>
                  <a:srgbClr val="76767C"/>
                </a:solidFill>
              </a:rPr>
              <a:t>стремится </a:t>
            </a:r>
            <a:r>
              <a:rPr lang="ru-RU" sz="1800" dirty="0">
                <a:solidFill>
                  <a:srgbClr val="76767C"/>
                </a:solidFill>
              </a:rPr>
              <a:t>к </a:t>
            </a:r>
            <a:r>
              <a:rPr lang="ru-RU" sz="1800" dirty="0" smtClean="0">
                <a:solidFill>
                  <a:srgbClr val="76767C"/>
                </a:solidFill>
              </a:rPr>
              <a:t>нулю. 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60DC3541-8318-E5D1-A912-83A0C273EBF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011" y="1405021"/>
            <a:ext cx="2136274" cy="45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20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888225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>
              <a:spcBef>
                <a:spcPts val="0"/>
              </a:spcBef>
            </a:pPr>
            <a:r>
              <a:rPr lang="ru-RU" dirty="0">
                <a:solidFill>
                  <a:srgbClr val="9F2D20"/>
                </a:solidFill>
              </a:rPr>
              <a:t>Кривая избытка массы (</a:t>
            </a:r>
            <a:r>
              <a:rPr lang="en-TT" dirty="0" smtClean="0">
                <a:solidFill>
                  <a:srgbClr val="9F2D20"/>
                </a:solidFill>
              </a:rPr>
              <a:t>EM</a:t>
            </a:r>
            <a:r>
              <a:rPr lang="ru-RU" dirty="0" smtClean="0">
                <a:solidFill>
                  <a:srgbClr val="9F2D20"/>
                </a:solidFill>
              </a:rPr>
              <a:t>)</a:t>
            </a:r>
            <a:r>
              <a:rPr lang="ru-RU" sz="4000" dirty="0"/>
              <a:t/>
            </a:r>
            <a:br>
              <a:rPr lang="ru-RU" sz="4000" dirty="0"/>
            </a:b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0" y="954088"/>
            <a:ext cx="8704597" cy="3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Если в </a:t>
            </a:r>
            <a:r>
              <a:rPr lang="en-US" sz="1800" dirty="0" smtClean="0">
                <a:solidFill>
                  <a:srgbClr val="76767C"/>
                </a:solidFill>
              </a:rPr>
              <a:t>MV-</a:t>
            </a:r>
            <a:r>
              <a:rPr lang="ru-RU" sz="1800" dirty="0" smtClean="0">
                <a:solidFill>
                  <a:srgbClr val="76767C"/>
                </a:solidFill>
              </a:rPr>
              <a:t>подходе необходимо при фиксированном охвате минимизировать объем, то в </a:t>
            </a:r>
            <a:r>
              <a:rPr lang="en-US" sz="1800" dirty="0" smtClean="0">
                <a:solidFill>
                  <a:srgbClr val="76767C"/>
                </a:solidFill>
              </a:rPr>
              <a:t>EM-</a:t>
            </a:r>
            <a:r>
              <a:rPr lang="ru-RU" sz="1800" dirty="0" smtClean="0">
                <a:solidFill>
                  <a:srgbClr val="76767C"/>
                </a:solidFill>
              </a:rPr>
              <a:t>подходе ставится обратная задача: </a:t>
            </a:r>
            <a:r>
              <a:rPr lang="ru-RU" sz="1800" dirty="0">
                <a:solidFill>
                  <a:srgbClr val="76767C"/>
                </a:solidFill>
              </a:rPr>
              <a:t>максимизировать охват при </a:t>
            </a:r>
            <a:r>
              <a:rPr lang="ru-RU" sz="1800" dirty="0" smtClean="0">
                <a:solidFill>
                  <a:srgbClr val="76767C"/>
                </a:solidFill>
              </a:rPr>
              <a:t>штрафе </a:t>
            </a:r>
            <a:r>
              <a:rPr lang="ru-RU" sz="1800" dirty="0">
                <a:solidFill>
                  <a:srgbClr val="76767C"/>
                </a:solidFill>
              </a:rPr>
              <a:t>λ≥0</a:t>
            </a:r>
            <a:r>
              <a:rPr lang="ru-RU" sz="1800" dirty="0" smtClean="0">
                <a:solidFill>
                  <a:srgbClr val="76767C"/>
                </a:solidFill>
              </a:rPr>
              <a:t> </a:t>
            </a:r>
            <a:r>
              <a:rPr lang="ru-RU" sz="1800" dirty="0">
                <a:solidFill>
                  <a:srgbClr val="76767C"/>
                </a:solidFill>
              </a:rPr>
              <a:t>на </a:t>
            </a:r>
            <a:r>
              <a:rPr lang="ru-RU" sz="1800" dirty="0" smtClean="0">
                <a:solidFill>
                  <a:srgbClr val="76767C"/>
                </a:solidFill>
              </a:rPr>
              <a:t>объём: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>
                <a:solidFill>
                  <a:srgbClr val="76767C"/>
                </a:solidFill>
              </a:rPr>
              <a:t>Вычисляем для каждого η</a:t>
            </a:r>
            <a:r>
              <a:rPr lang="ru-RU" sz="1800" dirty="0" smtClean="0">
                <a:solidFill>
                  <a:srgbClr val="76767C"/>
                </a:solidFill>
              </a:rPr>
              <a:t>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Берём из этого максимум:</a:t>
            </a: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>
                <a:solidFill>
                  <a:srgbClr val="76767C"/>
                </a:solidFill>
              </a:rPr>
              <a:t>Таким образом, EM-кривая строит </a:t>
            </a:r>
            <a:r>
              <a:rPr lang="ru-RU" sz="1800" dirty="0" smtClean="0">
                <a:solidFill>
                  <a:srgbClr val="76767C"/>
                </a:solidFill>
              </a:rPr>
              <a:t>зависимость:</a:t>
            </a:r>
            <a:endParaRPr lang="ru-RU" sz="1800" dirty="0">
              <a:solidFill>
                <a:srgbClr val="76767C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A4A91D4F-8AE9-B473-352E-04E4A911266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493" y="1819673"/>
            <a:ext cx="3249013" cy="34749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A437A7DC-5790-434E-AB06-2844B0564D1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015" y="2492407"/>
            <a:ext cx="2116266" cy="20358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CA93753D-007D-9A81-E19E-08DB4164A50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424" y="3262176"/>
            <a:ext cx="1961447" cy="30476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D2902297-7A91-F740-6017-D4B95D78C36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424" y="4133126"/>
            <a:ext cx="1961447" cy="20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50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888225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>
              <a:spcBef>
                <a:spcPts val="0"/>
              </a:spcBef>
            </a:pPr>
            <a:r>
              <a:rPr lang="ru-RU" dirty="0">
                <a:solidFill>
                  <a:srgbClr val="9F2D20"/>
                </a:solidFill>
              </a:rPr>
              <a:t>Кривая избытка массы (</a:t>
            </a:r>
            <a:r>
              <a:rPr lang="en-TT" dirty="0" smtClean="0">
                <a:solidFill>
                  <a:srgbClr val="9F2D20"/>
                </a:solidFill>
              </a:rPr>
              <a:t>EM</a:t>
            </a:r>
            <a:r>
              <a:rPr lang="ru-RU" dirty="0" smtClean="0">
                <a:solidFill>
                  <a:srgbClr val="9F2D20"/>
                </a:solidFill>
              </a:rPr>
              <a:t>)</a:t>
            </a:r>
            <a:r>
              <a:rPr lang="ru-RU" sz="4000" dirty="0"/>
              <a:t/>
            </a:r>
            <a:br>
              <a:rPr lang="ru-RU" sz="4000" dirty="0"/>
            </a:b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0" y="954088"/>
            <a:ext cx="8704597" cy="3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Оценка качества: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Чем она больше – тем лучше детектор.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При </a:t>
            </a:r>
            <a:r>
              <a:rPr lang="el-GR" sz="1800" dirty="0" smtClean="0">
                <a:solidFill>
                  <a:srgbClr val="76767C"/>
                </a:solidFill>
              </a:rPr>
              <a:t>λ</a:t>
            </a:r>
            <a:r>
              <a:rPr lang="en-US" sz="1800" dirty="0" smtClean="0">
                <a:solidFill>
                  <a:srgbClr val="76767C"/>
                </a:solidFill>
              </a:rPr>
              <a:t> </a:t>
            </a:r>
            <a:r>
              <a:rPr lang="el-GR" sz="1800" dirty="0" smtClean="0">
                <a:solidFill>
                  <a:srgbClr val="76767C"/>
                </a:solidFill>
              </a:rPr>
              <a:t>→</a:t>
            </a:r>
            <a:r>
              <a:rPr lang="en-US" sz="1800" dirty="0" smtClean="0">
                <a:solidFill>
                  <a:srgbClr val="76767C"/>
                </a:solidFill>
              </a:rPr>
              <a:t> </a:t>
            </a:r>
            <a:r>
              <a:rPr lang="el-GR" sz="1800" dirty="0" smtClean="0">
                <a:solidFill>
                  <a:srgbClr val="76767C"/>
                </a:solidFill>
              </a:rPr>
              <a:t>0</a:t>
            </a:r>
            <a:r>
              <a:rPr lang="ru-RU" sz="1800" dirty="0" smtClean="0">
                <a:solidFill>
                  <a:srgbClr val="76767C"/>
                </a:solidFill>
              </a:rPr>
              <a:t> объём </a:t>
            </a:r>
            <a:r>
              <a:rPr lang="ru-RU" sz="1800" dirty="0">
                <a:solidFill>
                  <a:srgbClr val="76767C"/>
                </a:solidFill>
              </a:rPr>
              <a:t>не штрафуется, </a:t>
            </a:r>
            <a:r>
              <a:rPr lang="en-US" sz="1800" dirty="0" smtClean="0">
                <a:solidFill>
                  <a:srgbClr val="76767C"/>
                </a:solidFill>
              </a:rPr>
              <a:t>S </a:t>
            </a:r>
            <a:r>
              <a:rPr lang="el-GR" sz="1800" dirty="0">
                <a:solidFill>
                  <a:srgbClr val="76767C"/>
                </a:solidFill>
              </a:rPr>
              <a:t>→</a:t>
            </a:r>
            <a:r>
              <a:rPr lang="en-US" sz="1800" dirty="0" smtClean="0">
                <a:solidFill>
                  <a:srgbClr val="76767C"/>
                </a:solidFill>
              </a:rPr>
              <a:t> X,</a:t>
            </a:r>
            <a:r>
              <a:rPr lang="ru-RU" sz="1800" dirty="0" smtClean="0">
                <a:solidFill>
                  <a:srgbClr val="76767C"/>
                </a:solidFill>
              </a:rPr>
              <a:t> </a:t>
            </a:r>
            <a:r>
              <a:rPr lang="en-US" sz="1800" dirty="0" smtClean="0">
                <a:solidFill>
                  <a:srgbClr val="76767C"/>
                </a:solidFill>
              </a:rPr>
              <a:t>EM</a:t>
            </a:r>
            <a:r>
              <a:rPr lang="el-GR" sz="1800" dirty="0">
                <a:solidFill>
                  <a:srgbClr val="76767C"/>
                </a:solidFill>
              </a:rPr>
              <a:t> →</a:t>
            </a:r>
            <a:r>
              <a:rPr lang="ru-RU" sz="1800" dirty="0" smtClean="0">
                <a:solidFill>
                  <a:srgbClr val="76767C"/>
                </a:solidFill>
              </a:rPr>
              <a:t> 1.</a:t>
            </a:r>
            <a:endParaRPr lang="en-US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>
                <a:solidFill>
                  <a:srgbClr val="76767C"/>
                </a:solidFill>
              </a:rPr>
              <a:t>При </a:t>
            </a:r>
            <a:r>
              <a:rPr lang="el-GR" sz="1800" dirty="0" smtClean="0">
                <a:solidFill>
                  <a:srgbClr val="76767C"/>
                </a:solidFill>
              </a:rPr>
              <a:t>λ</a:t>
            </a:r>
            <a:r>
              <a:rPr lang="en-US" sz="1800" dirty="0" smtClean="0">
                <a:solidFill>
                  <a:srgbClr val="76767C"/>
                </a:solidFill>
              </a:rPr>
              <a:t> </a:t>
            </a:r>
            <a:r>
              <a:rPr lang="el-GR" sz="1800" dirty="0" smtClean="0">
                <a:solidFill>
                  <a:srgbClr val="76767C"/>
                </a:solidFill>
              </a:rPr>
              <a:t>→</a:t>
            </a:r>
            <a:r>
              <a:rPr lang="en-US" sz="1800" dirty="0" smtClean="0">
                <a:solidFill>
                  <a:srgbClr val="76767C"/>
                </a:solidFill>
              </a:rPr>
              <a:t> </a:t>
            </a:r>
            <a:r>
              <a:rPr lang="el-GR" sz="1800" dirty="0" smtClean="0">
                <a:solidFill>
                  <a:srgbClr val="76767C"/>
                </a:solidFill>
              </a:rPr>
              <a:t>∞</a:t>
            </a:r>
            <a:r>
              <a:rPr lang="en-US" sz="1800" dirty="0" smtClean="0">
                <a:solidFill>
                  <a:srgbClr val="76767C"/>
                </a:solidFill>
              </a:rPr>
              <a:t> </a:t>
            </a:r>
            <a:r>
              <a:rPr lang="ru-RU" sz="1800" dirty="0" smtClean="0">
                <a:solidFill>
                  <a:srgbClr val="76767C"/>
                </a:solidFill>
              </a:rPr>
              <a:t>на объём накладывается бесконечно большой </a:t>
            </a:r>
            <a:r>
              <a:rPr lang="ru-RU" sz="1800" dirty="0" smtClean="0">
                <a:solidFill>
                  <a:srgbClr val="76767C"/>
                </a:solidFill>
              </a:rPr>
              <a:t>штраф, </a:t>
            </a:r>
            <a:r>
              <a:rPr lang="en-US" sz="1800" dirty="0" smtClean="0">
                <a:solidFill>
                  <a:srgbClr val="76767C"/>
                </a:solidFill>
              </a:rPr>
              <a:t>S</a:t>
            </a:r>
            <a:r>
              <a:rPr lang="el-GR" sz="1800" dirty="0">
                <a:solidFill>
                  <a:srgbClr val="76767C"/>
                </a:solidFill>
              </a:rPr>
              <a:t> → </a:t>
            </a:r>
            <a:r>
              <a:rPr lang="en-US" sz="1800" dirty="0" smtClean="0">
                <a:solidFill>
                  <a:srgbClr val="76767C"/>
                </a:solidFill>
              </a:rPr>
              <a:t>∅, EM</a:t>
            </a:r>
            <a:r>
              <a:rPr lang="ru-RU" sz="1800" dirty="0" smtClean="0">
                <a:solidFill>
                  <a:srgbClr val="76767C"/>
                </a:solidFill>
              </a:rPr>
              <a:t> </a:t>
            </a:r>
            <a:r>
              <a:rPr lang="en-US" sz="1800" dirty="0" smtClean="0">
                <a:solidFill>
                  <a:srgbClr val="76767C"/>
                </a:solidFill>
              </a:rPr>
              <a:t>→</a:t>
            </a:r>
            <a:r>
              <a:rPr lang="ru-RU" sz="1800" dirty="0" smtClean="0">
                <a:solidFill>
                  <a:srgbClr val="76767C"/>
                </a:solidFill>
              </a:rPr>
              <a:t> 0.</a:t>
            </a:r>
            <a:endParaRPr lang="ru-RU" sz="1800" dirty="0">
              <a:solidFill>
                <a:srgbClr val="76767C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D0340A52-A520-D49E-C5DF-48DDE48CE1C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546" y="1400268"/>
            <a:ext cx="2576908" cy="49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07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 idx="4294967295"/>
          </p:nvPr>
        </p:nvSpPr>
        <p:spPr>
          <a:xfrm>
            <a:off x="292607" y="67056"/>
            <a:ext cx="7888225" cy="887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>
              <a:spcBef>
                <a:spcPts val="0"/>
              </a:spcBef>
            </a:pPr>
            <a:r>
              <a:rPr lang="ru-RU" dirty="0">
                <a:solidFill>
                  <a:srgbClr val="9F2D20"/>
                </a:solidFill>
              </a:rPr>
              <a:t>Метрики оценки правил</a:t>
            </a:r>
            <a:r>
              <a:rPr lang="ru-RU" dirty="0"/>
              <a:t/>
            </a:r>
            <a:br>
              <a:rPr lang="ru-RU" dirty="0"/>
            </a:br>
            <a:r>
              <a:rPr lang="ru-RU" sz="4000" dirty="0"/>
              <a:t/>
            </a:r>
            <a:br>
              <a:rPr lang="ru-RU" sz="4000" dirty="0"/>
            </a:br>
            <a:endParaRPr sz="4000" dirty="0">
              <a:solidFill>
                <a:srgbClr val="9F2D20"/>
              </a:solidFill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0" y="954088"/>
            <a:ext cx="8704597" cy="3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>
                <a:solidFill>
                  <a:srgbClr val="76767C"/>
                </a:solidFill>
              </a:rPr>
              <a:t>Базовые </a:t>
            </a:r>
            <a:r>
              <a:rPr lang="ru-RU" sz="1800" dirty="0" smtClean="0">
                <a:solidFill>
                  <a:srgbClr val="76767C"/>
                </a:solidFill>
              </a:rPr>
              <a:t>метрики: поддержка</a:t>
            </a:r>
            <a:r>
              <a:rPr lang="en-US" sz="1800" dirty="0" smtClean="0">
                <a:solidFill>
                  <a:srgbClr val="76767C"/>
                </a:solidFill>
              </a:rPr>
              <a:t> (</a:t>
            </a:r>
            <a:r>
              <a:rPr lang="ru-RU" sz="1800" dirty="0">
                <a:solidFill>
                  <a:srgbClr val="76767C"/>
                </a:solidFill>
              </a:rPr>
              <a:t>насколько часто набор объектов обнаруживается в базе данных</a:t>
            </a:r>
            <a:r>
              <a:rPr lang="en-US" sz="1800" dirty="0" smtClean="0">
                <a:solidFill>
                  <a:srgbClr val="76767C"/>
                </a:solidFill>
              </a:rPr>
              <a:t>)</a:t>
            </a:r>
            <a:r>
              <a:rPr lang="ru-RU" sz="1800" dirty="0" smtClean="0">
                <a:solidFill>
                  <a:srgbClr val="76767C"/>
                </a:solidFill>
              </a:rPr>
              <a:t>, достоверность</a:t>
            </a:r>
            <a:r>
              <a:rPr lang="en-US" sz="1800" dirty="0" smtClean="0">
                <a:solidFill>
                  <a:srgbClr val="76767C"/>
                </a:solidFill>
              </a:rPr>
              <a:t> (</a:t>
            </a:r>
            <a:r>
              <a:rPr lang="ru-RU" sz="1800" dirty="0">
                <a:solidFill>
                  <a:srgbClr val="76767C"/>
                </a:solidFill>
              </a:rPr>
              <a:t>насколько часто правило оказывается верным</a:t>
            </a:r>
            <a:r>
              <a:rPr lang="en-US" sz="1800" dirty="0" smtClean="0">
                <a:solidFill>
                  <a:srgbClr val="76767C"/>
                </a:solidFill>
              </a:rPr>
              <a:t>)</a:t>
            </a:r>
            <a:r>
              <a:rPr lang="ru-RU" sz="1800" dirty="0">
                <a:solidFill>
                  <a:srgbClr val="76767C"/>
                </a:solidFill>
              </a:rPr>
              <a:t>:</a:t>
            </a: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en-US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 smtClean="0">
                <a:solidFill>
                  <a:srgbClr val="76767C"/>
                </a:solidFill>
              </a:rPr>
              <a:t>Корреляционные: </a:t>
            </a:r>
            <a:r>
              <a:rPr lang="en-TT" sz="1800" dirty="0" smtClean="0">
                <a:solidFill>
                  <a:srgbClr val="76767C"/>
                </a:solidFill>
              </a:rPr>
              <a:t>lift</a:t>
            </a:r>
            <a:r>
              <a:rPr lang="ru-RU" sz="1800" dirty="0">
                <a:solidFill>
                  <a:srgbClr val="76767C"/>
                </a:solidFill>
              </a:rPr>
              <a:t> </a:t>
            </a:r>
            <a:r>
              <a:rPr lang="ru-RU" sz="1800" dirty="0" smtClean="0">
                <a:solidFill>
                  <a:srgbClr val="76767C"/>
                </a:solidFill>
              </a:rPr>
              <a:t>(насколько появление A </a:t>
            </a:r>
            <a:r>
              <a:rPr lang="ru-RU" sz="1800" dirty="0">
                <a:solidFill>
                  <a:srgbClr val="76767C"/>
                </a:solidFill>
              </a:rPr>
              <a:t>меняет </a:t>
            </a:r>
            <a:r>
              <a:rPr lang="ru-RU" sz="1800" dirty="0" smtClean="0">
                <a:solidFill>
                  <a:srgbClr val="76767C"/>
                </a:solidFill>
              </a:rPr>
              <a:t>вероятность B </a:t>
            </a:r>
            <a:r>
              <a:rPr lang="ru-RU" sz="1800" dirty="0">
                <a:solidFill>
                  <a:srgbClr val="76767C"/>
                </a:solidFill>
              </a:rPr>
              <a:t>по сравнению со </a:t>
            </a:r>
            <a:r>
              <a:rPr lang="ru-RU" sz="1800" dirty="0" smtClean="0">
                <a:solidFill>
                  <a:srgbClr val="76767C"/>
                </a:solidFill>
              </a:rPr>
              <a:t>случайным),</a:t>
            </a:r>
            <a:r>
              <a:rPr lang="en-TT" sz="1800" dirty="0" smtClean="0">
                <a:solidFill>
                  <a:srgbClr val="76767C"/>
                </a:solidFill>
              </a:rPr>
              <a:t> conviction</a:t>
            </a:r>
            <a:r>
              <a:rPr lang="ru-RU" sz="1800" dirty="0">
                <a:solidFill>
                  <a:srgbClr val="76767C"/>
                </a:solidFill>
              </a:rPr>
              <a:t> </a:t>
            </a:r>
            <a:r>
              <a:rPr lang="ru-RU" sz="1800" dirty="0" smtClean="0">
                <a:solidFill>
                  <a:srgbClr val="76767C"/>
                </a:solidFill>
              </a:rPr>
              <a:t>(мера </a:t>
            </a:r>
            <a:r>
              <a:rPr lang="ru-RU" sz="1800" dirty="0">
                <a:solidFill>
                  <a:srgbClr val="76767C"/>
                </a:solidFill>
              </a:rPr>
              <a:t>того, </a:t>
            </a:r>
            <a:r>
              <a:rPr lang="ru-RU" sz="1800" dirty="0" smtClean="0">
                <a:solidFill>
                  <a:srgbClr val="76767C"/>
                </a:solidFill>
              </a:rPr>
              <a:t>насколько</a:t>
            </a:r>
            <a:r>
              <a:rPr lang="en-US" sz="1800" dirty="0" smtClean="0">
                <a:solidFill>
                  <a:srgbClr val="76767C"/>
                </a:solidFill>
              </a:rPr>
              <a:t> </a:t>
            </a:r>
            <a:r>
              <a:rPr lang="ru-RU" sz="1800" dirty="0" smtClean="0">
                <a:solidFill>
                  <a:srgbClr val="76767C"/>
                </a:solidFill>
              </a:rPr>
              <a:t>часто </a:t>
            </a:r>
            <a:r>
              <a:rPr lang="ru-RU" sz="1800" dirty="0">
                <a:solidFill>
                  <a:srgbClr val="76767C"/>
                </a:solidFill>
              </a:rPr>
              <a:t>правило «нарушается</a:t>
            </a:r>
            <a:r>
              <a:rPr lang="ru-RU" sz="1800" dirty="0" smtClean="0">
                <a:solidFill>
                  <a:srgbClr val="76767C"/>
                </a:solidFill>
              </a:rPr>
              <a:t>»):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 smtClean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en-US" sz="1800" dirty="0" smtClean="0">
                <a:solidFill>
                  <a:srgbClr val="76767C"/>
                </a:solidFill>
              </a:rPr>
              <a:t>Lift = 1 =&gt; A </a:t>
            </a:r>
            <a:r>
              <a:rPr lang="ru-RU" sz="1800" dirty="0" smtClean="0">
                <a:solidFill>
                  <a:srgbClr val="76767C"/>
                </a:solidFill>
              </a:rPr>
              <a:t>и </a:t>
            </a:r>
            <a:r>
              <a:rPr lang="en-US" sz="1800" dirty="0" smtClean="0">
                <a:solidFill>
                  <a:srgbClr val="76767C"/>
                </a:solidFill>
              </a:rPr>
              <a:t>B </a:t>
            </a:r>
            <a:r>
              <a:rPr lang="ru-RU" sz="1800" dirty="0" smtClean="0">
                <a:solidFill>
                  <a:srgbClr val="76767C"/>
                </a:solidFill>
              </a:rPr>
              <a:t>независимы, </a:t>
            </a:r>
            <a:r>
              <a:rPr lang="en-US" sz="1800" dirty="0" smtClean="0">
                <a:solidFill>
                  <a:srgbClr val="76767C"/>
                </a:solidFill>
              </a:rPr>
              <a:t>&gt; 1 – </a:t>
            </a:r>
            <a:r>
              <a:rPr lang="ru-RU" sz="1800" dirty="0" smtClean="0">
                <a:solidFill>
                  <a:srgbClr val="76767C"/>
                </a:solidFill>
              </a:rPr>
              <a:t>зависимость положительна, </a:t>
            </a:r>
            <a:r>
              <a:rPr lang="en-US" sz="1800" dirty="0" smtClean="0">
                <a:solidFill>
                  <a:srgbClr val="76767C"/>
                </a:solidFill>
              </a:rPr>
              <a:t>&lt; 1 – </a:t>
            </a:r>
            <a:r>
              <a:rPr lang="ru-RU" sz="1800" dirty="0" smtClean="0">
                <a:solidFill>
                  <a:srgbClr val="76767C"/>
                </a:solidFill>
              </a:rPr>
              <a:t>отрицательна.</a:t>
            </a:r>
          </a:p>
          <a:p>
            <a:pPr marL="146050" indent="0">
              <a:spcBef>
                <a:spcPts val="0"/>
              </a:spcBef>
              <a:buSzPts val="1300"/>
              <a:buNone/>
            </a:pPr>
            <a:r>
              <a:rPr lang="ru-RU" sz="1800" dirty="0">
                <a:solidFill>
                  <a:srgbClr val="76767C"/>
                </a:solidFill>
              </a:rPr>
              <a:t>С</a:t>
            </a:r>
            <a:r>
              <a:rPr lang="en-TT" sz="1800" dirty="0" err="1" smtClean="0">
                <a:solidFill>
                  <a:srgbClr val="76767C"/>
                </a:solidFill>
              </a:rPr>
              <a:t>onv</a:t>
            </a:r>
            <a:r>
              <a:rPr lang="ru-RU" sz="1800" dirty="0" smtClean="0">
                <a:solidFill>
                  <a:srgbClr val="76767C"/>
                </a:solidFill>
              </a:rPr>
              <a:t> = 1 </a:t>
            </a:r>
            <a:r>
              <a:rPr lang="en-US" sz="1800" dirty="0" smtClean="0">
                <a:solidFill>
                  <a:srgbClr val="76767C"/>
                </a:solidFill>
              </a:rPr>
              <a:t>=&gt;</a:t>
            </a:r>
            <a:r>
              <a:rPr lang="ru-RU" sz="1800" dirty="0" smtClean="0">
                <a:solidFill>
                  <a:srgbClr val="76767C"/>
                </a:solidFill>
              </a:rPr>
              <a:t> </a:t>
            </a:r>
            <a:r>
              <a:rPr lang="en-US" sz="1800" dirty="0">
                <a:solidFill>
                  <a:srgbClr val="76767C"/>
                </a:solidFill>
              </a:rPr>
              <a:t>A </a:t>
            </a:r>
            <a:r>
              <a:rPr lang="ru-RU" sz="1800" dirty="0">
                <a:solidFill>
                  <a:srgbClr val="76767C"/>
                </a:solidFill>
              </a:rPr>
              <a:t>и </a:t>
            </a:r>
            <a:r>
              <a:rPr lang="en-US" sz="1800" dirty="0">
                <a:solidFill>
                  <a:srgbClr val="76767C"/>
                </a:solidFill>
              </a:rPr>
              <a:t>B </a:t>
            </a:r>
            <a:r>
              <a:rPr lang="ru-RU" sz="1800" dirty="0">
                <a:solidFill>
                  <a:srgbClr val="76767C"/>
                </a:solidFill>
              </a:rPr>
              <a:t>независимы</a:t>
            </a:r>
            <a:r>
              <a:rPr lang="ru-RU" sz="1800" dirty="0" smtClean="0">
                <a:solidFill>
                  <a:srgbClr val="76767C"/>
                </a:solidFill>
              </a:rPr>
              <a:t>, </a:t>
            </a:r>
            <a:r>
              <a:rPr lang="en-TT" sz="1800" dirty="0">
                <a:solidFill>
                  <a:srgbClr val="76767C"/>
                </a:solidFill>
              </a:rPr>
              <a:t>&gt; 1 </a:t>
            </a:r>
            <a:r>
              <a:rPr lang="en-TT" sz="1800" dirty="0" smtClean="0">
                <a:solidFill>
                  <a:srgbClr val="76767C"/>
                </a:solidFill>
              </a:rPr>
              <a:t>–</a:t>
            </a:r>
            <a:r>
              <a:rPr lang="ru-RU" sz="1800" dirty="0" smtClean="0">
                <a:solidFill>
                  <a:srgbClr val="76767C"/>
                </a:solidFill>
              </a:rPr>
              <a:t> </a:t>
            </a:r>
            <a:r>
              <a:rPr lang="ru-RU" sz="1800" dirty="0">
                <a:solidFill>
                  <a:srgbClr val="76767C"/>
                </a:solidFill>
              </a:rPr>
              <a:t>зависимость</a:t>
            </a:r>
            <a:r>
              <a:rPr lang="en-TT" sz="1800" dirty="0" smtClean="0">
                <a:solidFill>
                  <a:srgbClr val="76767C"/>
                </a:solidFill>
              </a:rPr>
              <a:t> </a:t>
            </a:r>
            <a:r>
              <a:rPr lang="ru-RU" sz="1800" dirty="0">
                <a:solidFill>
                  <a:srgbClr val="76767C"/>
                </a:solidFill>
              </a:rPr>
              <a:t>положительная, </a:t>
            </a:r>
            <a:r>
              <a:rPr lang="en-TT" sz="1800" dirty="0">
                <a:solidFill>
                  <a:srgbClr val="76767C"/>
                </a:solidFill>
              </a:rPr>
              <a:t>&lt; 1</a:t>
            </a:r>
            <a:r>
              <a:rPr lang="ru-RU" sz="1800" dirty="0">
                <a:solidFill>
                  <a:srgbClr val="76767C"/>
                </a:solidFill>
              </a:rPr>
              <a:t> </a:t>
            </a:r>
            <a:r>
              <a:rPr lang="en-US" sz="1800" dirty="0" smtClean="0">
                <a:solidFill>
                  <a:srgbClr val="76767C"/>
                </a:solidFill>
              </a:rPr>
              <a:t>–</a:t>
            </a:r>
            <a:r>
              <a:rPr lang="ru-RU" sz="1800" dirty="0" smtClean="0">
                <a:solidFill>
                  <a:srgbClr val="76767C"/>
                </a:solidFill>
              </a:rPr>
              <a:t> отрицательна.</a:t>
            </a:r>
            <a:endParaRPr lang="ru-RU" sz="1800" dirty="0">
              <a:solidFill>
                <a:srgbClr val="76767C"/>
              </a:solidFill>
            </a:endParaRPr>
          </a:p>
          <a:p>
            <a:pPr marL="146050" indent="0">
              <a:spcBef>
                <a:spcPts val="0"/>
              </a:spcBef>
              <a:buSzPts val="1300"/>
              <a:buNone/>
            </a:pPr>
            <a:endParaRPr lang="ru-RU" sz="1800" dirty="0">
              <a:solidFill>
                <a:srgbClr val="76767C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21041641-D89A-75A3-A947-9C998030D8E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189" y="1841821"/>
            <a:ext cx="1498436" cy="20888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B970E62F-BE80-3F48-715A-E43476E4068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799" y="1709601"/>
            <a:ext cx="3036232" cy="473319"/>
          </a:xfrm>
          <a:prstGeom prst="rect">
            <a:avLst/>
          </a:prstGeom>
        </p:spPr>
      </p:pic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438578"/>
              </p:ext>
            </p:extLst>
          </p:nvPr>
        </p:nvGraphicFramePr>
        <p:xfrm>
          <a:off x="1737360" y="3141001"/>
          <a:ext cx="1543004" cy="51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r:id="rId9" imgW="1653480" imgH="548640" progId="">
                  <p:embed/>
                </p:oleObj>
              </mc:Choice>
              <mc:Fallback>
                <p:oleObj r:id="rId9" imgW="1653480" imgH="54864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37360" y="3141001"/>
                        <a:ext cx="1543004" cy="512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0679AFD1-9851-3BB4-AB11-B85A81C85D1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874" y="3068210"/>
            <a:ext cx="2115086" cy="52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6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>
            <a:spLocks noGrp="1"/>
          </p:cNvSpPr>
          <p:nvPr>
            <p:ph type="body" idx="4294967295"/>
          </p:nvPr>
        </p:nvSpPr>
        <p:spPr>
          <a:xfrm>
            <a:off x="213850" y="737616"/>
            <a:ext cx="8704597" cy="370027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146050" indent="0" algn="ctr">
              <a:spcBef>
                <a:spcPts val="0"/>
              </a:spcBef>
              <a:buSzPts val="1300"/>
              <a:buNone/>
            </a:pPr>
            <a:r>
              <a:rPr lang="ru-RU" sz="4000" dirty="0" smtClean="0">
                <a:solidFill>
                  <a:srgbClr val="9F2D20"/>
                </a:solidFill>
              </a:rPr>
              <a:t>Спасибо за внимание</a:t>
            </a:r>
            <a:endParaRPr lang="ru-RU" sz="4000" dirty="0">
              <a:solidFill>
                <a:srgbClr val="9F2D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10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1.9572"/>
  <p:tag name="ORIGINALWIDTH" val=" 1886.014"/>
  <p:tag name="OUTPUTTYPE" val="PNG"/>
  <p:tag name="IGUANATEXVERSION" val="162"/>
  <p:tag name="LATEXADDIN" val="\documentclass{article}&#10;\usepackage{amsmath}&#10;\pagestyle{empty}&#10;\begin{document}&#10;&#10;   \[&#10;   a(x_i)=\frac{1}{|C_i|-1}\sum_{x_j\in C_i,\,j\neq i} d(x_i,x_j),&#10;   \]&#10;&#10;&#10;&#10;\end{document}"/>
  <p:tag name="IGUANATEXSIZE" val="16"/>
  <p:tag name="IGUANATEXCURSOR" val="16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1.2073"/>
  <p:tag name="ORIGINALWIDTH" val=" 1885.264"/>
  <p:tag name="OUTPUTTYPE" val="PNG"/>
  <p:tag name="IGUANATEXVERSION" val="162"/>
  <p:tag name="LATEXADDIN" val="\documentclass{article}&#10;\usepackage{amsmath}&#10;\pagestyle{empty}&#10;\begin{document}&#10;&#10;   \[&#10;   b_C(x_i)=\frac{1}{|C|}\sum_{x_j\in C} d(x_i,x_j), C\neq C_i&#10;   \]  &#10;&#10;&#10;\end{document}"/>
  <p:tag name="IGUANATEXSIZE" val="20"/>
  <p:tag name="IGUANATEXCURSOR" val="15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75.478"/>
  <p:tag name="ORIGINALWIDTH" val=" 986.1267"/>
  <p:tag name="OUTPUTTYPE" val="PNG"/>
  <p:tag name="IGUANATEXVERSION" val="162"/>
  <p:tag name="LATEXADDIN" val="\documentclass{article}&#10;\usepackage{amsmath}&#10;\pagestyle{empty}&#10;\begin{document}&#10;&#10;   \[&#10;   b(x_i)=\min_{C} b_C(x_i)\&#10;   \]&#10;&#10;&#10;\end{document}"/>
  <p:tag name="IGUANATEXSIZE" val="20"/>
  <p:tag name="IGUANATEXCURSOR" val="11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94.7131"/>
  <p:tag name="ORIGINALWIDTH" val=" 1949.756"/>
  <p:tag name="OUTPUTTYPE" val="PNG"/>
  <p:tag name="IGUANATEXVERSION" val="162"/>
  <p:tag name="LATEXADDIN" val="\documentclass{article}&#10;\usepackage{amsmath}&#10;\pagestyle{empty}&#10;\begin{document}&#10;&#10;   \[&#10;   s(x_i)=\frac{b(x_i)-a(x_i)}{\max\{a(x_i),\,b(x_i)\}}\in[-1,1].&#10;   \]&#10;&#10;\end{document}"/>
  <p:tag name="IGUANATEXSIZE" val="16"/>
  <p:tag name="IGUANATEXCURSOR" val="15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14.9606"/>
  <p:tag name="ORIGINALWIDTH" val=" 824.8969"/>
  <p:tag name="OUTPUTTYPE" val="PNG"/>
  <p:tag name="IGUANATEXVERSION" val="162"/>
  <p:tag name="LATEXADDIN" val="\documentclass{article}&#10;\usepackage{amsmath}&#10;\pagestyle{empty}&#10;\begin{document}&#10;&#10;   \[&#10;  S=\frac1n\sum_i s(x_i)&#10;   \]&#10;&#10;&#10;\end{document}"/>
  <p:tag name="IGUANATEXSIZE" val="16"/>
  <p:tag name="IGUANATEXCURSOR" val="11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96.7004"/>
  <p:tag name="ORIGINALWIDTH" val=" 915.6355"/>
  <p:tag name="OUTPUTTYPE" val="PNG"/>
  <p:tag name="IGUANATEXVERSION" val="162"/>
  <p:tag name="LATEXADDIN" val="\documentclass{article}&#10;\usepackage{amsmath}&#10;\pagestyle{empty}&#10;\begin{document}&#10;&#10;   \[&#10;\mu_i=\frac{1}{|C_i|}\sum_{j=1}^{|C_i|}x^{(j)}&#10;   \]&#10;&#10;&#10;\end{document}"/>
  <p:tag name="IGUANATEXSIZE" val="16"/>
  <p:tag name="IGUANATEXCURSOR" val="13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29.2088"/>
  <p:tag name="ORIGINALWIDTH" val=" 1175.103"/>
  <p:tag name="OUTPUTTYPE" val="PNG"/>
  <p:tag name="IGUANATEXVERSION" val="162"/>
  <p:tag name="LATEXADDIN" val="\documentclass{article}&#10;\usepackage{amsmath}&#10;\pagestyle{empty}&#10;\begin{document}&#10;&#10;   \[&#10;   S_i=\frac1{|C_i|}\sum_{x\in C_i} d(x,\mu_i)&#10;   \]&#10;&#10;&#10;\end{document}"/>
  <p:tag name="IGUANATEXSIZE" val="16"/>
  <p:tag name="IGUANATEXCURSOR" val="13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93.9632"/>
  <p:tag name="ORIGINALWIDTH" val=" 858.6427"/>
  <p:tag name="OUTPUTTYPE" val="PNG"/>
  <p:tag name="IGUANATEXVERSION" val="162"/>
  <p:tag name="LATEXADDIN" val="\documentclass{article}&#10;\usepackage{amsmath}&#10;\pagestyle{empty}&#10;\begin{document}&#10;   \[&#10;R_{ij}=\frac{S_i+S_j}{d(\mu_i,\mu_j)}.&#10;\]&#10;&#10;&#10;&#10;\end{document}"/>
  <p:tag name="IGUANATEXSIZE" val="16"/>
  <p:tag name="IGUANATEXCURSOR" val="12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4.4769"/>
  <p:tag name="ORIGINALWIDTH" val=" 717.6603"/>
  <p:tag name="OUTPUTTYPE" val="PNG"/>
  <p:tag name="IGUANATEXVERSION" val="162"/>
  <p:tag name="LATEXADDIN" val="\documentclass{article}&#10;\usepackage{amsmath}&#10;\pagestyle{empty}&#10;\begin{document}&#10;&#10;   \[&#10;R_i=\max_{j\ne i} R_{ij}\&#10;\]&#10;&#10;&#10;\end{document}"/>
  <p:tag name="IGUANATEXSIZE" val="16"/>
  <p:tag name="IGUANATEXCURSOR" val="11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63.7046"/>
  <p:tag name="ORIGINALWIDTH" val=" 824.8969"/>
  <p:tag name="OUTPUTTYPE" val="PNG"/>
  <p:tag name="IGUANATEXVERSION" val="162"/>
  <p:tag name="LATEXADDIN" val="\documentclass{article}&#10;\usepackage{amsmath}&#10;\pagestyle{empty}&#10;\begin{document}&#10;&#10;&#10;   \[&#10;   \text{DB}=\frac1k\sum_{i=1}^k R_i.&#10;\]&#10;&#10;\end{document}"/>
  <p:tag name="IGUANATEXSIZE" val="24"/>
  <p:tag name="IGUANATEXCURSOR" val="12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89.9513"/>
  <p:tag name="ORIGINALWIDTH" val=" 1372.328"/>
  <p:tag name="OUTPUTTYPE" val="PNG"/>
  <p:tag name="IGUANATEXVERSION" val="162"/>
  <p:tag name="LATEXADDIN" val="\documentclass{article}&#10;\usepackage{amsmath}&#10;\pagestyle{empty}&#10;\begin{document}&#10;&#10;   \[&#10;\text{SSW} = \sum_{j=1}^k \sum_{x_i \in C_j} d( x_i, \mu_j)&#10;\]&#10;&#10;&#10;\end{document}"/>
  <p:tag name="IGUANATEXSIZE" val="20"/>
  <p:tag name="IGUANATEXCURSOR" val="14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80.9524"/>
  <p:tag name="ORIGINALWIDTH" val=" 1244.844"/>
  <p:tag name="OUTPUTTYPE" val="PNG"/>
  <p:tag name="IGUANATEXVERSION" val="162"/>
  <p:tag name="LATEXADDIN" val="\documentclass{article}&#10;\usepackage{amsmath}&#10;\pagestyle{empty}&#10;\begin{document}&#10;&#10;   \[&#10;\text{SSB} = \sum_{j=1}^k | C_j |\ d(\mu_j, \mu )&#10;\]&#10;&#10;&#10;\end{document}"/>
  <p:tag name="IGUANATEXSIZE" val="20"/>
  <p:tag name="IGUANATEXCURSOR" val="13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94.7131"/>
  <p:tag name="ORIGINALWIDTH" val=" 1313.086"/>
  <p:tag name="OUTPUTTYPE" val="PNG"/>
  <p:tag name="IGUANATEXVERSION" val="162"/>
  <p:tag name="LATEXADDIN" val="\documentclass{article}&#10;\usepackage{amsmath}&#10;\pagestyle{empty}&#10;\begin{document}&#10;&#10;   \[&#10;\text{CH}(k) \;=\; \frac{\text{SSB}/(k-1)}{\text{SSW}/(n-k)}&#10;\]&#10;&#10;&#10;\end{document}"/>
  <p:tag name="IGUANATEXSIZE" val="16"/>
  <p:tag name="IGUANATEXCURSOR" val="15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1.2073"/>
  <p:tag name="ORIGINALWIDTH" val=" 1617.548"/>
  <p:tag name="OUTPUTTYPE" val="PNG"/>
  <p:tag name="IGUANATEXVERSION" val="162"/>
  <p:tag name="LATEXADDIN" val="\documentclass{article}&#10;\usepackage{amsmath}&#10;\pagestyle{empty}&#10;\begin{document}&#10;&#10; \[&#10;     \mathrm{MSE} = \frac{1}{n \times d}\sum_{i=1}^n \|X_i - \hat X_i\|^2.&#10;   \] &#10;&#10;\end{document}"/>
  <p:tag name="IGUANATEXSIZE" val="16"/>
  <p:tag name="IGUANATEXCURSOR" val="16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73.4533"/>
  <p:tag name="ORIGINALWIDTH" val=" 2650.169"/>
  <p:tag name="OUTPUTTYPE" val="PNG"/>
  <p:tag name="IGUANATEXVERSION" val="162"/>
  <p:tag name="LATEXADDIN" val="\documentclass{article}&#10;\usepackage{amsmath}&#10;\pagestyle{empty}&#10;\begin{document}&#10;&#10;&#10;   \[&#10;       \text{Stress} = \sqrt{\frac{\sum_{i&lt;j} (d(x_i, x_j)^{(orig)} - d(x_i,x_j)^{(low)})^2}{\sum_{i&lt;j} (d(x_i,x_j)^{(orig)})^2}}&#10;     \]&#10;&#10;\end{document}"/>
  <p:tag name="IGUANATEXSIZE" val="16"/>
  <p:tag name="IGUANATEXCURSOR" val="22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297.7128"/>
  <p:tag name="OUTPUTTYPE" val="PNG"/>
  <p:tag name="IGUANATEXVERSION" val="162"/>
  <p:tag name="LATEXADDIN" val="\documentclass{article}&#10;\usepackage{amsmath}&#10;\pagestyle{empty}&#10;\begin{document}&#10;\[&#10;r(i,j)&#10;\]&#10;&#10;&#10;\end{document}"/>
  <p:tag name="IGUANATEXSIZE" val="16"/>
  <p:tag name="IGUANATEXCURSOR" val="9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1.2336"/>
  <p:tag name="ORIGINALWIDTH" val=" 1100.112"/>
  <p:tag name="OUTPUTTYPE" val="PNG"/>
  <p:tag name="IGUANATEXVERSION" val="162"/>
  <p:tag name="LATEXADDIN" val="\documentclass{article}&#10;\usepackage{amsmath}&#10;\pagestyle{empty}&#10;\begin{document}&#10;&#10;\[&#10;S_\eta = \{\,x : s(x) \ge \eta\}.&#10;\]&#10;&#10;&#10;\end{document}"/>
  <p:tag name="IGUANATEXSIZE" val="16"/>
  <p:tag name="IGUANATEXCURSOR" val="12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9.2313"/>
  <p:tag name="ORIGINALWIDTH" val=" 1000.375"/>
  <p:tag name="OUTPUTTYPE" val="PNG"/>
  <p:tag name="IGUANATEXVERSION" val="162"/>
  <p:tag name="LATEXADDIN" val="\documentclass{article}&#10;\usepackage{amsmath}&#10;\pagestyle{empty}&#10;\begin{document}&#10;&#10;\[&#10;\alpha(\eta) = P\bigl(x \in S_\eta\bigr).&#10;\]&#10;&#10;&#10;\end{document}"/>
  <p:tag name="IGUANATEXSIZE" val="16"/>
  <p:tag name="IGUANATEXCURSOR" val="12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2410.949"/>
  <p:tag name="OUTPUTTYPE" val="PNG"/>
  <p:tag name="IGUANATEXVERSION" val="162"/>
  <p:tag name="LATEXADDIN" val="\documentclass{article}&#10;\usepackage{amsmath}&#10;\pagestyle{empty}&#10;\begin{document}&#10;&#10;\[&#10;MV(\alpha) = \inf \{\,V(\eta) : \alpha(\eta) \ge \alpha\},\quad \alpha\in[0,1].&#10;\]&#10;&#10;&#10;\end{document}"/>
  <p:tag name="IGUANATEXSIZE" val="16"/>
  <p:tag name="IGUANATEXCURSOR" val="16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11.2111"/>
  <p:tag name="ORIGINALWIDTH" val=" 1448.069"/>
  <p:tag name="OUTPUTTYPE" val="PNG"/>
  <p:tag name="IGUANATEXVERSION" val="162"/>
  <p:tag name="LATEXADDIN" val="\documentclass{article}&#10;\usepackage{amsmath}&#10;\pagestyle{empty}&#10;\begin{document}&#10;&#10;&#10;\[&#10;\mathrm{AUC_{MV}}&#10;\;=\;&#10;\int_{0}^{1} MV(\alpha)\,d\alpha&#10;\]&#10;&#10;\end{document}"/>
  <p:tag name="IGUANATEXSIZE" val="20"/>
  <p:tag name="IGUANATEXCURSOR" val="14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27.2216"/>
  <p:tag name="ORIGINALWIDTH" val=" 2124.484"/>
  <p:tag name="OUTPUTTYPE" val="PNG"/>
  <p:tag name="IGUANATEXVERSION" val="162"/>
  <p:tag name="LATEXADDIN" val="\documentclass{article}&#10;\usepackage{amsmath}&#10;\pagestyle{empty}&#10;\begin{document}&#10;&#10;\[&#10;EM(\lambda) = \sup_{S\subseteq\mathcal{X}}\;\bigl\{\,P(x\in S) - \lambda\,\mathrm{Vol}(S)\bigr\},&#10;\]  &#10;&#10;&#10;\end{document}"/>
  <p:tag name="IGUANATEXSIZE" val="16"/>
  <p:tag name="IGUANATEXCURSOR" val="18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1301.837"/>
  <p:tag name="OUTPUTTYPE" val="PNG"/>
  <p:tag name="IGUANATEXVERSION" val="162"/>
  <p:tag name="LATEXADDIN" val="\documentclass{article}&#10;\usepackage{amsmath}&#10;\pagestyle{empty}&#10;\begin{document}&#10;&#10;   \[&#10;   f(\eta;\lambda) = \alpha(\eta) - \lambda\,V(\eta).&#10;   \]&#10;&#10;&#10;\end{document}"/>
  <p:tag name="IGUANATEXSIZE" val="16"/>
  <p:tag name="IGUANATEXCURSOR" val="14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7.4765"/>
  <p:tag name="ORIGINALWIDTH" val=" 1206.599"/>
  <p:tag name="OUTPUTTYPE" val="PNG"/>
  <p:tag name="IGUANATEXVERSION" val="162"/>
  <p:tag name="LATEXADDIN" val="\documentclass{article}&#10;\usepackage{amsmath}&#10;\pagestyle{empty}&#10;\begin{document}&#10;&#10;&#10;   \[&#10;   EM(\lambda) = \max_\eta f(\eta;\lambda).&#10;   \]&#10;&#10;\end{document}"/>
  <p:tag name="IGUANATEXSIZE" val="16"/>
  <p:tag name="IGUANATEXCURSOR" val="13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1206.599"/>
  <p:tag name="OUTPUTTYPE" val="PNG"/>
  <p:tag name="IGUANATEXVERSION" val="162"/>
  <p:tag name="LATEXADDIN" val="\documentclass{article}&#10;\usepackage{amsmath}&#10;\pagestyle{empty}&#10;\begin{document}&#10;&#10;\[&#10;EM(\lambda) {,}\;\,\,\lambda\in[0,\lambda_{\max}].&#10;\]&#10;&#10;&#10;\end{document}"/>
  <p:tag name="IGUANATEXSIZE" val="16"/>
  <p:tag name="IGUANATEXCURSOR" val="13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14.2107"/>
  <p:tag name="ORIGINALWIDTH" val=" 1628.796"/>
  <p:tag name="OUTPUTTYPE" val="PNG"/>
  <p:tag name="IGUANATEXVERSION" val="162"/>
  <p:tag name="LATEXADDIN" val="\documentclass{article}&#10;\usepackage{amsmath}&#10;\pagestyle{empty}&#10;\begin{document}&#10;&#10;   \[&#10;     \mathrm{AUC_{EM}} \;=\;\int_{0}^{\lambda_{\max}} EM(\lambda)\,\mathrm{d}\lambda.&#10;   \]&#10;&#10;&#10;\end{document}"/>
  <p:tag name="IGUANATEXSIZE" val="16"/>
  <p:tag name="IGUANATEXCURSOR" val="17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898.3877"/>
  <p:tag name="OUTPUTTYPE" val="PNG"/>
  <p:tag name="IGUANATEXVERSION" val="162"/>
  <p:tag name="LATEXADDIN" val="\documentclass{article}&#10;\usepackage{amsmath}&#10;\pagestyle{empty}&#10;\begin{document}&#10;&#10;&#10;\[&#10;\operatorname{supp}(B)=P(B)&#10;\]&#10;&#10;\end{document}"/>
  <p:tag name="IGUANATEXSIZE" val="16"/>
  <p:tag name="IGUANATEXCURSOR" val="11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94.7131"/>
  <p:tag name="ORIGINALWIDTH" val=" 1890.514"/>
  <p:tag name="OUTPUTTYPE" val="PNG"/>
  <p:tag name="IGUANATEXVERSION" val="162"/>
  <p:tag name="LATEXADDIN" val="\documentclass{article}&#10;\usepackage{amsmath}&#10;\pagestyle{empty}&#10;\begin{document}&#10;&#10;\[&#10;\text{conf}(A\!\to\!B)=P(B\mid A)=\frac{P(AB)}{P(A)}&#10;\]&#10;&#10;&#10;\end{document}"/>
  <p:tag name="IGUANATEXSIZE" val="20"/>
  <p:tag name="IGUANATEXCURSOR" val="13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94.7131"/>
  <p:tag name="ORIGINALWIDTH" val=" 1181.852"/>
  <p:tag name="OUTPUTTYPE" val="PNG"/>
  <p:tag name="IGUANATEXVERSION" val="162"/>
  <p:tag name="LATEXADDIN" val="\documentclass{article}&#10;\usepackage{amsmath}&#10;\pagestyle{empty}&#10;\begin{document}&#10;&#10;\[&#10;\operatorname{conv}=\;&#10;\frac{1-P(B)}{1-P(B\,|\,A)} ,&#10;\]&#10;&#10;&#10;\end{document}"/>
  <p:tag name="IGUANATEXSIZE" val="16"/>
  <p:tag name="IGUANATEXCURSOR" val="13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heme/theme1.xml><?xml version="1.0" encoding="utf-8"?>
<a:theme xmlns:a="http://schemas.openxmlformats.org/drawingml/2006/main" name="2016_05_SPbU_template_16х9_ру-1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Языковые модели. Виды. Особенности</Template>
  <TotalTime>2739</TotalTime>
  <Words>872</Words>
  <Application>Microsoft Office PowerPoint</Application>
  <PresentationFormat>Экран (16:9)</PresentationFormat>
  <Paragraphs>128</Paragraphs>
  <Slides>20</Slides>
  <Notes>19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0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Calibri</vt:lpstr>
      <vt:lpstr>Segoe Fluent Icons</vt:lpstr>
      <vt:lpstr>Arial</vt:lpstr>
      <vt:lpstr>2016_05_SPbU_template_16х9_ру-1</vt:lpstr>
      <vt:lpstr>Оценка результатов обучения без учителя</vt:lpstr>
      <vt:lpstr>Введение</vt:lpstr>
      <vt:lpstr>Задачи</vt:lpstr>
      <vt:lpstr>Индекс силуэта (Silhouette index)</vt:lpstr>
      <vt:lpstr>Индекс силуэта (Silhouette index)</vt:lpstr>
      <vt:lpstr>Индекс Дэвиса-Болдина</vt:lpstr>
      <vt:lpstr>Индекс Дэвиса-Болдина</vt:lpstr>
      <vt:lpstr>Индекс Калинского-Харабаша</vt:lpstr>
      <vt:lpstr>Индекс Калинского-Харабаша</vt:lpstr>
      <vt:lpstr>Среднеквадратичная ошибка</vt:lpstr>
      <vt:lpstr>Функция стресса</vt:lpstr>
      <vt:lpstr>Надежность и непрерывность</vt:lpstr>
      <vt:lpstr>Надежность и непрерывность</vt:lpstr>
      <vt:lpstr>Инъекция синтетических аномалий </vt:lpstr>
      <vt:lpstr>Кривая «массы-объёма» (MV) </vt:lpstr>
      <vt:lpstr>Кривая «массы-объёма» (MV) </vt:lpstr>
      <vt:lpstr>Кривая избытка массы (EM) </vt:lpstr>
      <vt:lpstr>Кривая избытка массы (EM) </vt:lpstr>
      <vt:lpstr>Метрики оценки правил  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Оценка результатов обучения без учителя</dc:title>
  <dc:creator>r9zhexo@gmail.com</dc:creator>
  <cp:lastModifiedBy>Учетная запись Майкрософт</cp:lastModifiedBy>
  <cp:revision>51</cp:revision>
  <dcterms:created xsi:type="dcterms:W3CDTF">2025-04-26T07:20:13Z</dcterms:created>
  <dcterms:modified xsi:type="dcterms:W3CDTF">2026-05-15T17:22:16Z</dcterms:modified>
</cp:coreProperties>
</file>