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826"/>
    <a:srgbClr val="8FAADC"/>
    <a:srgbClr val="66A0D0"/>
    <a:srgbClr val="8C6E8E"/>
    <a:srgbClr val="AE6464"/>
    <a:srgbClr val="F8F1F1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1" autoAdjust="0"/>
    <p:restoredTop sz="94652" autoAdjust="0"/>
  </p:normalViewPr>
  <p:slideViewPr>
    <p:cSldViewPr snapToGrid="0">
      <p:cViewPr varScale="1">
        <p:scale>
          <a:sx n="85" d="100"/>
          <a:sy n="85" d="100"/>
        </p:scale>
        <p:origin x="581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1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5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2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322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789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9282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918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429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797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1101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6789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9547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54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3146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01F69-80B2-41BE-AC2B-1D009EE61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24FAED-F179-404C-96C1-956B81CA8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4B4E58-90F2-45F0-B247-786E9F0D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00D8-F59E-4891-A024-43A958EB50A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8E1F7A-E506-4DDC-9520-E59C0E58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B968DB-47C1-49C2-92B5-8543B094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B620-CD0F-4D98-811D-23FEDA550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95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73" r:id="rId4"/>
    <p:sldLayoutId id="2147483661" r:id="rId5"/>
    <p:sldLayoutId id="2147483674" r:id="rId6"/>
    <p:sldLayoutId id="2147483660" r:id="rId7"/>
    <p:sldLayoutId id="2147483675" r:id="rId8"/>
    <p:sldLayoutId id="2147483654" r:id="rId9"/>
    <p:sldLayoutId id="2147483664" r:id="rId10"/>
    <p:sldLayoutId id="2147483658" r:id="rId11"/>
    <p:sldLayoutId id="2147483655" r:id="rId12"/>
    <p:sldLayoutId id="2147483657" r:id="rId13"/>
    <p:sldLayoutId id="2147483663" r:id="rId14"/>
    <p:sldLayoutId id="2147483665" r:id="rId15"/>
    <p:sldLayoutId id="2147483670" r:id="rId16"/>
    <p:sldLayoutId id="2147483667" r:id="rId17"/>
    <p:sldLayoutId id="2147483677" r:id="rId18"/>
    <p:sldLayoutId id="2147483668" r:id="rId19"/>
    <p:sldLayoutId id="2147483669" r:id="rId20"/>
    <p:sldLayoutId id="2147483671" r:id="rId21"/>
    <p:sldLayoutId id="2147483678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15380E-B557-4D90-8467-1BA85A2F1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44D7D-4E69-49E7-8690-AD14DA484B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9F2D2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ИИ в промышленности: типы решаемых задач и особенности применения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D41718-795A-445B-97A3-38BFD94B01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Доклад подготовил: Кочетков Кирилл</a:t>
            </a:r>
          </a:p>
        </p:txBody>
      </p:sp>
    </p:spTree>
    <p:extLst>
      <p:ext uri="{BB962C8B-B14F-4D97-AF65-F5344CB8AC3E}">
        <p14:creationId xmlns:p14="http://schemas.microsoft.com/office/powerpoint/2010/main" val="334023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4087495"/>
            <a:ext cx="11666220" cy="2331085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Промышленный ИИ выделяется в силу особенностей среды применения: системы встроены в операционные технологии, высокая цена ошибки, высокие требования к надежности.</a:t>
            </a:r>
            <a:b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</a:br>
            <a:b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</a:br>
            <a:r>
              <a:rPr lang="ru-RU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Нестационарность</a:t>
            </a:r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процессов, редкость аномальных событий и ограниченная разметка – свойства, которые влияют на выбор методов, постановку задач и инфраструктуру развертывания.</a:t>
            </a:r>
            <a:b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</a:br>
            <a:b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Интеграция с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IT </a:t>
            </a:r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и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OT </a:t>
            </a:r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уровнями порождают специфические требования к задержкам, безопасности и отказоустойчивости, не характерные для потребительских приложений.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8F4E71E-AE0A-4ACC-8539-913EC01568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80135"/>
            <a:ext cx="12192000" cy="257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9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118984" cy="64071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Отличие ИИ от цифровизации и автоматизации </a:t>
            </a:r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EB671366-1296-4187-B7CB-831E361ED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62926"/>
              </p:ext>
            </p:extLst>
          </p:nvPr>
        </p:nvGraphicFramePr>
        <p:xfrm>
          <a:off x="460209" y="1080135"/>
          <a:ext cx="11013105" cy="29930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1566">
                  <a:extLst>
                    <a:ext uri="{9D8B030D-6E8A-4147-A177-3AD203B41FA5}">
                      <a16:colId xmlns:a16="http://schemas.microsoft.com/office/drawing/2014/main" val="2549218039"/>
                    </a:ext>
                  </a:extLst>
                </a:gridCol>
                <a:gridCol w="5030504">
                  <a:extLst>
                    <a:ext uri="{9D8B030D-6E8A-4147-A177-3AD203B41FA5}">
                      <a16:colId xmlns:a16="http://schemas.microsoft.com/office/drawing/2014/main" val="871596811"/>
                    </a:ext>
                  </a:extLst>
                </a:gridCol>
                <a:gridCol w="3671035">
                  <a:extLst>
                    <a:ext uri="{9D8B030D-6E8A-4147-A177-3AD203B41FA5}">
                      <a16:colId xmlns:a16="http://schemas.microsoft.com/office/drawing/2014/main" val="3637947862"/>
                    </a:ext>
                  </a:extLst>
                </a:gridCol>
              </a:tblGrid>
              <a:tr h="352301">
                <a:tc>
                  <a:txBody>
                    <a:bodyPr/>
                    <a:lstStyle/>
                    <a:p>
                      <a:r>
                        <a:rPr lang="ru-RU" sz="1600" dirty="0"/>
                        <a:t>Уровень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Основной принцип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Тип результата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09364"/>
                  </a:ext>
                </a:extLst>
              </a:tr>
              <a:tr h="608081">
                <a:tc>
                  <a:txBody>
                    <a:bodyPr/>
                    <a:lstStyle/>
                    <a:p>
                      <a:r>
                        <a:rPr lang="ru-RU" sz="1600" dirty="0"/>
                        <a:t>Цифровизация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Сбор, хранение, передача и визуализация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Прозрачность процессов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212283"/>
                  </a:ext>
                </a:extLst>
              </a:tr>
              <a:tr h="608081">
                <a:tc>
                  <a:txBody>
                    <a:bodyPr/>
                    <a:lstStyle/>
                    <a:p>
                      <a:r>
                        <a:rPr lang="ru-RU" sz="1600" dirty="0"/>
                        <a:t>Автоматизация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Выполнение заранее заданных правил и команд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Стабильность повторяемых операций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77727"/>
                  </a:ext>
                </a:extLst>
              </a:tr>
              <a:tr h="608081">
                <a:tc>
                  <a:txBody>
                    <a:bodyPr/>
                    <a:lstStyle/>
                    <a:p>
                      <a:r>
                        <a:rPr lang="ru-RU" sz="1600" dirty="0"/>
                        <a:t>Бизнес-аналитика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Отчётность, визуализация показателей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Интерпретация прошлого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416054"/>
                  </a:ext>
                </a:extLst>
              </a:tr>
              <a:tr h="816509">
                <a:tc>
                  <a:txBody>
                    <a:bodyPr/>
                    <a:lstStyle/>
                    <a:p>
                      <a:r>
                        <a:rPr lang="ru-RU" sz="1600" dirty="0"/>
                        <a:t>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Обучение на данных, прогнозирование, классификация, оптимизация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Решения в условиях неопределенности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093572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85AE2B0-0774-46CC-8453-D7842A41ED1C}"/>
              </a:ext>
            </a:extLst>
          </p:cNvPr>
          <p:cNvCxnSpPr>
            <a:cxnSpLocks/>
          </p:cNvCxnSpPr>
          <p:nvPr/>
        </p:nvCxnSpPr>
        <p:spPr>
          <a:xfrm>
            <a:off x="0" y="6438110"/>
            <a:ext cx="11791311" cy="0"/>
          </a:xfrm>
          <a:prstGeom prst="line">
            <a:avLst/>
          </a:prstGeom>
          <a:ln w="28575">
            <a:solidFill>
              <a:srgbClr val="AE646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B47CB3-1D56-432E-B484-F6BBAB8923D0}"/>
              </a:ext>
            </a:extLst>
          </p:cNvPr>
          <p:cNvSpPr txBox="1"/>
          <p:nvPr/>
        </p:nvSpPr>
        <p:spPr>
          <a:xfrm>
            <a:off x="354329" y="4282012"/>
            <a:ext cx="114369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Основные требования к доверенности ИИ-систем: надёжность (</a:t>
            </a:r>
            <a:r>
              <a:rPr lang="ru-RU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reliability</a:t>
            </a: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), безопасность (</a:t>
            </a:r>
            <a:r>
              <a:rPr lang="ru-RU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safety</a:t>
            </a: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), интерпретируемость (</a:t>
            </a:r>
            <a:r>
              <a:rPr lang="ru-RU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explainability</a:t>
            </a: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) и подотчётность (</a:t>
            </a:r>
            <a:r>
              <a:rPr lang="ru-RU" sz="16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accountability</a:t>
            </a: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).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*</a:t>
            </a:r>
            <a:endParaRPr lang="ru-RU" sz="16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EE1AB1-B5EB-4818-A312-F11A705FBC21}"/>
              </a:ext>
            </a:extLst>
          </p:cNvPr>
          <p:cNvSpPr txBox="1"/>
          <p:nvPr/>
        </p:nvSpPr>
        <p:spPr>
          <a:xfrm>
            <a:off x="354329" y="6049248"/>
            <a:ext cx="6196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https://nvlpubs.nist.gov/nistpubs/ai/nist.ai.100-1.pdf</a:t>
            </a:r>
          </a:p>
        </p:txBody>
      </p:sp>
    </p:spTree>
    <p:extLst>
      <p:ext uri="{BB962C8B-B14F-4D97-AF65-F5344CB8AC3E}">
        <p14:creationId xmlns:p14="http://schemas.microsoft.com/office/powerpoint/2010/main" val="325156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118984" cy="64071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Классификация задач промышленного ИИ </a:t>
            </a:r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EB671366-1296-4187-B7CB-831E361ED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259046"/>
              </p:ext>
            </p:extLst>
          </p:nvPr>
        </p:nvGraphicFramePr>
        <p:xfrm>
          <a:off x="460209" y="1080135"/>
          <a:ext cx="11013105" cy="413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1566">
                  <a:extLst>
                    <a:ext uri="{9D8B030D-6E8A-4147-A177-3AD203B41FA5}">
                      <a16:colId xmlns:a16="http://schemas.microsoft.com/office/drawing/2014/main" val="2549218039"/>
                    </a:ext>
                  </a:extLst>
                </a:gridCol>
                <a:gridCol w="5030504">
                  <a:extLst>
                    <a:ext uri="{9D8B030D-6E8A-4147-A177-3AD203B41FA5}">
                      <a16:colId xmlns:a16="http://schemas.microsoft.com/office/drawing/2014/main" val="871596811"/>
                    </a:ext>
                  </a:extLst>
                </a:gridCol>
                <a:gridCol w="3671035">
                  <a:extLst>
                    <a:ext uri="{9D8B030D-6E8A-4147-A177-3AD203B41FA5}">
                      <a16:colId xmlns:a16="http://schemas.microsoft.com/office/drawing/2014/main" val="3637947862"/>
                    </a:ext>
                  </a:extLst>
                </a:gridCol>
              </a:tblGrid>
              <a:tr h="352301">
                <a:tc>
                  <a:txBody>
                    <a:bodyPr/>
                    <a:lstStyle/>
                    <a:p>
                      <a:r>
                        <a:rPr lang="ru-RU" sz="1600"/>
                        <a:t>Тип данных</a:t>
                      </a:r>
                      <a:endParaRPr lang="ru-RU" sz="1600" dirty="0"/>
                    </a:p>
                  </a:txBody>
                  <a:tcPr>
                    <a:solidFill>
                      <a:srgbClr val="9F2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Типовые задачи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Класс методов</a:t>
                      </a:r>
                      <a:endParaRPr lang="ru-RU" sz="1600" dirty="0"/>
                    </a:p>
                  </a:txBody>
                  <a:tcPr>
                    <a:solidFill>
                      <a:srgbClr val="9F2D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09364"/>
                  </a:ext>
                </a:extLst>
              </a:tr>
              <a:tr h="608081">
                <a:tc>
                  <a:txBody>
                    <a:bodyPr/>
                    <a:lstStyle/>
                    <a:p>
                      <a:r>
                        <a:rPr lang="ru-RU" sz="1600" dirty="0"/>
                        <a:t>Временные ряды, сигналы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Прогноз отказа, оценка остаточного ресурса, обнаружение аномалий в сигналах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Регрессия/классификация (</a:t>
                      </a:r>
                      <a:r>
                        <a:rPr lang="en-US" sz="1600" dirty="0"/>
                        <a:t>supervised), </a:t>
                      </a:r>
                      <a:r>
                        <a:rPr lang="ru-RU" sz="1600" dirty="0" err="1"/>
                        <a:t>автокодировщики</a:t>
                      </a:r>
                      <a:r>
                        <a:rPr lang="ru-RU" sz="1600" dirty="0"/>
                        <a:t> (</a:t>
                      </a:r>
                      <a:r>
                        <a:rPr lang="en-US" sz="1600" dirty="0"/>
                        <a:t>unsupervised), LSTM, CNN 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212283"/>
                  </a:ext>
                </a:extLst>
              </a:tr>
              <a:tr h="608081">
                <a:tc>
                  <a:txBody>
                    <a:bodyPr/>
                    <a:lstStyle/>
                    <a:p>
                      <a:r>
                        <a:rPr lang="ru-RU" sz="1600" dirty="0"/>
                        <a:t>Изображения, видеопоток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Визуальный контроль качества, </a:t>
                      </a:r>
                      <a:r>
                        <a:rPr lang="ru-RU" sz="1600" dirty="0" err="1"/>
                        <a:t>детекция</a:t>
                      </a:r>
                      <a:r>
                        <a:rPr lang="ru-RU" sz="1600" dirty="0"/>
                        <a:t> дефектов, мониторинг операций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CNN-классификаторы, детекторы объектов (YOLO, </a:t>
                      </a:r>
                      <a:r>
                        <a:rPr lang="ru-RU" sz="1600" dirty="0" err="1"/>
                        <a:t>Faster</a:t>
                      </a:r>
                      <a:r>
                        <a:rPr lang="ru-RU" sz="1600" dirty="0"/>
                        <a:t> R-CNN), сегментация (U-</a:t>
                      </a:r>
                      <a:r>
                        <a:rPr lang="ru-RU" sz="1600" dirty="0" err="1"/>
                        <a:t>Net</a:t>
                      </a:r>
                      <a:r>
                        <a:rPr lang="ru-RU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77727"/>
                  </a:ext>
                </a:extLst>
              </a:tr>
              <a:tr h="608081">
                <a:tc>
                  <a:txBody>
                    <a:bodyPr/>
                    <a:lstStyle/>
                    <a:p>
                      <a:r>
                        <a:rPr lang="ru-RU" sz="1600" dirty="0"/>
                        <a:t>Табличные / событийные данные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Прогноз спроса, управление запасами, планирование производства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Методы прогнозирования временных рядов, ансамблевые модели, методы </a:t>
                      </a:r>
                      <a:r>
                        <a:rPr lang="ru-RU" sz="1600" dirty="0" err="1"/>
                        <a:t>Operations</a:t>
                      </a:r>
                      <a:r>
                        <a:rPr lang="ru-RU" sz="1600" dirty="0"/>
                        <a:t> </a:t>
                      </a:r>
                      <a:r>
                        <a:rPr lang="ru-RU" sz="1600" dirty="0" err="1"/>
                        <a:t>Research</a:t>
                      </a:r>
                      <a:r>
                        <a:rPr lang="ru-RU" sz="16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416054"/>
                  </a:ext>
                </a:extLst>
              </a:tr>
              <a:tr h="816509">
                <a:tc>
                  <a:txBody>
                    <a:bodyPr/>
                    <a:lstStyle/>
                    <a:p>
                      <a:r>
                        <a:rPr lang="ru-RU" sz="1600" dirty="0"/>
                        <a:t>Данные контуров управления, технологические параметры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Оптимизация технологических режимов, энергопотребления, качества продукта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Суррогатное моделирование, байесовская оптимизация, методы обучения с подкреплением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093572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85AE2B0-0774-46CC-8453-D7842A41ED1C}"/>
              </a:ext>
            </a:extLst>
          </p:cNvPr>
          <p:cNvCxnSpPr>
            <a:cxnSpLocks/>
          </p:cNvCxnSpPr>
          <p:nvPr/>
        </p:nvCxnSpPr>
        <p:spPr>
          <a:xfrm>
            <a:off x="0" y="6438110"/>
            <a:ext cx="11791311" cy="0"/>
          </a:xfrm>
          <a:prstGeom prst="line">
            <a:avLst/>
          </a:prstGeom>
          <a:ln w="28575">
            <a:solidFill>
              <a:srgbClr val="AE646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6D50B43-68A7-4195-82BD-F6CAD4F7B92C}"/>
              </a:ext>
            </a:extLst>
          </p:cNvPr>
          <p:cNvSpPr txBox="1"/>
          <p:nvPr/>
        </p:nvSpPr>
        <p:spPr>
          <a:xfrm>
            <a:off x="354329" y="5377387"/>
            <a:ext cx="114369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По типу решения задачи делятся на: прогностические, классификационные, обнаружения аномалий, оптимизационные и адаптивного управления.</a:t>
            </a:r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*</a:t>
            </a:r>
            <a:endParaRPr lang="ru-RU" sz="16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1162C-8EDA-4A7C-9904-0EF7A90DB054}"/>
              </a:ext>
            </a:extLst>
          </p:cNvPr>
          <p:cNvSpPr txBox="1"/>
          <p:nvPr/>
        </p:nvSpPr>
        <p:spPr>
          <a:xfrm>
            <a:off x="354329" y="6049248"/>
            <a:ext cx="6196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*https://www.mdpi.com/1424-8220/22/22/8641</a:t>
            </a:r>
            <a:endParaRPr lang="ru-RU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4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84645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Временные ряды и предиктивное обслуживание оборудования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420494"/>
            <a:ext cx="11666220" cy="5266056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Наиболее изученная задачная область промышленного ИИ.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Выделяют следующие постановки задач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прогноз наступления отказа - бинарная классификация или регрессия по временному горизонту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оценка остаточного ресурса – задача регрессии, предсказывающая время до выхода из строя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мониторинг технического состояния - непрерывное отслеживание трендов деградации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обнаружение аномального поведения - идентификация отклонений от нормального режима без заранее определённой метки отказа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Основные методы: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методы классификации и регрессии (SVM, случайные леса, градиентный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бустинг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для задач с размеченными историями отказов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глубокое обучение: рекуррентные сети (LSTM) и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свёрточные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сети (CNN) для извлечения признаков из многомерных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гибридные CNN-LSTM-архитектуры для задачи оценки RUL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ненадзорные методы обнаружения аномалий (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autoencoders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One-Class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SVM,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Isolation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Forest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при отсутствии размеченных аномалий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полунадзорные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подходы - при наличии небольшого числа размеченных примеров отказов и большого объёма нормального режима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43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82740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Компьютерное зрение для контроля качества и мониторинга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420494"/>
            <a:ext cx="11666220" cy="5266056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Выделяют следующие постановки задач: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бинарная классификация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детекция 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и локализация дефектов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семантическая сегментация дефектов (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попиксельная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разметка области дефекта)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визуальный мониторинг производственных операций (соблюдение порядка сборки, наличие комплектующих, ориентация деталей)</a:t>
            </a:r>
          </a:p>
          <a:p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Основные методы: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свёрточные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нейронные сети (CNN) с архитектурами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ResNet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EfficientNet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и аналогами для задач классификации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детекторы объектов: YOLO (серия версий),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Faster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R-CNN, SSD - для локализации и классификации дефектов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сегментационные архитектуры: U-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и его производные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ненадзорное обнаружение аномалий на изображениях - для случаев, когда размеченные примеры дефектов недоступны</a:t>
            </a:r>
          </a:p>
        </p:txBody>
      </p:sp>
    </p:spTree>
    <p:extLst>
      <p:ext uri="{BB962C8B-B14F-4D97-AF65-F5344CB8AC3E}">
        <p14:creationId xmlns:p14="http://schemas.microsoft.com/office/powerpoint/2010/main" val="349888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827405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Кейс: IBM Maximo </a:t>
            </a:r>
            <a:r>
              <a:rPr lang="pt-BR"/>
              <a:t>Visual Inspection</a:t>
            </a:r>
            <a:r>
              <a:rPr lang="ru-RU"/>
              <a:t>*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420494"/>
            <a:ext cx="5737860" cy="5266056"/>
          </a:xfrm>
        </p:spPr>
        <p:txBody>
          <a:bodyPr/>
          <a:lstStyle/>
          <a:p>
            <a:r>
              <a:rPr lang="ru-RU">
                <a:solidFill>
                  <a:schemeClr val="tx1">
                    <a:lumMod val="90000"/>
                    <a:lumOff val="10000"/>
                  </a:schemeClr>
                </a:solidFill>
              </a:rPr>
              <a:t>Визуальная инспекция в промышленности может решаться тремся основными способами: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классификация изображений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детекция дефектов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детекция аномалий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70341AB-E233-466A-9AD7-87BDBF536B68}"/>
              </a:ext>
            </a:extLst>
          </p:cNvPr>
          <p:cNvSpPr txBox="1">
            <a:spLocks/>
          </p:cNvSpPr>
          <p:nvPr/>
        </p:nvSpPr>
        <p:spPr>
          <a:xfrm>
            <a:off x="6096000" y="1420494"/>
            <a:ext cx="5737860" cy="52660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>
                <a:solidFill>
                  <a:schemeClr val="tx1">
                    <a:lumMod val="90000"/>
                    <a:lumOff val="10000"/>
                  </a:schemeClr>
                </a:solidFill>
              </a:rPr>
              <a:t>Выбор зависит от постановки задачи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метка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годен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брак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локализация дефекта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tx1">
                    <a:lumMod val="75000"/>
                    <a:lumOff val="25000"/>
                  </a:schemeClr>
                </a:solidFill>
              </a:rPr>
              <a:t>поиск редких отклонений при дефиците размеченного брака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0F530-B760-4C3D-9A7C-3B4E4779D4AB}"/>
              </a:ext>
            </a:extLst>
          </p:cNvPr>
          <p:cNvSpPr txBox="1"/>
          <p:nvPr/>
        </p:nvSpPr>
        <p:spPr>
          <a:xfrm>
            <a:off x="354329" y="6049248"/>
            <a:ext cx="8753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https://www.ibm.com/case-studies/blog/reducing-defects-and-downtime-with-ai-enabled-automated-inspections?regionCode=us&amp;languageCode=en&amp;contactmodule=true&amp;cm-history=us-en</a:t>
            </a:r>
            <a:endParaRPr lang="ru-RU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18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B0C02F-745D-469B-ACAB-74BEEFEBE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3092"/>
            <a:ext cx="12192000" cy="463571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827405"/>
          </a:xfrm>
          <a:prstGeom prst="rect">
            <a:avLst/>
          </a:prstGeom>
        </p:spPr>
        <p:txBody>
          <a:bodyPr/>
          <a:lstStyle/>
          <a:p>
            <a:r>
              <a:rPr lang="pt-BR"/>
              <a:t>IBM</a:t>
            </a:r>
            <a:r>
              <a:rPr lang="ru-RU"/>
              <a:t>: Классификация изображений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420494"/>
            <a:ext cx="11654790" cy="533812"/>
          </a:xfrm>
        </p:spPr>
        <p:txBody>
          <a:bodyPr/>
          <a:lstStyle/>
          <a:p>
            <a:r>
              <a:rPr lang="ru-RU">
                <a:solidFill>
                  <a:schemeClr val="tx1">
                    <a:lumMod val="90000"/>
                    <a:lumOff val="10000"/>
                  </a:schemeClr>
                </a:solidFill>
              </a:rPr>
              <a:t>Задача: отнести изображение к одному из заданных классов.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34419-772D-432B-AA68-91B7B410FB48}"/>
                  </a:ext>
                </a:extLst>
              </p:cNvPr>
              <p:cNvSpPr txBox="1"/>
              <p:nvPr/>
            </p:nvSpPr>
            <p:spPr>
              <a:xfrm>
                <a:off x="7772625" y="338242"/>
                <a:ext cx="2886635" cy="2164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6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l-P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e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16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l-P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60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l-PL" sz="16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pl-PL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l-PL" sz="16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l-PL" sz="160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16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l-P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160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pl-PL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60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pl-PL" sz="160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600"/>
              </a:p>
              <a:p>
                <a:endParaRPr lang="en-US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y-GB" sz="1600" i="1" smtClean="0">
                          <a:latin typeface="Cambria Math" panose="02040503050406030204" pitchFamily="18" charset="0"/>
                        </a:rPr>
                        <m:t>ŷ=</m:t>
                      </m:r>
                      <m:func>
                        <m:funcPr>
                          <m:ctrlPr>
                            <a:rPr lang="cy-GB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y-GB" sz="160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cy-GB" sz="1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cy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cy-GB" sz="160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cy-GB" sz="16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cy-GB" sz="16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cy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y-GB" sz="160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cy-GB" sz="160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cy-GB" sz="16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e>
                                  <m:r>
                                    <a:rPr lang="cy-GB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cy-GB" sz="1600"/>
              </a:p>
              <a:p>
                <a:endParaRPr lang="cy-GB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nn-NO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n-NO" sz="16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sz="16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nn-NO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nn-NO" sz="1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n-NO" sz="160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nn-NO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n-NO" sz="160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nn-NO" sz="16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ru-RU" sz="16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34419-772D-432B-AA68-91B7B410F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625" y="338242"/>
                <a:ext cx="2886635" cy="21645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61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827405"/>
          </a:xfrm>
          <a:prstGeom prst="rect">
            <a:avLst/>
          </a:prstGeom>
        </p:spPr>
        <p:txBody>
          <a:bodyPr/>
          <a:lstStyle/>
          <a:p>
            <a:r>
              <a:rPr lang="pt-BR"/>
              <a:t>IBM</a:t>
            </a:r>
            <a:r>
              <a:rPr lang="ru-RU"/>
              <a:t>: Детекция дефектов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420494"/>
            <a:ext cx="11654790" cy="533812"/>
          </a:xfrm>
        </p:spPr>
        <p:txBody>
          <a:bodyPr/>
          <a:lstStyle/>
          <a:p>
            <a:r>
              <a:rPr lang="ru-RU">
                <a:solidFill>
                  <a:schemeClr val="tx1">
                    <a:lumMod val="90000"/>
                    <a:lumOff val="10000"/>
                  </a:schemeClr>
                </a:solidFill>
              </a:rPr>
              <a:t>Задача: найти на изображении дефект и показать его местоположение.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C77E74-3CD9-4806-AA0B-E03E31267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" y="1954307"/>
            <a:ext cx="8431082" cy="38386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34C6EC-DBAE-4BDB-A118-8982F7C4D16E}"/>
                  </a:ext>
                </a:extLst>
              </p:cNvPr>
              <p:cNvSpPr txBox="1"/>
              <p:nvPr/>
            </p:nvSpPr>
            <p:spPr>
              <a:xfrm>
                <a:off x="9126295" y="1954306"/>
                <a:ext cx="2886635" cy="2170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60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l-PL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l-P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1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ru-RU" sz="1600" i="1">
                  <a:latin typeface="Cambria Math" panose="02040503050406030204" pitchFamily="18" charset="0"/>
                </a:endParaRPr>
              </a:p>
              <a:p>
                <a:endParaRPr lang="ru-RU" sz="16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ru-RU" sz="1600"/>
              </a:p>
              <a:p>
                <a:endParaRPr lang="ru-RU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𝑜𝑏𝑗𝑒𝑐𝑡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𝐼𝑜𝑈</m:t>
                      </m:r>
                    </m:oMath>
                  </m:oMathPara>
                </a14:m>
                <a:endParaRPr lang="ru-RU" sz="1600"/>
              </a:p>
              <a:p>
                <a:endParaRPr lang="ru-RU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𝑐𝑙𝑠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160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𝑏𝑜𝑥</m:t>
                          </m:r>
                        </m:sub>
                      </m:sSub>
                    </m:oMath>
                  </m:oMathPara>
                </a14:m>
                <a:endParaRPr lang="ru-RU" sz="16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34C6EC-DBAE-4BDB-A118-8982F7C4D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295" y="1954306"/>
                <a:ext cx="2886635" cy="2170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105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827405"/>
          </a:xfrm>
          <a:prstGeom prst="rect">
            <a:avLst/>
          </a:prstGeom>
        </p:spPr>
        <p:txBody>
          <a:bodyPr/>
          <a:lstStyle/>
          <a:p>
            <a:r>
              <a:rPr lang="pt-BR"/>
              <a:t>IBM</a:t>
            </a:r>
            <a:r>
              <a:rPr lang="ru-RU"/>
              <a:t>: Детекция аномалий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58140" y="1420493"/>
                <a:ext cx="11654790" cy="4792047"/>
              </a:xfrm>
            </p:spPr>
            <p:txBody>
              <a:bodyPr/>
              <a:lstStyle/>
              <a:p>
                <a:r>
                  <a:rPr lang="ru-RU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Задача: поиск отклонений от нормального изделия.</a:t>
                </a:r>
              </a:p>
              <a:p>
                <a:endParaRPr lang="ru-RU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ru-RU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Логика: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на вход подается изображение нормального изделия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модель учится восстанавливать его структуру или латентное представление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при подаче нового образца вычисляется ошибка реконструкции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если ошибка слишком велика, образец считается аномальным</a:t>
                </a:r>
              </a:p>
              <a:p>
                <a:endParaRPr lang="ru-RU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ru-RU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Реконструкция изображения: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de-DE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 smtClean="0">
                                    <a:solidFill>
                                      <a:schemeClr val="tx1">
                                        <a:lumMod val="90000"/>
                                        <a:lumOff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 smtClean="0">
                                    <a:solidFill>
                                      <a:schemeClr val="tx1">
                                        <a:lumMod val="90000"/>
                                        <a:lumOff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de-DE" i="1" smtClean="0">
                                    <a:solidFill>
                                      <a:schemeClr val="tx1">
                                        <a:lumMod val="90000"/>
                                        <a:lumOff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d>
                                  <m:dPr>
                                    <m:ctrlPr>
                                      <a:rPr lang="de-DE" i="1" smtClean="0">
                                        <a:solidFill>
                                          <a:schemeClr val="tx1">
                                            <a:lumMod val="90000"/>
                                            <a:lumOff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i="1" smtClean="0">
                                        <a:solidFill>
                                          <a:schemeClr val="tx1">
                                            <a:lumMod val="90000"/>
                                            <a:lumOff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sub>
                    </m:sSub>
                  </m:oMath>
                </a14:m>
                <a:endParaRPr lang="en-US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ru-RU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Ошибка: </a:t>
                </a:r>
                <a14:m>
                  <m:oMath xmlns:m="http://schemas.openxmlformats.org/officeDocument/2006/math">
                    <m:r>
                      <a:rPr lang="de-DE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de-DE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de-DE" i="1" smtClean="0">
                                    <a:solidFill>
                                      <a:schemeClr val="tx1">
                                        <a:lumMod val="90000"/>
                                        <a:lumOff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>
                                        <a:lumMod val="90000"/>
                                        <a:lumOff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de-DE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ru-RU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Порог аномальности: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  <m:r>
                      <a:rPr lang="en-US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𝑎𝑛𝑜𝑚𝑎𝑙𝑦</m:t>
                    </m:r>
                  </m:oMath>
                </a14:m>
                <a:endParaRPr lang="ru-RU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endParaRPr lang="ru-RU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ru-RU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Иногда используют усредненную ошибку по пикселям: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pt-BR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ctrlPr>
                          <a:rPr lang="pt-BR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i="1" smtClean="0">
                                    <a:solidFill>
                                      <a:schemeClr val="tx1">
                                        <a:lumMod val="90000"/>
                                        <a:lumOff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solidFill>
                                          <a:schemeClr val="tx1">
                                            <a:lumMod val="90000"/>
                                            <a:lumOff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smtClean="0">
                                        <a:solidFill>
                                          <a:schemeClr val="tx1">
                                            <a:lumMod val="90000"/>
                                            <a:lumOff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 smtClean="0">
                                        <a:solidFill>
                                          <a:schemeClr val="tx1">
                                            <a:lumMod val="90000"/>
                                            <a:lumOff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i="1" smtClean="0">
                                    <a:solidFill>
                                      <a:schemeClr val="tx1">
                                        <a:lumMod val="90000"/>
                                        <a:lumOff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pt-BR" i="1" smtClean="0">
                                        <a:solidFill>
                                          <a:schemeClr val="tx1">
                                            <a:lumMod val="90000"/>
                                            <a:lumOff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solidFill>
                                              <a:schemeClr val="tx1">
                                                <a:lumMod val="90000"/>
                                                <a:lumOff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solidFill>
                                              <a:schemeClr val="tx1">
                                                <a:lumMod val="90000"/>
                                                <a:lumOff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solidFill>
                                              <a:schemeClr val="tx1">
                                                <a:lumMod val="90000"/>
                                                <a:lumOff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pt-BR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ru-RU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endParaRPr lang="en-US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58140" y="1420493"/>
                <a:ext cx="11654790" cy="4792047"/>
              </a:xfrm>
              <a:blipFill>
                <a:blip r:embed="rId2"/>
                <a:stretch>
                  <a:fillRect l="-314" t="-382" b="-19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917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84645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420494"/>
            <a:ext cx="11666220" cy="526605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>
                <a:solidFill>
                  <a:schemeClr val="tx1">
                    <a:lumMod val="75000"/>
                    <a:lumOff val="25000"/>
                  </a:schemeClr>
                </a:solidFill>
              </a:rPr>
              <a:t>Промышленный ИИ представляет собой класс разнородных задач, постановка которых определяется типом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>
                <a:solidFill>
                  <a:schemeClr val="tx1">
                    <a:lumMod val="75000"/>
                    <a:lumOff val="25000"/>
                  </a:schemeClr>
                </a:solidFill>
              </a:rPr>
              <a:t>Выбор методов определяется структурой данных, требованиями к задержке и ценой ошибки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>
                <a:solidFill>
                  <a:schemeClr val="tx1">
                    <a:lumMod val="75000"/>
                    <a:lumOff val="25000"/>
                  </a:schemeClr>
                </a:solidFill>
              </a:rPr>
              <a:t>Промышленная среда усложняет разработку и внедрение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63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15380E-B557-4D90-8467-1BA85A2F1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44D7D-4E69-49E7-8690-AD14DA484B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>
                <a:solidFill>
                  <a:srgbClr val="9F2D2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Спасибо за внимание!</a:t>
            </a:r>
            <a:endParaRPr lang="ru-RU" sz="3600" dirty="0">
              <a:solidFill>
                <a:srgbClr val="9F2D2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D41718-795A-445B-97A3-38BFD94B01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Доклад подготовил: Кочетков Кирилл</a:t>
            </a:r>
          </a:p>
        </p:txBody>
      </p:sp>
    </p:spTree>
    <p:extLst>
      <p:ext uri="{BB962C8B-B14F-4D97-AF65-F5344CB8AC3E}">
        <p14:creationId xmlns:p14="http://schemas.microsoft.com/office/powerpoint/2010/main" val="3173449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11370</TotalTime>
  <Words>822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Open Sans</vt:lpstr>
      <vt:lpstr>Open Sans Extrabold</vt:lpstr>
      <vt:lpstr>Open Sans Light</vt:lpstr>
      <vt:lpstr>Segoe UI</vt:lpstr>
      <vt:lpstr>Тема Office</vt:lpstr>
      <vt:lpstr>ИИ в промышленности: типы решаемых задач и особенности применения</vt:lpstr>
      <vt:lpstr>Введение</vt:lpstr>
      <vt:lpstr>Отличие ИИ от цифровизации и автоматизации </vt:lpstr>
      <vt:lpstr>Классификация задач промышленного ИИ </vt:lpstr>
      <vt:lpstr>Временные ряды и предиктивное обслуживание оборудования </vt:lpstr>
      <vt:lpstr>Компьютерное зрение для контроля качества и мониторинга </vt:lpstr>
      <vt:lpstr>Кейс: IBM Maximo Visual Inspection*</vt:lpstr>
      <vt:lpstr>IBM: Классификация изображений</vt:lpstr>
      <vt:lpstr>IBM: Детекция дефектов</vt:lpstr>
      <vt:lpstr>IBM: Детекция аномалий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Kochetkov Kirill</cp:lastModifiedBy>
  <cp:revision>625</cp:revision>
  <dcterms:created xsi:type="dcterms:W3CDTF">2020-09-23T09:03:25Z</dcterms:created>
  <dcterms:modified xsi:type="dcterms:W3CDTF">2026-05-15T20:33:54Z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