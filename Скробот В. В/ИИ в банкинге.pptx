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62" r:id="rId6"/>
    <p:sldId id="334" r:id="rId7"/>
    <p:sldId id="355" r:id="rId8"/>
    <p:sldId id="356" r:id="rId9"/>
    <p:sldId id="358" r:id="rId10"/>
    <p:sldId id="359" r:id="rId11"/>
    <p:sldId id="361" r:id="rId12"/>
    <p:sldId id="365" r:id="rId13"/>
    <p:sldId id="366" r:id="rId14"/>
    <p:sldId id="368" r:id="rId15"/>
    <p:sldId id="364" r:id="rId16"/>
    <p:sldId id="363" r:id="rId17"/>
    <p:sldId id="36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6109466-D15F-4E40-9EF5-B451A39DE737}">
          <p14:sldIdLst>
            <p14:sldId id="256"/>
            <p14:sldId id="362"/>
            <p14:sldId id="334"/>
            <p14:sldId id="355"/>
            <p14:sldId id="356"/>
            <p14:sldId id="358"/>
            <p14:sldId id="359"/>
            <p14:sldId id="361"/>
            <p14:sldId id="365"/>
            <p14:sldId id="366"/>
            <p14:sldId id="368"/>
            <p14:sldId id="364"/>
            <p14:sldId id="363"/>
            <p14:sldId id="3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826"/>
    <a:srgbClr val="8FAADC"/>
    <a:srgbClr val="66A0D0"/>
    <a:srgbClr val="8C6E8E"/>
    <a:srgbClr val="AE6464"/>
    <a:srgbClr val="F8F1F1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43" autoAdjust="0"/>
    <p:restoredTop sz="94652" autoAdjust="0"/>
  </p:normalViewPr>
  <p:slideViewPr>
    <p:cSldViewPr snapToGrid="0">
      <p:cViewPr varScale="1">
        <p:scale>
          <a:sx n="86" d="100"/>
          <a:sy n="86" d="100"/>
        </p:scale>
        <p:origin x="250" y="216"/>
      </p:cViewPr>
      <p:guideLst>
        <p:guide orient="horz" pos="240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1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5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2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322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789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9282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918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429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797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1101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6789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9547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54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3146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73" r:id="rId4"/>
    <p:sldLayoutId id="2147483661" r:id="rId5"/>
    <p:sldLayoutId id="2147483674" r:id="rId6"/>
    <p:sldLayoutId id="2147483660" r:id="rId7"/>
    <p:sldLayoutId id="2147483675" r:id="rId8"/>
    <p:sldLayoutId id="2147483654" r:id="rId9"/>
    <p:sldLayoutId id="2147483664" r:id="rId10"/>
    <p:sldLayoutId id="2147483658" r:id="rId11"/>
    <p:sldLayoutId id="2147483655" r:id="rId12"/>
    <p:sldLayoutId id="2147483657" r:id="rId13"/>
    <p:sldLayoutId id="2147483663" r:id="rId14"/>
    <p:sldLayoutId id="2147483665" r:id="rId15"/>
    <p:sldLayoutId id="2147483670" r:id="rId16"/>
    <p:sldLayoutId id="2147483667" r:id="rId17"/>
    <p:sldLayoutId id="2147483677" r:id="rId18"/>
    <p:sldLayoutId id="2147483668" r:id="rId19"/>
    <p:sldLayoutId id="2147483669" r:id="rId20"/>
    <p:sldLayoutId id="214748367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305344-D381-4977-A435-C8740BF079CE}"/>
              </a:ext>
            </a:extLst>
          </p:cNvPr>
          <p:cNvSpPr/>
          <p:nvPr/>
        </p:nvSpPr>
        <p:spPr>
          <a:xfrm>
            <a:off x="1712804" y="4212406"/>
            <a:ext cx="9058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ИИ в сфере банкинга. Типы решаемых задач. Особенности</a:t>
            </a:r>
          </a:p>
        </p:txBody>
      </p:sp>
    </p:spTree>
    <p:extLst>
      <p:ext uri="{BB962C8B-B14F-4D97-AF65-F5344CB8AC3E}">
        <p14:creationId xmlns:p14="http://schemas.microsoft.com/office/powerpoint/2010/main" val="242467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ИИ в сфере банкинга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231264"/>
            <a:ext cx="11666220" cy="5187315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Искусственный интеллект уже стал неотъемлемой частью банковской деятельности. Если раньше банки экспериментировали с точечными решениями на основе ИИ, то сегодня крупнейшие игроки переходят к построению комплексных систем, где ИИ-агенты автономно выполняют сложные цепочки операций.</a:t>
            </a:r>
          </a:p>
          <a:p>
            <a:endParaRPr lang="ru-RU" sz="36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Однако масштабное внедрение ИИ сталкивается с серьёзными вызовами. Согласно исследованиям, 99% банков экспериментируют с ИИ, но только 3% смогли внедрить его в масштабах всей организации. Основные барьеры — </a:t>
            </a:r>
            <a:r>
              <a:rPr lang="ru-RU" sz="2400" dirty="0" err="1">
                <a:solidFill>
                  <a:schemeClr val="tx1"/>
                </a:solidFill>
              </a:rPr>
              <a:t>фрагментированность</a:t>
            </a:r>
            <a:r>
              <a:rPr lang="ru-RU" sz="2400" dirty="0">
                <a:solidFill>
                  <a:schemeClr val="tx1"/>
                </a:solidFill>
              </a:rPr>
              <a:t> данных (97% организаций сообщают о проблеме "разрозненных данных"), их низкое качество и неготовность инфраструктуры.</a:t>
            </a:r>
            <a:endParaRPr lang="ru-RU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2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Типы решаемых задач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231264"/>
            <a:ext cx="11666220" cy="5187315"/>
          </a:xfrm>
        </p:spPr>
        <p:txBody>
          <a:bodyPr/>
          <a:lstStyle/>
          <a:p>
            <a:r>
              <a:rPr lang="ru-RU" sz="2000" dirty="0">
                <a:solidFill>
                  <a:schemeClr val="tx1"/>
                </a:solidFill>
              </a:rPr>
              <a:t>•кредитный скоринг – оценка вероятности дефолта заёмщика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•</a:t>
            </a:r>
            <a:r>
              <a:rPr lang="ru-RU" sz="2000" dirty="0" err="1">
                <a:solidFill>
                  <a:schemeClr val="tx1"/>
                </a:solidFill>
              </a:rPr>
              <a:t>антифрод</a:t>
            </a:r>
            <a:r>
              <a:rPr lang="ru-RU" sz="2000" dirty="0">
                <a:solidFill>
                  <a:schemeClr val="tx1"/>
                </a:solidFill>
              </a:rPr>
              <a:t> – выявление мошеннических операций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•операционный ИИ – автоматизация бэк офиса</a:t>
            </a:r>
          </a:p>
          <a:p>
            <a:endParaRPr lang="ru-RU" sz="2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endParaRPr lang="ru-RU" sz="2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•чат-боты и голосовые помощники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•генерация персонализированных предложений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•биометрическая идентификация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6AA592-D4BC-49DF-A455-5361649BF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180" y="1909822"/>
            <a:ext cx="6883174" cy="371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7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Кредитный скоринг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64CD4F0-02D9-462B-88E0-30B63FE98E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05" y="3429000"/>
            <a:ext cx="6174128" cy="2960024"/>
          </a:xfr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358140" y="1231264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solidFill>
                  <a:schemeClr val="tx1"/>
                </a:solidFill>
              </a:rPr>
              <a:t>Деревья решений</a:t>
            </a:r>
            <a:r>
              <a:rPr lang="ru-RU" sz="2000" dirty="0">
                <a:solidFill>
                  <a:schemeClr val="tx1"/>
                </a:solidFill>
              </a:rPr>
              <a:t> и их разновидности (</a:t>
            </a:r>
            <a:r>
              <a:rPr lang="en-US" sz="2000" dirty="0">
                <a:solidFill>
                  <a:schemeClr val="tx1"/>
                </a:solidFill>
              </a:rPr>
              <a:t>Random Forest)</a:t>
            </a:r>
            <a:r>
              <a:rPr lang="ru-RU" sz="2000" dirty="0">
                <a:solidFill>
                  <a:schemeClr val="tx1"/>
                </a:solidFill>
              </a:rPr>
              <a:t>, (</a:t>
            </a:r>
            <a:r>
              <a:rPr lang="en-US" sz="2000" dirty="0" err="1">
                <a:solidFill>
                  <a:schemeClr val="tx1"/>
                </a:solidFill>
              </a:rPr>
              <a:t>XGBoost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LightGBM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CatBoost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r>
              <a:rPr lang="ru-RU" sz="2000" dirty="0">
                <a:solidFill>
                  <a:schemeClr val="tx1"/>
                </a:solidFill>
              </a:rPr>
              <a:t>. Однако ансамблевые модели сложнее интерпретировать. Поэтому банки активно внедряют </a:t>
            </a:r>
            <a:r>
              <a:rPr lang="en-US" sz="2000" dirty="0">
                <a:solidFill>
                  <a:schemeClr val="tx1"/>
                </a:solidFill>
              </a:rPr>
              <a:t>LLM.</a:t>
            </a:r>
            <a:endParaRPr lang="ru-RU" sz="2000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465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 err="1">
                <a:solidFill>
                  <a:srgbClr val="923826"/>
                </a:solidFill>
              </a:rPr>
              <a:t>Антифрод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358140" y="1231264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 err="1">
                <a:solidFill>
                  <a:schemeClr val="tx1"/>
                </a:solidFill>
              </a:rPr>
              <a:t>Графовые</a:t>
            </a:r>
            <a:r>
              <a:rPr lang="ru-RU" sz="2000" dirty="0">
                <a:solidFill>
                  <a:schemeClr val="tx1"/>
                </a:solidFill>
              </a:rPr>
              <a:t> нейронные сети </a:t>
            </a:r>
            <a:r>
              <a:rPr lang="en-US" sz="2000" dirty="0">
                <a:solidFill>
                  <a:schemeClr val="tx1"/>
                </a:solidFill>
              </a:rPr>
              <a:t>(GNN) </a:t>
            </a:r>
            <a:r>
              <a:rPr lang="ru-RU" sz="2000" dirty="0">
                <a:solidFill>
                  <a:schemeClr val="tx1"/>
                </a:solidFill>
              </a:rPr>
              <a:t>позволяют выявить мошеннические операции и «цепочки».</a:t>
            </a:r>
          </a:p>
          <a:p>
            <a:r>
              <a:rPr lang="ru-RU" sz="2000" dirty="0" err="1">
                <a:solidFill>
                  <a:schemeClr val="tx1"/>
                </a:solidFill>
              </a:rPr>
              <a:t>Автокодировщики</a:t>
            </a:r>
            <a:r>
              <a:rPr lang="ru-RU" sz="2000" dirty="0">
                <a:solidFill>
                  <a:schemeClr val="tx1"/>
                </a:solidFill>
              </a:rPr>
              <a:t> (</a:t>
            </a:r>
            <a:r>
              <a:rPr lang="ru-RU" sz="2000" dirty="0" err="1">
                <a:solidFill>
                  <a:schemeClr val="tx1"/>
                </a:solidFill>
              </a:rPr>
              <a:t>автоэнкодеры</a:t>
            </a:r>
            <a:r>
              <a:rPr lang="ru-RU" sz="2000" dirty="0">
                <a:solidFill>
                  <a:schemeClr val="tx1"/>
                </a:solidFill>
              </a:rPr>
              <a:t>) выявляют аномалии.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C172F0F-E3CB-413A-9728-100CD99163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0" y="3421754"/>
            <a:ext cx="6349206" cy="299682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A9F7CF7-E55A-4ED1-A114-D56ECB07C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815" y="1011763"/>
            <a:ext cx="5492446" cy="431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10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Автоматизация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358140" y="1231264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tx1"/>
                </a:solidFill>
              </a:rPr>
              <a:t>В марте 2026 года </a:t>
            </a:r>
            <a:r>
              <a:rPr lang="en-US" sz="1800" dirty="0">
                <a:solidFill>
                  <a:schemeClr val="tx1"/>
                </a:solidFill>
              </a:rPr>
              <a:t>Mastercard </a:t>
            </a:r>
            <a:r>
              <a:rPr lang="ru-RU" sz="1800" dirty="0">
                <a:solidFill>
                  <a:schemeClr val="tx1"/>
                </a:solidFill>
              </a:rPr>
              <a:t>представила</a:t>
            </a:r>
            <a:r>
              <a:rPr lang="en-US" sz="1800" dirty="0">
                <a:solidFill>
                  <a:schemeClr val="tx1"/>
                </a:solidFill>
              </a:rPr>
              <a:t> LTM</a:t>
            </a:r>
            <a:r>
              <a:rPr lang="ru-RU" sz="1800" dirty="0">
                <a:solidFill>
                  <a:schemeClr val="tx1"/>
                </a:solidFill>
              </a:rPr>
              <a:t>-генеративную модель, обученную на миллиардах </a:t>
            </a:r>
            <a:r>
              <a:rPr lang="ru-RU" sz="1800" dirty="0" err="1">
                <a:solidFill>
                  <a:schemeClr val="tx1"/>
                </a:solidFill>
              </a:rPr>
              <a:t>анонимизированных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транкзакциях</a:t>
            </a:r>
            <a:r>
              <a:rPr lang="ru-RU" sz="1800" dirty="0">
                <a:solidFill>
                  <a:schemeClr val="tx1"/>
                </a:solidFill>
              </a:rPr>
              <a:t>. В отличие от LLM, обученных на текстах, LTM анализирует отношения между строками и столбцами платёжных данных и предсказывает вероятность будущих транзакций в реальном времени. Это позволяет выявлять аномалии и сигналы риска в реальном времени, повышая точность обнаружения мошенничества и скорость принятия решений при авторизации платежей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DD2508-2263-4796-96F2-9FDF7C24B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277" y="2060293"/>
            <a:ext cx="4562355" cy="273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1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Автоматизация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403669" y="1616501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 err="1">
                <a:solidFill>
                  <a:schemeClr val="tx1"/>
                </a:solidFill>
              </a:rPr>
              <a:t>Revolut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совместно с </a:t>
            </a:r>
            <a:r>
              <a:rPr lang="en-US" sz="2000" dirty="0">
                <a:solidFill>
                  <a:schemeClr val="tx1"/>
                </a:solidFill>
              </a:rPr>
              <a:t>Nvidia</a:t>
            </a:r>
            <a:r>
              <a:rPr lang="ru-RU" sz="2000" dirty="0">
                <a:solidFill>
                  <a:schemeClr val="tx1"/>
                </a:solidFill>
              </a:rPr>
              <a:t> разработал семейство моделей PRAGMA на основе архитектуры </a:t>
            </a:r>
            <a:r>
              <a:rPr lang="ru-RU" sz="2000" dirty="0" err="1">
                <a:solidFill>
                  <a:schemeClr val="tx1"/>
                </a:solidFill>
              </a:rPr>
              <a:t>Transformer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dirty="0" err="1">
                <a:solidFill>
                  <a:schemeClr val="tx1"/>
                </a:solidFill>
              </a:rPr>
              <a:t>предобученных</a:t>
            </a:r>
            <a:r>
              <a:rPr lang="ru-RU" sz="2000" dirty="0">
                <a:solidFill>
                  <a:schemeClr val="tx1"/>
                </a:solidFill>
              </a:rPr>
              <a:t> на гетерогенных последовательностях банковских событий с использованием самоконтролируемого обучения. Модель поддерживает широкий спектр задач: кредитный скоринг, выявление мошенничества, прогнозирование пожизненной ценности клиента.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21A406-0DA2-4B63-95CC-917FAF079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370" y="2331720"/>
            <a:ext cx="600456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0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Взаимодействие с клиентами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403669" y="1616501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В этих задачах активно применяются </a:t>
            </a:r>
            <a:r>
              <a:rPr lang="en-US" dirty="0">
                <a:solidFill>
                  <a:schemeClr val="tx1"/>
                </a:solidFill>
              </a:rPr>
              <a:t>LLM</a:t>
            </a:r>
            <a:r>
              <a:rPr lang="ru-RU" dirty="0">
                <a:solidFill>
                  <a:schemeClr val="tx1"/>
                </a:solidFill>
              </a:rPr>
              <a:t> и ее более совершенный аналог – </a:t>
            </a:r>
            <a:r>
              <a:rPr lang="en-US" dirty="0">
                <a:solidFill>
                  <a:schemeClr val="tx1"/>
                </a:solidFill>
              </a:rPr>
              <a:t>RAG (Retrieval-Augmented Generation), </a:t>
            </a:r>
            <a:r>
              <a:rPr lang="ru-RU" dirty="0">
                <a:solidFill>
                  <a:schemeClr val="tx1"/>
                </a:solidFill>
              </a:rPr>
              <a:t>чтобы минимизировать галлюцинации (выдуманные факты) и давать точные ответы по продуктам и услугам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ru-RU" dirty="0">
                <a:solidFill>
                  <a:schemeClr val="tx1"/>
                </a:solidFill>
              </a:rPr>
              <a:t> Технически это реализуется так:</a:t>
            </a:r>
          </a:p>
          <a:p>
            <a:r>
              <a:rPr lang="ru-RU" dirty="0">
                <a:solidFill>
                  <a:schemeClr val="tx1"/>
                </a:solidFill>
              </a:rPr>
              <a:t>1. Векторизация</a:t>
            </a:r>
          </a:p>
          <a:p>
            <a:r>
              <a:rPr lang="ru-RU" dirty="0">
                <a:solidFill>
                  <a:schemeClr val="tx1"/>
                </a:solidFill>
              </a:rPr>
              <a:t>2. Семантический поиск</a:t>
            </a:r>
          </a:p>
          <a:p>
            <a:r>
              <a:rPr lang="ru-RU" dirty="0">
                <a:solidFill>
                  <a:schemeClr val="tx1"/>
                </a:solidFill>
              </a:rPr>
              <a:t>3. Генерация ответа</a:t>
            </a:r>
          </a:p>
          <a:p>
            <a:r>
              <a:rPr lang="ru-RU" dirty="0">
                <a:solidFill>
                  <a:schemeClr val="tx1"/>
                </a:solidFill>
              </a:rPr>
              <a:t>Они могут быть как внешними (</a:t>
            </a:r>
            <a:r>
              <a:rPr lang="en-US" dirty="0">
                <a:solidFill>
                  <a:schemeClr val="tx1"/>
                </a:solidFill>
              </a:rPr>
              <a:t>GPT-4, Gemini)</a:t>
            </a:r>
            <a:r>
              <a:rPr lang="ru-RU" dirty="0">
                <a:solidFill>
                  <a:schemeClr val="tx1"/>
                </a:solidFill>
              </a:rPr>
              <a:t>, так и собственной разработки. 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В голосовых же помощниках к этому добавляются ASR (распознавание речи, </a:t>
            </a:r>
            <a:r>
              <a:rPr lang="ru-RU" dirty="0" err="1">
                <a:solidFill>
                  <a:schemeClr val="tx1"/>
                </a:solidFill>
              </a:rPr>
              <a:t>Speech-to-Text</a:t>
            </a:r>
            <a:r>
              <a:rPr lang="ru-RU" dirty="0">
                <a:solidFill>
                  <a:schemeClr val="tx1"/>
                </a:solidFill>
              </a:rPr>
              <a:t>) и TTS (синтез речи, </a:t>
            </a:r>
            <a:r>
              <a:rPr lang="ru-RU" dirty="0" err="1">
                <a:solidFill>
                  <a:schemeClr val="tx1"/>
                </a:solidFill>
              </a:rPr>
              <a:t>Text-to-Speech</a:t>
            </a:r>
            <a:r>
              <a:rPr lang="ru-RU" dirty="0">
                <a:solidFill>
                  <a:schemeClr val="tx1"/>
                </a:solidFill>
              </a:rPr>
              <a:t>) . Архитектура часто строится как каскадная модель: звук -&gt; текст (ASR) -&gt; обработка смысла (NLP) -&gt; текст ответа -&gt; звук (TTS).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65CC8E-FA05-4C85-BBA1-88637E2B5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920" y="866775"/>
            <a:ext cx="523875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Взаимодействие с клиентами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403669" y="1616501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Однако современные ассистенты — это не один бот, а </a:t>
            </a:r>
            <a:r>
              <a:rPr lang="ru-RU" dirty="0" err="1">
                <a:solidFill>
                  <a:schemeClr val="tx1"/>
                </a:solidFill>
              </a:rPr>
              <a:t>мультиагентная</a:t>
            </a:r>
            <a:r>
              <a:rPr lang="ru-RU" dirty="0">
                <a:solidFill>
                  <a:schemeClr val="tx1"/>
                </a:solidFill>
              </a:rPr>
              <a:t> система. Специализированный «агент-маршрутизатор» (</a:t>
            </a:r>
            <a:r>
              <a:rPr lang="ru-RU" dirty="0" err="1">
                <a:solidFill>
                  <a:schemeClr val="tx1"/>
                </a:solidFill>
              </a:rPr>
              <a:t>Routing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agent</a:t>
            </a:r>
            <a:r>
              <a:rPr lang="ru-RU" dirty="0">
                <a:solidFill>
                  <a:schemeClr val="tx1"/>
                </a:solidFill>
              </a:rPr>
              <a:t>) анализирует запрос клиента и решает, какому «агенту-исполнителю» его передать. Помимо ответов на вопросы, такая система позволяет выполнить конкретные запросы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(проверить баланс, сделать перевод), взаимодействуя с внутренними API банка.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На данный момент </a:t>
            </a:r>
            <a:r>
              <a:rPr lang="ru-RU" dirty="0" err="1">
                <a:solidFill>
                  <a:schemeClr val="tx1"/>
                </a:solidFill>
              </a:rPr>
              <a:t>Сбер</a:t>
            </a:r>
            <a:r>
              <a:rPr lang="ru-RU" dirty="0">
                <a:solidFill>
                  <a:schemeClr val="tx1"/>
                </a:solidFill>
              </a:rPr>
              <a:t> разрабатывает Модель </a:t>
            </a:r>
            <a:r>
              <a:rPr lang="ru-RU" dirty="0" err="1">
                <a:solidFill>
                  <a:schemeClr val="tx1"/>
                </a:solidFill>
              </a:rPr>
              <a:t>GigaEmbeddings</a:t>
            </a:r>
            <a:r>
              <a:rPr lang="ru-RU" dirty="0">
                <a:solidFill>
                  <a:schemeClr val="tx1"/>
                </a:solidFill>
              </a:rPr>
              <a:t> на основе языковой модели GigaChat-3B.</a:t>
            </a:r>
          </a:p>
        </p:txBody>
      </p:sp>
    </p:spTree>
    <p:extLst>
      <p:ext uri="{BB962C8B-B14F-4D97-AF65-F5344CB8AC3E}">
        <p14:creationId xmlns:p14="http://schemas.microsoft.com/office/powerpoint/2010/main" val="23961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Взаимодействие с клиентами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687E34-9105-453C-97E2-7C2456247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85" y="1080135"/>
            <a:ext cx="10911690" cy="513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27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Персонализация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354330" y="1231265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Здесь прежде всего доминируют модели машинного обучения, а не </a:t>
            </a:r>
            <a:r>
              <a:rPr lang="en-US" dirty="0">
                <a:solidFill>
                  <a:schemeClr val="tx1"/>
                </a:solidFill>
              </a:rPr>
              <a:t>LLM. </a:t>
            </a:r>
            <a:r>
              <a:rPr lang="ru-RU" dirty="0">
                <a:solidFill>
                  <a:schemeClr val="tx1"/>
                </a:solidFill>
              </a:rPr>
              <a:t>Для </a:t>
            </a:r>
            <a:r>
              <a:rPr lang="ru-RU" dirty="0" err="1">
                <a:solidFill>
                  <a:schemeClr val="tx1"/>
                </a:solidFill>
              </a:rPr>
              <a:t>коллаборативной</a:t>
            </a:r>
            <a:r>
              <a:rPr lang="ru-RU" dirty="0">
                <a:solidFill>
                  <a:schemeClr val="tx1"/>
                </a:solidFill>
              </a:rPr>
              <a:t> и контентной фильтраций это как правило модели градиентного </a:t>
            </a:r>
            <a:r>
              <a:rPr lang="ru-RU" dirty="0" err="1">
                <a:solidFill>
                  <a:schemeClr val="tx1"/>
                </a:solidFill>
              </a:rPr>
              <a:t>бустинга</a:t>
            </a:r>
            <a:r>
              <a:rPr lang="ru-RU" dirty="0">
                <a:solidFill>
                  <a:schemeClr val="tx1"/>
                </a:solidFill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Ученые Т-Банка разработали метод SMMR (</a:t>
            </a:r>
            <a:r>
              <a:rPr lang="ru-RU" dirty="0" err="1">
                <a:solidFill>
                  <a:schemeClr val="tx1"/>
                </a:solidFill>
              </a:rPr>
              <a:t>Sampled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Maximal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Marginal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Relevance</a:t>
            </a:r>
            <a:r>
              <a:rPr lang="ru-RU" dirty="0">
                <a:solidFill>
                  <a:schemeClr val="tx1"/>
                </a:solidFill>
              </a:rPr>
              <a:t>), который формирует более разнообразные рекомендации, избегая «информационного пузыря» из однотипных предложений. Этот метод требует в 10-100 раз меньше итераций по сравнению с классическими подходами.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6E1A39-D14C-4993-8456-CE523E6F1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490" y="3521426"/>
            <a:ext cx="4172790" cy="31760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0DCFE5-4646-450A-B2FD-39B40D6AB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477" y="3521426"/>
            <a:ext cx="4078035" cy="333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5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rgbClr val="923826"/>
                </a:solidFill>
              </a:rPr>
              <a:t>Биометрическая идентификация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403669" y="1616501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Алгоритмы на основе нейронных сетей сравнивают биометрический слепок лица с эталоном, а также определить «живость» </a:t>
            </a:r>
            <a:r>
              <a:rPr lang="en-US" sz="2000" dirty="0">
                <a:solidFill>
                  <a:schemeClr val="tx1"/>
                </a:solidFill>
              </a:rPr>
              <a:t>(Liveness)</a:t>
            </a:r>
            <a:r>
              <a:rPr lang="ru-RU" sz="2000" dirty="0">
                <a:solidFill>
                  <a:schemeClr val="tx1"/>
                </a:solidFill>
              </a:rPr>
              <a:t>. В этих задачах все чаще применяются визуальные трансформеры, позволяющие эффективно обрабатывать изображения, учитывая как локальные, так и глобальные признаки.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51AD64-B7E9-4AEE-AA04-84E5009D6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803" y="1367080"/>
            <a:ext cx="5223528" cy="412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29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Проблемы ИИ в банкинге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403669" y="1616501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•</a:t>
            </a:r>
            <a:r>
              <a:rPr lang="ru-RU" b="1" dirty="0">
                <a:solidFill>
                  <a:schemeClr val="tx1"/>
                </a:solidFill>
              </a:rPr>
              <a:t>данные</a:t>
            </a:r>
            <a:r>
              <a:rPr lang="ru-RU" dirty="0">
                <a:solidFill>
                  <a:schemeClr val="tx1"/>
                </a:solidFill>
              </a:rPr>
              <a:t>: более 50% финорганизаций указывают, что разрозненные данные препятствуют принятию решений в реальном времени. подготовка данных для моделей может занимать месяцы, а само обучение – недели.</a:t>
            </a:r>
          </a:p>
          <a:p>
            <a:r>
              <a:rPr lang="ru-RU" dirty="0">
                <a:solidFill>
                  <a:schemeClr val="tx1"/>
                </a:solidFill>
              </a:rPr>
              <a:t>•</a:t>
            </a:r>
            <a:r>
              <a:rPr lang="ru-RU" b="1" dirty="0">
                <a:solidFill>
                  <a:schemeClr val="tx1"/>
                </a:solidFill>
              </a:rPr>
              <a:t>проблема черного ящика</a:t>
            </a:r>
            <a:r>
              <a:rPr lang="ru-RU" dirty="0">
                <a:solidFill>
                  <a:schemeClr val="tx1"/>
                </a:solidFill>
              </a:rPr>
              <a:t>: сложные ML-модели часто действуют непрозрачно, а ИИ-системы могут неосознанно воспроизводить исторические предубеждения в данных, приводя к дискриминации в кредитовании или ценообразовании.</a:t>
            </a:r>
          </a:p>
          <a:p>
            <a:r>
              <a:rPr lang="ru-RU" dirty="0">
                <a:solidFill>
                  <a:schemeClr val="tx1"/>
                </a:solidFill>
              </a:rPr>
              <a:t>•</a:t>
            </a:r>
            <a:r>
              <a:rPr lang="ru-RU" b="1" dirty="0">
                <a:solidFill>
                  <a:schemeClr val="tx1"/>
                </a:solidFill>
              </a:rPr>
              <a:t>регуляторные требования</a:t>
            </a:r>
            <a:r>
              <a:rPr lang="ru-RU" dirty="0">
                <a:solidFill>
                  <a:schemeClr val="tx1"/>
                </a:solidFill>
              </a:rPr>
              <a:t>: кодекс этики ЦБ РФ и европейский AI </a:t>
            </a:r>
            <a:r>
              <a:rPr lang="ru-RU" dirty="0" err="1">
                <a:solidFill>
                  <a:schemeClr val="tx1"/>
                </a:solidFill>
              </a:rPr>
              <a:t>Act</a:t>
            </a:r>
            <a:r>
              <a:rPr lang="ru-RU" dirty="0">
                <a:solidFill>
                  <a:schemeClr val="tx1"/>
                </a:solidFill>
              </a:rPr>
              <a:t> (вступает в силу с 2026 года) требуют от банков обеспечения прозрачности, справедливости и безопасности ИИ-решений, а также информирования клиентов об использовании ИИ.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•</a:t>
            </a:r>
            <a:r>
              <a:rPr lang="en-US" b="1" dirty="0">
                <a:solidFill>
                  <a:schemeClr val="tx1"/>
                </a:solidFill>
              </a:rPr>
              <a:t>ROI</a:t>
            </a:r>
            <a:r>
              <a:rPr lang="ru-RU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универсальной формулы расчета экономического эффекта от ИИ не существует. Многие компании (особенно небольшие) считают ИИ дорогой "игрушкой", которая требует затрат, сопоставимых с годовым ИТ-бюджетом.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CD81A1-FB17-4BD3-A563-67A281639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109" y="1981363"/>
            <a:ext cx="4545581" cy="289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8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Итоги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48FBBB-8D3B-47E7-A637-8F5E97477379}"/>
              </a:ext>
            </a:extLst>
          </p:cNvPr>
          <p:cNvSpPr txBox="1">
            <a:spLocks/>
          </p:cNvSpPr>
          <p:nvPr/>
        </p:nvSpPr>
        <p:spPr>
          <a:xfrm>
            <a:off x="403669" y="1616501"/>
            <a:ext cx="5692331" cy="5187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Но не смотря на это,</a:t>
            </a:r>
            <a:r>
              <a:rPr lang="ru-RU" b="1" dirty="0"/>
              <a:t> </a:t>
            </a:r>
            <a:r>
              <a:rPr lang="ru-RU" dirty="0">
                <a:solidFill>
                  <a:schemeClr val="tx1"/>
                </a:solidFill>
              </a:rPr>
              <a:t>ИИ в банкинге — это уже не эксперименты, а инфраструктурный слой. Переход от точечных моделей к </a:t>
            </a:r>
            <a:r>
              <a:rPr lang="ru-RU" dirty="0" err="1">
                <a:solidFill>
                  <a:schemeClr val="tx1"/>
                </a:solidFill>
              </a:rPr>
              <a:t>агентным</a:t>
            </a:r>
            <a:r>
              <a:rPr lang="ru-RU" dirty="0">
                <a:solidFill>
                  <a:schemeClr val="tx1"/>
                </a:solidFill>
              </a:rPr>
              <a:t> системам, способным автономно выполнять сложные цепочки задач, стал главным трендом 2025–2026 годов. Экономический эффект от внедрения измеряется десятками миллиардов рублей.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89828D-339F-44FB-820C-EEC921EC5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630" y="1616501"/>
            <a:ext cx="5768512" cy="324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594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11201</TotalTime>
  <Words>804</Words>
  <Application>Microsoft Office PowerPoint</Application>
  <PresentationFormat>Широкоэкранный</PresentationFormat>
  <Paragraphs>42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Open Sans</vt:lpstr>
      <vt:lpstr>Open Sans Extrabold</vt:lpstr>
      <vt:lpstr>Open Sans Light</vt:lpstr>
      <vt:lpstr>Тема Office</vt:lpstr>
      <vt:lpstr>Презентация PowerPoint</vt:lpstr>
      <vt:lpstr>ИИ в сфере банкинга</vt:lpstr>
      <vt:lpstr>Типы решаемых задач</vt:lpstr>
      <vt:lpstr>Кредитный скоринг</vt:lpstr>
      <vt:lpstr>Антифрод</vt:lpstr>
      <vt:lpstr>Автоматизация</vt:lpstr>
      <vt:lpstr>Автоматизация</vt:lpstr>
      <vt:lpstr>Взаимодействие с клиентами</vt:lpstr>
      <vt:lpstr>Взаимодействие с клиентами</vt:lpstr>
      <vt:lpstr>Взаимодействие с клиентами</vt:lpstr>
      <vt:lpstr>Персонализация</vt:lpstr>
      <vt:lpstr>Биометрическая идентификация</vt:lpstr>
      <vt:lpstr>Проблемы ИИ в банкинге</vt:lpstr>
      <vt:lpstr>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Скробот Василий</cp:lastModifiedBy>
  <cp:revision>627</cp:revision>
  <dcterms:created xsi:type="dcterms:W3CDTF">2020-09-23T09:03:25Z</dcterms:created>
  <dcterms:modified xsi:type="dcterms:W3CDTF">2026-04-18T09:52:09Z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