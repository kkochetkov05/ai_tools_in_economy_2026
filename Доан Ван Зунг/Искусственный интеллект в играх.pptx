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PT Serif"/>
      <p:regular r:id="rId13"/>
      <p:bold r:id="rId14"/>
      <p:italic r:id="rId15"/>
      <p:boldItalic r:id="rId16"/>
    </p:embeddedFont>
    <p:embeddedFont>
      <p:font typeface="DM Sans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TSerif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TSerif-italic.fntdata"/><Relationship Id="rId14" Type="http://schemas.openxmlformats.org/officeDocument/2006/relationships/font" Target="fonts/PTSerif-bold.fntdata"/><Relationship Id="rId17" Type="http://schemas.openxmlformats.org/officeDocument/2006/relationships/font" Target="fonts/DMSans-regular.fntdata"/><Relationship Id="rId16" Type="http://schemas.openxmlformats.org/officeDocument/2006/relationships/font" Target="fonts/PTSerif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italic.fntdata"/><Relationship Id="rId6" Type="http://schemas.openxmlformats.org/officeDocument/2006/relationships/slide" Target="slides/slide1.xml"/><Relationship Id="rId18" Type="http://schemas.openxmlformats.org/officeDocument/2006/relationships/font" Target="fonts/DM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" name="Google Shape;3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e089998101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g3e089998101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089998101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089998101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e089998101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e089998101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e089998101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e089998101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089998101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e089998101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e089998101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e089998101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1597819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5E7076"/>
              </a:buClr>
              <a:buSzPts val="4400"/>
              <a:buFont typeface="Calibri"/>
              <a:buNone/>
              <a:defRPr>
                <a:solidFill>
                  <a:srgbClr val="5E707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403648" y="2859782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5E7076"/>
              </a:buClr>
              <a:buSzPts val="3200"/>
              <a:buNone/>
              <a:defRPr>
                <a:solidFill>
                  <a:srgbClr val="5E7076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/>
        </p:nvSpPr>
        <p:spPr>
          <a:xfrm>
            <a:off x="380057" y="4587974"/>
            <a:ext cx="10719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ru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spbu.ru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Рабочий слайд с фотографией">
  <p:cSld name="1_Рабочий слайд с фотографией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323528" y="267494"/>
            <a:ext cx="36108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953734"/>
              </a:buClr>
              <a:buSzPts val="2800"/>
              <a:buFont typeface="Calibri"/>
              <a:buNone/>
              <a:defRPr sz="2800">
                <a:solidFill>
                  <a:srgbClr val="95373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395536" y="4659982"/>
            <a:ext cx="15123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l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l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l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l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l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l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l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l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8" name="Google Shape;18;p3"/>
          <p:cNvSpPr txBox="1"/>
          <p:nvPr/>
        </p:nvSpPr>
        <p:spPr>
          <a:xfrm>
            <a:off x="7956376" y="4587974"/>
            <a:ext cx="10719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spbu.ru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323527" y="1419622"/>
            <a:ext cx="8704800" cy="30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480"/>
              </a:spcBef>
              <a:spcAft>
                <a:spcPts val="0"/>
              </a:spcAft>
              <a:buClr>
                <a:srgbClr val="5E7076"/>
              </a:buClr>
              <a:buSzPts val="2400"/>
              <a:buNone/>
              <a:defRPr sz="2400">
                <a:solidFill>
                  <a:srgbClr val="5E7076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2" type="body"/>
          </p:nvPr>
        </p:nvSpPr>
        <p:spPr>
          <a:xfrm>
            <a:off x="323247" y="833064"/>
            <a:ext cx="87051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60"/>
              </a:spcBef>
              <a:spcAft>
                <a:spcPts val="0"/>
              </a:spcAft>
              <a:buClr>
                <a:srgbClr val="5E7076"/>
              </a:buClr>
              <a:buSzPts val="2800"/>
              <a:buNone/>
              <a:defRPr b="1" sz="2800">
                <a:solidFill>
                  <a:srgbClr val="5E7076"/>
                </a:solidFill>
              </a:defRPr>
            </a:lvl1pPr>
            <a:lvl2pPr indent="-2286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бочий слайд с фотографией">
  <p:cSld name="Рабочий слайд с фотографией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323528" y="267494"/>
            <a:ext cx="36108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953734"/>
              </a:buClr>
              <a:buSzPts val="2800"/>
              <a:buFont typeface="Calibri"/>
              <a:buNone/>
              <a:defRPr sz="2800">
                <a:solidFill>
                  <a:srgbClr val="95373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395536" y="4659982"/>
            <a:ext cx="15123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l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l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l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l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l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l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l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l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4"/>
          <p:cNvSpPr txBox="1"/>
          <p:nvPr/>
        </p:nvSpPr>
        <p:spPr>
          <a:xfrm>
            <a:off x="7956376" y="4587974"/>
            <a:ext cx="10719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spbu.ru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323528" y="1059582"/>
            <a:ext cx="4038600" cy="33123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>
                <a:solidFill>
                  <a:schemeClr val="lt1"/>
                </a:solidFill>
              </a:defRPr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6" name="Google Shape;26;p4"/>
          <p:cNvSpPr txBox="1"/>
          <p:nvPr>
            <p:ph idx="2" type="subTitle"/>
          </p:nvPr>
        </p:nvSpPr>
        <p:spPr>
          <a:xfrm>
            <a:off x="4572000" y="1059582"/>
            <a:ext cx="4320600" cy="3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360"/>
              </a:spcBef>
              <a:spcAft>
                <a:spcPts val="0"/>
              </a:spcAft>
              <a:buClr>
                <a:srgbClr val="5E7076"/>
              </a:buClr>
              <a:buSzPts val="1800"/>
              <a:buNone/>
              <a:defRPr sz="1800">
                <a:solidFill>
                  <a:srgbClr val="5E7076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большой фотографией">
  <p:cSld name="Слайд с большой фотографией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idx="1" type="body"/>
          </p:nvPr>
        </p:nvSpPr>
        <p:spPr>
          <a:xfrm>
            <a:off x="0" y="1059582"/>
            <a:ext cx="9144000" cy="4083900"/>
          </a:xfrm>
          <a:prstGeom prst="rect">
            <a:avLst/>
          </a:prstGeom>
          <a:solidFill>
            <a:srgbClr val="BFBFBF"/>
          </a:solidFill>
          <a:ln cap="flat" cmpd="sng" w="9525">
            <a:solidFill>
              <a:srgbClr val="000000">
                <a:alpha val="2117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>
                <a:solidFill>
                  <a:schemeClr val="lt1"/>
                </a:solidFill>
              </a:defRPr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9" name="Google Shape;29;p5"/>
          <p:cNvSpPr txBox="1"/>
          <p:nvPr>
            <p:ph type="title"/>
          </p:nvPr>
        </p:nvSpPr>
        <p:spPr>
          <a:xfrm>
            <a:off x="323528" y="267494"/>
            <a:ext cx="36108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953734"/>
              </a:buClr>
              <a:buSzPts val="2800"/>
              <a:buFont typeface="Calibri"/>
              <a:buNone/>
              <a:defRPr sz="2800">
                <a:solidFill>
                  <a:srgbClr val="95373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/>
          <p:nvPr/>
        </p:nvSpPr>
        <p:spPr>
          <a:xfrm>
            <a:off x="323528" y="4299942"/>
            <a:ext cx="8820600" cy="504000"/>
          </a:xfrm>
          <a:prstGeom prst="rect">
            <a:avLst/>
          </a:prstGeom>
          <a:solidFill>
            <a:srgbClr val="FFFFFF">
              <a:alpha val="5686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5"/>
          <p:cNvSpPr txBox="1"/>
          <p:nvPr>
            <p:ph idx="2" type="subTitle"/>
          </p:nvPr>
        </p:nvSpPr>
        <p:spPr>
          <a:xfrm>
            <a:off x="323528" y="4316113"/>
            <a:ext cx="86409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360"/>
              </a:spcBef>
              <a:spcAft>
                <a:spcPts val="0"/>
              </a:spcAft>
              <a:buClr>
                <a:srgbClr val="5E7076"/>
              </a:buClr>
              <a:buSzPts val="1800"/>
              <a:buNone/>
              <a:defRPr sz="1800">
                <a:solidFill>
                  <a:srgbClr val="5E7076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крывающий слайд">
  <p:cSld name="Закрывающий слайд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/>
        </p:nvSpPr>
        <p:spPr>
          <a:xfrm>
            <a:off x="380057" y="4587974"/>
            <a:ext cx="10719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spbu.ru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6"/>
          <p:cNvSpPr txBox="1"/>
          <p:nvPr>
            <p:ph idx="1" type="subTitle"/>
          </p:nvPr>
        </p:nvSpPr>
        <p:spPr>
          <a:xfrm>
            <a:off x="323528" y="1131590"/>
            <a:ext cx="85689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360"/>
              </a:spcBef>
              <a:spcAft>
                <a:spcPts val="0"/>
              </a:spcAft>
              <a:buClr>
                <a:srgbClr val="5E7076"/>
              </a:buClr>
              <a:buSzPts val="1800"/>
              <a:buNone/>
              <a:defRPr sz="1800">
                <a:solidFill>
                  <a:srgbClr val="5E7076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type="title"/>
          </p:nvPr>
        </p:nvSpPr>
        <p:spPr>
          <a:xfrm>
            <a:off x="323528" y="267494"/>
            <a:ext cx="36108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953734"/>
              </a:buClr>
              <a:buSzPts val="2800"/>
              <a:buFont typeface="Calibri"/>
              <a:buNone/>
              <a:defRPr sz="2800">
                <a:solidFill>
                  <a:srgbClr val="95373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0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200151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/>
          <p:nvPr>
            <p:ph type="ctrTitle"/>
          </p:nvPr>
        </p:nvSpPr>
        <p:spPr>
          <a:xfrm>
            <a:off x="685800" y="1597819"/>
            <a:ext cx="7772400" cy="1102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990"/>
              <a:buFont typeface="PT Serif"/>
              <a:buNone/>
            </a:pPr>
            <a:r>
              <a:rPr lang="ru" sz="3585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Искусственный интеллект в играх</a:t>
            </a:r>
            <a:endParaRPr sz="2985"/>
          </a:p>
        </p:txBody>
      </p:sp>
      <p:sp>
        <p:nvSpPr>
          <p:cNvPr id="41" name="Google Shape;41;p7"/>
          <p:cNvSpPr txBox="1"/>
          <p:nvPr>
            <p:ph idx="1" type="subTitle"/>
          </p:nvPr>
        </p:nvSpPr>
        <p:spPr>
          <a:xfrm>
            <a:off x="1403648" y="2859782"/>
            <a:ext cx="6400800" cy="1314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50"/>
              <a:buFont typeface="DM Sans"/>
              <a:buNone/>
            </a:pPr>
            <a:r>
              <a:rPr lang="ru" sz="17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От простых скриптов — к нейросетям и обучению с подкреплением. Какие задачи решает современный игровой ИИ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323528" y="267494"/>
            <a:ext cx="3610800" cy="421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Поведение персонажей</a:t>
            </a:r>
            <a:endParaRPr sz="900"/>
          </a:p>
        </p:txBody>
      </p:sp>
      <p:sp>
        <p:nvSpPr>
          <p:cNvPr id="47" name="Google Shape;47;p8"/>
          <p:cNvSpPr txBox="1"/>
          <p:nvPr>
            <p:ph idx="1" type="subTitle"/>
          </p:nvPr>
        </p:nvSpPr>
        <p:spPr>
          <a:xfrm>
            <a:off x="10173277" y="2368472"/>
            <a:ext cx="8704800" cy="3024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8"/>
          <p:cNvSpPr txBox="1"/>
          <p:nvPr>
            <p:ph idx="2" type="body"/>
          </p:nvPr>
        </p:nvSpPr>
        <p:spPr>
          <a:xfrm>
            <a:off x="11148547" y="408550"/>
            <a:ext cx="1335000" cy="586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8"/>
          <p:cNvSpPr/>
          <p:nvPr/>
        </p:nvSpPr>
        <p:spPr>
          <a:xfrm>
            <a:off x="339810" y="833072"/>
            <a:ext cx="5493000" cy="1307400"/>
          </a:xfrm>
          <a:prstGeom prst="roundRect">
            <a:avLst>
              <a:gd fmla="val 5979" name="adj"/>
            </a:avLst>
          </a:prstGeom>
          <a:solidFill>
            <a:srgbClr val="FFFFFF"/>
          </a:solidFill>
          <a:ln cap="flat" cmpd="sng" w="16275">
            <a:solidFill>
              <a:srgbClr val="D8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125" lIns="65125" spcFirstLastPara="1" rIns="65125" wrap="square" tIns="65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97"/>
          </a:p>
        </p:txBody>
      </p:sp>
      <p:sp>
        <p:nvSpPr>
          <p:cNvPr id="50" name="Google Shape;50;p8"/>
          <p:cNvSpPr/>
          <p:nvPr/>
        </p:nvSpPr>
        <p:spPr>
          <a:xfrm>
            <a:off x="323526" y="833072"/>
            <a:ext cx="65100" cy="1307400"/>
          </a:xfrm>
          <a:prstGeom prst="roundRect">
            <a:avLst>
              <a:gd fmla="val 33572" name="adj"/>
            </a:avLst>
          </a:prstGeom>
          <a:solidFill>
            <a:srgbClr val="E04F00"/>
          </a:solidFill>
          <a:ln>
            <a:noFill/>
          </a:ln>
        </p:spPr>
        <p:txBody>
          <a:bodyPr anchorCtr="0" anchor="ctr" bIns="65125" lIns="65125" spcFirstLastPara="1" rIns="65125" wrap="square" tIns="65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8"/>
          <p:cNvSpPr/>
          <p:nvPr/>
        </p:nvSpPr>
        <p:spPr>
          <a:xfrm>
            <a:off x="550645" y="995058"/>
            <a:ext cx="2883900" cy="2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496"/>
              <a:buFont typeface="PT Serif"/>
              <a:buNone/>
            </a:pPr>
            <a:r>
              <a:rPr lang="ru" sz="1496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Обучение с подкреплением (RL)</a:t>
            </a:r>
            <a:endParaRPr sz="149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8"/>
          <p:cNvSpPr/>
          <p:nvPr/>
        </p:nvSpPr>
        <p:spPr>
          <a:xfrm>
            <a:off x="550645" y="1313094"/>
            <a:ext cx="51201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3125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140"/>
              <a:buFont typeface="DM Sans"/>
              <a:buNone/>
            </a:pPr>
            <a:r>
              <a:rPr lang="ru" sz="114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Агент учится через опыт: действие → награда/штраф → улучшение стратегии. </a:t>
            </a:r>
            <a:r>
              <a:rPr b="1" lang="ru" sz="114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OpenAI Five</a:t>
            </a:r>
            <a:r>
              <a:rPr lang="ru" sz="114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победила профессионалов в Dota 2, </a:t>
            </a:r>
            <a:r>
              <a:rPr b="1" lang="ru" sz="114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AlphaStar</a:t>
            </a:r>
            <a:r>
              <a:rPr lang="ru" sz="114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— грандмастеров в StarCraft II, открыв стратегии, неизвестные людям.</a:t>
            </a:r>
            <a:endParaRPr sz="114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8"/>
          <p:cNvSpPr/>
          <p:nvPr/>
        </p:nvSpPr>
        <p:spPr>
          <a:xfrm>
            <a:off x="339810" y="2271866"/>
            <a:ext cx="5493000" cy="1085700"/>
          </a:xfrm>
          <a:prstGeom prst="roundRect">
            <a:avLst>
              <a:gd fmla="val 7200" name="adj"/>
            </a:avLst>
          </a:prstGeom>
          <a:solidFill>
            <a:srgbClr val="FFFFFF"/>
          </a:solidFill>
          <a:ln cap="flat" cmpd="sng" w="16275">
            <a:solidFill>
              <a:srgbClr val="D8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125" lIns="65125" spcFirstLastPara="1" rIns="65125" wrap="square" tIns="65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8"/>
          <p:cNvSpPr/>
          <p:nvPr/>
        </p:nvSpPr>
        <p:spPr>
          <a:xfrm>
            <a:off x="323526" y="2271866"/>
            <a:ext cx="65100" cy="1085700"/>
          </a:xfrm>
          <a:prstGeom prst="roundRect">
            <a:avLst>
              <a:gd fmla="val 33572" name="adj"/>
            </a:avLst>
          </a:prstGeom>
          <a:solidFill>
            <a:srgbClr val="E04F00"/>
          </a:solidFill>
          <a:ln>
            <a:noFill/>
          </a:ln>
        </p:spPr>
        <p:txBody>
          <a:bodyPr anchorCtr="0" anchor="ctr" bIns="65125" lIns="65125" spcFirstLastPara="1" rIns="65125" wrap="square" tIns="65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8"/>
          <p:cNvSpPr/>
          <p:nvPr/>
        </p:nvSpPr>
        <p:spPr>
          <a:xfrm>
            <a:off x="550645" y="2433853"/>
            <a:ext cx="2250900" cy="2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496"/>
              <a:buFont typeface="PT Serif"/>
              <a:buNone/>
            </a:pPr>
            <a:r>
              <a:rPr lang="ru" sz="1496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Имитационное обучение</a:t>
            </a:r>
            <a:endParaRPr sz="149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8"/>
          <p:cNvSpPr/>
          <p:nvPr/>
        </p:nvSpPr>
        <p:spPr>
          <a:xfrm>
            <a:off x="550645" y="2751888"/>
            <a:ext cx="51201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3125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140"/>
              <a:buFont typeface="DM Sans"/>
              <a:buNone/>
            </a:pPr>
            <a:r>
              <a:rPr lang="ru" sz="114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Агент сначала копирует поведение человека, затем улучшается через RL. Именно так обучался AlphaStar на начальном этапе.</a:t>
            </a:r>
            <a:endParaRPr sz="114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8"/>
          <p:cNvSpPr/>
          <p:nvPr/>
        </p:nvSpPr>
        <p:spPr>
          <a:xfrm>
            <a:off x="339810" y="3488884"/>
            <a:ext cx="5493000" cy="1085700"/>
          </a:xfrm>
          <a:prstGeom prst="roundRect">
            <a:avLst>
              <a:gd fmla="val 7200" name="adj"/>
            </a:avLst>
          </a:prstGeom>
          <a:solidFill>
            <a:srgbClr val="FFFFFF"/>
          </a:solidFill>
          <a:ln cap="flat" cmpd="sng" w="16275">
            <a:solidFill>
              <a:srgbClr val="D8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125" lIns="65125" spcFirstLastPara="1" rIns="65125" wrap="square" tIns="65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8"/>
          <p:cNvSpPr/>
          <p:nvPr/>
        </p:nvSpPr>
        <p:spPr>
          <a:xfrm>
            <a:off x="323526" y="3488884"/>
            <a:ext cx="65100" cy="1085700"/>
          </a:xfrm>
          <a:prstGeom prst="roundRect">
            <a:avLst>
              <a:gd fmla="val 33572" name="adj"/>
            </a:avLst>
          </a:prstGeom>
          <a:solidFill>
            <a:srgbClr val="E04F00"/>
          </a:solidFill>
          <a:ln>
            <a:noFill/>
          </a:ln>
        </p:spPr>
        <p:txBody>
          <a:bodyPr anchorCtr="0" anchor="ctr" bIns="65125" lIns="65125" spcFirstLastPara="1" rIns="65125" wrap="square" tIns="65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8"/>
          <p:cNvSpPr/>
          <p:nvPr/>
        </p:nvSpPr>
        <p:spPr>
          <a:xfrm>
            <a:off x="550645" y="3650870"/>
            <a:ext cx="2265000" cy="2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496"/>
              <a:buFont typeface="PT Serif"/>
              <a:buNone/>
            </a:pPr>
            <a:r>
              <a:rPr lang="ru" sz="1496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Адаптивные противники</a:t>
            </a:r>
            <a:endParaRPr sz="149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8"/>
          <p:cNvSpPr/>
          <p:nvPr/>
        </p:nvSpPr>
        <p:spPr>
          <a:xfrm>
            <a:off x="550645" y="3968906"/>
            <a:ext cx="51201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3125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140"/>
              <a:buFont typeface="DM Sans"/>
              <a:buNone/>
            </a:pPr>
            <a:r>
              <a:rPr lang="ru" sz="114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ИИ анализирует стиль конкретного игрока и подстраивается. Уже применяется в спортивных симуляторах и файтингах.</a:t>
            </a:r>
            <a:endParaRPr sz="114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1" name="Google Shape;6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88875" y="780925"/>
            <a:ext cx="3055124" cy="384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 txBox="1"/>
          <p:nvPr>
            <p:ph type="title"/>
          </p:nvPr>
        </p:nvSpPr>
        <p:spPr>
          <a:xfrm>
            <a:off x="323523" y="267500"/>
            <a:ext cx="6418800" cy="421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Адаптивная сложность</a:t>
            </a:r>
            <a:endParaRPr sz="2100"/>
          </a:p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13144927" y="1942547"/>
            <a:ext cx="8704800" cy="3024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 flipH="1">
            <a:off x="11755172" y="730375"/>
            <a:ext cx="907500" cy="586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9" name="Google Shape;6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525" y="788350"/>
            <a:ext cx="4469110" cy="2883014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9"/>
          <p:cNvSpPr/>
          <p:nvPr/>
        </p:nvSpPr>
        <p:spPr>
          <a:xfrm>
            <a:off x="323526" y="3193161"/>
            <a:ext cx="50886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1"/>
              <a:buFont typeface="Calibri"/>
              <a:buNone/>
            </a:pPr>
            <a:r>
              <a:t/>
            </a:r>
            <a:endParaRPr sz="77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9"/>
          <p:cNvSpPr/>
          <p:nvPr/>
        </p:nvSpPr>
        <p:spPr>
          <a:xfrm>
            <a:off x="4627475" y="1551450"/>
            <a:ext cx="3337200" cy="4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8571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1660"/>
              <a:buFont typeface="PT Serif"/>
              <a:buNone/>
            </a:pPr>
            <a:r>
              <a:rPr lang="ru" sz="1660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Dynamic Difficulty Adjustment (DDA)</a:t>
            </a:r>
            <a:endParaRPr sz="166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9"/>
          <p:cNvSpPr/>
          <p:nvPr/>
        </p:nvSpPr>
        <p:spPr>
          <a:xfrm>
            <a:off x="4627474" y="2011024"/>
            <a:ext cx="2625600" cy="2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771"/>
              <a:buFont typeface="DM Sans"/>
              <a:buNone/>
            </a:pPr>
            <a:r>
              <a:rPr lang="ru" sz="771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Непрерывная адаптация в реальном времени — не просто выбор уровня сложности.</a:t>
            </a:r>
            <a:endParaRPr sz="77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9"/>
          <p:cNvSpPr/>
          <p:nvPr/>
        </p:nvSpPr>
        <p:spPr>
          <a:xfrm>
            <a:off x="323526" y="3721298"/>
            <a:ext cx="4209600" cy="761100"/>
          </a:xfrm>
          <a:prstGeom prst="roundRect">
            <a:avLst>
              <a:gd fmla="val 2174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54200" lIns="54200" spcFirstLastPara="1" rIns="54200" wrap="square" tIns="54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9"/>
          <p:cNvSpPr/>
          <p:nvPr/>
        </p:nvSpPr>
        <p:spPr>
          <a:xfrm>
            <a:off x="431974" y="3831509"/>
            <a:ext cx="1603500" cy="1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037"/>
              <a:buFont typeface="PT Serif"/>
              <a:buNone/>
            </a:pPr>
            <a:r>
              <a:rPr lang="ru" sz="1037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Left 4 Dead — AI Director</a:t>
            </a:r>
            <a:endParaRPr sz="103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9"/>
          <p:cNvSpPr/>
          <p:nvPr/>
        </p:nvSpPr>
        <p:spPr>
          <a:xfrm>
            <a:off x="431974" y="4062346"/>
            <a:ext cx="39927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771"/>
              <a:buFont typeface="DM Sans"/>
              <a:buNone/>
            </a:pPr>
            <a:r>
              <a:rPr lang="ru" sz="771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Отслеживает стресс игроков (здоровье, патроны, темп) и управляет волнами врагов.</a:t>
            </a:r>
            <a:endParaRPr sz="77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9"/>
          <p:cNvSpPr/>
          <p:nvPr/>
        </p:nvSpPr>
        <p:spPr>
          <a:xfrm>
            <a:off x="4615091" y="3721298"/>
            <a:ext cx="4209600" cy="761100"/>
          </a:xfrm>
          <a:prstGeom prst="roundRect">
            <a:avLst>
              <a:gd fmla="val 2174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54200" lIns="54200" spcFirstLastPara="1" rIns="54200" wrap="square" tIns="54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9"/>
          <p:cNvSpPr/>
          <p:nvPr/>
        </p:nvSpPr>
        <p:spPr>
          <a:xfrm>
            <a:off x="4723539" y="3831509"/>
            <a:ext cx="1433400" cy="1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037"/>
              <a:buFont typeface="PT Serif"/>
              <a:buNone/>
            </a:pPr>
            <a:r>
              <a:rPr lang="ru" sz="1037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Resident Evil и другие</a:t>
            </a:r>
            <a:endParaRPr sz="103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9"/>
          <p:cNvSpPr/>
          <p:nvPr/>
        </p:nvSpPr>
        <p:spPr>
          <a:xfrm>
            <a:off x="4723539" y="4062346"/>
            <a:ext cx="39927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771"/>
              <a:buFont typeface="DM Sans"/>
              <a:buNone/>
            </a:pPr>
            <a:r>
              <a:rPr lang="ru" sz="771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ML-модели предсказывают, когда игрок близок к тому, чтобы бросить игру, и незаметно облегчают ситуацию.</a:t>
            </a:r>
            <a:endParaRPr sz="77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0"/>
          <p:cNvSpPr txBox="1"/>
          <p:nvPr>
            <p:ph type="title"/>
          </p:nvPr>
        </p:nvSpPr>
        <p:spPr>
          <a:xfrm>
            <a:off x="323523" y="267500"/>
            <a:ext cx="5781600" cy="421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Генерация контента с помощью </a:t>
            </a: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ML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" name="Google Shape;84;p10"/>
          <p:cNvSpPr txBox="1"/>
          <p:nvPr>
            <p:ph idx="1" type="subTitle"/>
          </p:nvPr>
        </p:nvSpPr>
        <p:spPr>
          <a:xfrm>
            <a:off x="12451027" y="992122"/>
            <a:ext cx="8704800" cy="3024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0"/>
          <p:cNvSpPr txBox="1"/>
          <p:nvPr>
            <p:ph idx="2" type="body"/>
          </p:nvPr>
        </p:nvSpPr>
        <p:spPr>
          <a:xfrm>
            <a:off x="12795747" y="765564"/>
            <a:ext cx="8705100" cy="586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6" name="Google Shape;8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5325" y="1644800"/>
            <a:ext cx="302751" cy="34139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0"/>
          <p:cNvSpPr/>
          <p:nvPr/>
        </p:nvSpPr>
        <p:spPr>
          <a:xfrm>
            <a:off x="385325" y="2199526"/>
            <a:ext cx="27756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31"/>
              <a:buFont typeface="PT Serif"/>
              <a:buNone/>
            </a:pPr>
            <a:r>
              <a:rPr lang="ru" sz="1731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GAN и диффузионные модели</a:t>
            </a:r>
            <a:endParaRPr sz="173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0"/>
          <p:cNvSpPr/>
          <p:nvPr/>
        </p:nvSpPr>
        <p:spPr>
          <a:xfrm>
            <a:off x="385325" y="2861955"/>
            <a:ext cx="27756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317"/>
              <a:buFont typeface="DM Sans"/>
              <a:buNone/>
            </a:pPr>
            <a:r>
              <a:rPr lang="ru" sz="131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Генерация текстур, окружения, лиц персонажей. Художник задаёт концепт — нейросеть создаёт варианты.</a:t>
            </a:r>
            <a:endParaRPr sz="131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9" name="Google Shape;8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49913" y="1644800"/>
            <a:ext cx="302751" cy="341391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0"/>
          <p:cNvSpPr/>
          <p:nvPr/>
        </p:nvSpPr>
        <p:spPr>
          <a:xfrm>
            <a:off x="3349913" y="2199526"/>
            <a:ext cx="1986600" cy="2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31"/>
              <a:buFont typeface="PT Serif"/>
              <a:buNone/>
            </a:pPr>
            <a:r>
              <a:rPr lang="ru" sz="1731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LLM-персонажи</a:t>
            </a:r>
            <a:endParaRPr sz="173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0"/>
          <p:cNvSpPr/>
          <p:nvPr/>
        </p:nvSpPr>
        <p:spPr>
          <a:xfrm>
            <a:off x="3349913" y="2581948"/>
            <a:ext cx="27756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317"/>
              <a:buFont typeface="DM Sans"/>
              <a:buNone/>
            </a:pPr>
            <a:r>
              <a:rPr lang="ru" sz="131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Inworld AI, Convai и другие: NPC отвечают на любые вопросы, помнят контекст, имеют «характер». Ubisoft и EA уже интегрируют подобное.</a:t>
            </a:r>
            <a:endParaRPr sz="131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2" name="Google Shape;92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14501" y="1644800"/>
            <a:ext cx="302751" cy="34139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0"/>
          <p:cNvSpPr/>
          <p:nvPr/>
        </p:nvSpPr>
        <p:spPr>
          <a:xfrm>
            <a:off x="6314501" y="2199526"/>
            <a:ext cx="1986600" cy="2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31"/>
              <a:buFont typeface="PT Serif"/>
              <a:buNone/>
            </a:pPr>
            <a:r>
              <a:rPr lang="ru" sz="1731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Генерация уровней</a:t>
            </a:r>
            <a:endParaRPr sz="173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0"/>
          <p:cNvSpPr/>
          <p:nvPr/>
        </p:nvSpPr>
        <p:spPr>
          <a:xfrm>
            <a:off x="6314501" y="2581948"/>
            <a:ext cx="27756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317"/>
              <a:buFont typeface="DM Sans"/>
              <a:buNone/>
            </a:pPr>
            <a:r>
              <a:rPr lang="ru" sz="131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Нейросети, обученные на датасете карт, генерируют новые уровни в том же стиле. Активная область исследований.</a:t>
            </a:r>
            <a:endParaRPr sz="131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1"/>
          <p:cNvSpPr txBox="1"/>
          <p:nvPr>
            <p:ph type="title"/>
          </p:nvPr>
        </p:nvSpPr>
        <p:spPr>
          <a:xfrm>
            <a:off x="323522" y="267500"/>
            <a:ext cx="7585200" cy="421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ИИ за пределами гейминга</a:t>
            </a:r>
            <a:endParaRPr/>
          </a:p>
        </p:txBody>
      </p:sp>
      <p:sp>
        <p:nvSpPr>
          <p:cNvPr id="100" name="Google Shape;100;p11"/>
          <p:cNvSpPr txBox="1"/>
          <p:nvPr>
            <p:ph idx="1" type="subTitle"/>
          </p:nvPr>
        </p:nvSpPr>
        <p:spPr>
          <a:xfrm>
            <a:off x="7842377" y="5547122"/>
            <a:ext cx="8704800" cy="3024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1"/>
          <p:cNvSpPr txBox="1"/>
          <p:nvPr>
            <p:ph idx="2" type="body"/>
          </p:nvPr>
        </p:nvSpPr>
        <p:spPr>
          <a:xfrm>
            <a:off x="9285422" y="-3828411"/>
            <a:ext cx="8705100" cy="586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1"/>
          <p:cNvSpPr/>
          <p:nvPr/>
        </p:nvSpPr>
        <p:spPr>
          <a:xfrm>
            <a:off x="323525" y="885625"/>
            <a:ext cx="3910200" cy="1332300"/>
          </a:xfrm>
          <a:prstGeom prst="roundRect">
            <a:avLst>
              <a:gd fmla="val 1540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79675" lIns="79675" spcFirstLastPara="1" rIns="79675" wrap="square" tIns="79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1"/>
          <p:cNvSpPr/>
          <p:nvPr/>
        </p:nvSpPr>
        <p:spPr>
          <a:xfrm>
            <a:off x="460267" y="1022367"/>
            <a:ext cx="1794900" cy="2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394"/>
              <a:buFont typeface="PT Serif"/>
              <a:buNone/>
            </a:pPr>
            <a:r>
              <a:rPr lang="ru" sz="1394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DLSS / FSR</a:t>
            </a:r>
            <a:endParaRPr sz="1394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1"/>
          <p:cNvSpPr/>
          <p:nvPr/>
        </p:nvSpPr>
        <p:spPr>
          <a:xfrm>
            <a:off x="460267" y="1341188"/>
            <a:ext cx="3636300" cy="7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046"/>
              <a:buFont typeface="DM Sans"/>
              <a:buNone/>
            </a:pPr>
            <a:r>
              <a:rPr lang="ru" sz="104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Нейросеть NVIDIA масштабирует 1080p → качество 4K в реальном времени. Прирост FPS в </a:t>
            </a:r>
            <a:r>
              <a:rPr b="1" lang="ru" sz="104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1.5–2 раза</a:t>
            </a:r>
            <a:r>
              <a:rPr lang="ru" sz="104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. Прямое применение свёрточных нейросетей в production.</a:t>
            </a:r>
            <a:endParaRPr sz="104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1"/>
          <p:cNvSpPr/>
          <p:nvPr/>
        </p:nvSpPr>
        <p:spPr>
          <a:xfrm>
            <a:off x="323525" y="2312382"/>
            <a:ext cx="3910200" cy="1147500"/>
          </a:xfrm>
          <a:prstGeom prst="roundRect">
            <a:avLst>
              <a:gd fmla="val 1788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79675" lIns="79675" spcFirstLastPara="1" rIns="79675" wrap="square" tIns="79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1"/>
          <p:cNvSpPr/>
          <p:nvPr/>
        </p:nvSpPr>
        <p:spPr>
          <a:xfrm>
            <a:off x="460267" y="2449123"/>
            <a:ext cx="1794900" cy="2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394"/>
              <a:buFont typeface="PT Serif"/>
              <a:buNone/>
            </a:pPr>
            <a:r>
              <a:rPr lang="ru" sz="1394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Античит-системы</a:t>
            </a:r>
            <a:endParaRPr sz="1394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1"/>
          <p:cNvSpPr/>
          <p:nvPr/>
        </p:nvSpPr>
        <p:spPr>
          <a:xfrm>
            <a:off x="460267" y="2767944"/>
            <a:ext cx="3636300" cy="5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046"/>
              <a:buFont typeface="DM Sans"/>
              <a:buNone/>
            </a:pPr>
            <a:r>
              <a:rPr lang="ru" sz="104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Valve, FACEIT, Easy Anti-Cheat анализируют траектории прицела, тайминги реакций и паттерны движения — точнее любых жёстких правил.</a:t>
            </a:r>
            <a:endParaRPr sz="104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1"/>
          <p:cNvSpPr/>
          <p:nvPr/>
        </p:nvSpPr>
        <p:spPr>
          <a:xfrm>
            <a:off x="323525" y="3554155"/>
            <a:ext cx="3910200" cy="962100"/>
          </a:xfrm>
          <a:prstGeom prst="roundRect">
            <a:avLst>
              <a:gd fmla="val 2132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79675" lIns="79675" spcFirstLastPara="1" rIns="79675" wrap="square" tIns="79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1"/>
          <p:cNvSpPr/>
          <p:nvPr/>
        </p:nvSpPr>
        <p:spPr>
          <a:xfrm>
            <a:off x="460267" y="3690896"/>
            <a:ext cx="1794900" cy="2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394"/>
              <a:buFont typeface="PT Serif"/>
              <a:buNone/>
            </a:pPr>
            <a:r>
              <a:rPr lang="ru" sz="1394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Матчмейкинг</a:t>
            </a:r>
            <a:endParaRPr sz="1394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1"/>
          <p:cNvSpPr/>
          <p:nvPr/>
        </p:nvSpPr>
        <p:spPr>
          <a:xfrm>
            <a:off x="460267" y="4009716"/>
            <a:ext cx="36363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046"/>
              <a:buFont typeface="DM Sans"/>
              <a:buNone/>
            </a:pPr>
            <a:r>
              <a:rPr lang="ru" sz="104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ML подбирает игроков не только по рейтингу, но и по стилю игры — для равных и интересных матчей.</a:t>
            </a:r>
            <a:endParaRPr sz="104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7275" y="1420377"/>
            <a:ext cx="4605474" cy="23027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2"/>
          <p:cNvSpPr txBox="1"/>
          <p:nvPr>
            <p:ph type="title"/>
          </p:nvPr>
        </p:nvSpPr>
        <p:spPr>
          <a:xfrm>
            <a:off x="323521" y="267500"/>
            <a:ext cx="8465400" cy="421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Особенности игрового ИИ</a:t>
            </a:r>
            <a:endParaRPr/>
          </a:p>
        </p:txBody>
      </p:sp>
      <p:sp>
        <p:nvSpPr>
          <p:cNvPr id="117" name="Google Shape;117;p12"/>
          <p:cNvSpPr txBox="1"/>
          <p:nvPr>
            <p:ph idx="1" type="subTitle"/>
          </p:nvPr>
        </p:nvSpPr>
        <p:spPr>
          <a:xfrm>
            <a:off x="12835902" y="-3328478"/>
            <a:ext cx="8704800" cy="3024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2"/>
          <p:cNvSpPr txBox="1"/>
          <p:nvPr>
            <p:ph idx="2" type="body"/>
          </p:nvPr>
        </p:nvSpPr>
        <p:spPr>
          <a:xfrm>
            <a:off x="6788703" y="-3438750"/>
            <a:ext cx="17961900" cy="586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2"/>
          <p:cNvSpPr/>
          <p:nvPr/>
        </p:nvSpPr>
        <p:spPr>
          <a:xfrm>
            <a:off x="497925" y="905225"/>
            <a:ext cx="2621700" cy="2074500"/>
          </a:xfrm>
          <a:prstGeom prst="roundRect">
            <a:avLst>
              <a:gd fmla="val 1025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57100" lIns="57100" spcFirstLastPara="1" rIns="57100" wrap="square" tIns="57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2"/>
          <p:cNvSpPr/>
          <p:nvPr/>
        </p:nvSpPr>
        <p:spPr>
          <a:xfrm>
            <a:off x="1596151" y="1046919"/>
            <a:ext cx="425100" cy="425100"/>
          </a:xfrm>
          <a:prstGeom prst="roundRect">
            <a:avLst>
              <a:gd fmla="val 13436980" name="adj"/>
            </a:avLst>
          </a:prstGeom>
          <a:solidFill>
            <a:srgbClr val="E04F00"/>
          </a:solidFill>
          <a:ln>
            <a:noFill/>
          </a:ln>
        </p:spPr>
        <p:txBody>
          <a:bodyPr anchorCtr="0" anchor="ctr" bIns="57100" lIns="57100" spcFirstLastPara="1" rIns="57100" wrap="square" tIns="57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2"/>
          <p:cNvSpPr/>
          <p:nvPr/>
        </p:nvSpPr>
        <p:spPr>
          <a:xfrm>
            <a:off x="878752" y="1613695"/>
            <a:ext cx="1859700" cy="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8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437"/>
              <a:buFont typeface="PT Serif"/>
              <a:buNone/>
            </a:pPr>
            <a:r>
              <a:rPr lang="ru" sz="1437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Реальное время</a:t>
            </a:r>
            <a:endParaRPr sz="143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2"/>
          <p:cNvSpPr/>
          <p:nvPr/>
        </p:nvSpPr>
        <p:spPr>
          <a:xfrm>
            <a:off x="639619" y="1931150"/>
            <a:ext cx="2338200" cy="9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093"/>
              <a:buFont typeface="DM Sans"/>
              <a:buNone/>
            </a:pPr>
            <a:r>
              <a:rPr lang="ru" sz="1093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Решения — за миллисекунды. GPU занят графикой, CPU — физикой. На ИИ остаются крохи ресурсов.</a:t>
            </a:r>
            <a:endParaRPr sz="1093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2"/>
          <p:cNvSpPr/>
          <p:nvPr/>
        </p:nvSpPr>
        <p:spPr>
          <a:xfrm>
            <a:off x="3261154" y="905225"/>
            <a:ext cx="2621700" cy="2074500"/>
          </a:xfrm>
          <a:prstGeom prst="roundRect">
            <a:avLst>
              <a:gd fmla="val 1025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57100" lIns="57100" spcFirstLastPara="1" rIns="57100" wrap="square" tIns="57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2"/>
          <p:cNvSpPr/>
          <p:nvPr/>
        </p:nvSpPr>
        <p:spPr>
          <a:xfrm>
            <a:off x="4359379" y="1046919"/>
            <a:ext cx="425100" cy="425100"/>
          </a:xfrm>
          <a:prstGeom prst="roundRect">
            <a:avLst>
              <a:gd fmla="val 13436980" name="adj"/>
            </a:avLst>
          </a:prstGeom>
          <a:solidFill>
            <a:srgbClr val="E04F00"/>
          </a:solidFill>
          <a:ln>
            <a:noFill/>
          </a:ln>
        </p:spPr>
        <p:txBody>
          <a:bodyPr anchorCtr="0" anchor="ctr" bIns="57100" lIns="57100" spcFirstLastPara="1" rIns="57100" wrap="square" tIns="57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2"/>
          <p:cNvSpPr/>
          <p:nvPr/>
        </p:nvSpPr>
        <p:spPr>
          <a:xfrm>
            <a:off x="3418320" y="1613695"/>
            <a:ext cx="2307000" cy="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8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437"/>
              <a:buFont typeface="PT Serif"/>
              <a:buNone/>
            </a:pPr>
            <a:r>
              <a:rPr lang="ru" sz="1437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Цель — интерес, не победа</a:t>
            </a:r>
            <a:endParaRPr sz="143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2"/>
          <p:cNvSpPr/>
          <p:nvPr/>
        </p:nvSpPr>
        <p:spPr>
          <a:xfrm>
            <a:off x="3402849" y="1931150"/>
            <a:ext cx="2338200" cy="9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093"/>
              <a:buFont typeface="DM Sans"/>
              <a:buNone/>
            </a:pPr>
            <a:r>
              <a:rPr lang="ru" sz="1093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Идеально играющий ИИ убьёт новичка мгновенно. AlphaStar и OpenAI Five — исследовательские проекты, не игровой дизайн.</a:t>
            </a:r>
            <a:endParaRPr sz="1093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2"/>
          <p:cNvSpPr/>
          <p:nvPr/>
        </p:nvSpPr>
        <p:spPr>
          <a:xfrm>
            <a:off x="6024383" y="905225"/>
            <a:ext cx="2621700" cy="2074500"/>
          </a:xfrm>
          <a:prstGeom prst="roundRect">
            <a:avLst>
              <a:gd fmla="val 1025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57100" lIns="57100" spcFirstLastPara="1" rIns="57100" wrap="square" tIns="57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2"/>
          <p:cNvSpPr/>
          <p:nvPr/>
        </p:nvSpPr>
        <p:spPr>
          <a:xfrm>
            <a:off x="7122608" y="1046919"/>
            <a:ext cx="425100" cy="425100"/>
          </a:xfrm>
          <a:prstGeom prst="roundRect">
            <a:avLst>
              <a:gd fmla="val 13436980" name="adj"/>
            </a:avLst>
          </a:prstGeom>
          <a:solidFill>
            <a:srgbClr val="E04F00"/>
          </a:solidFill>
          <a:ln>
            <a:noFill/>
          </a:ln>
        </p:spPr>
        <p:txBody>
          <a:bodyPr anchorCtr="0" anchor="ctr" bIns="57100" lIns="57100" spcFirstLastPara="1" rIns="57100" wrap="square" tIns="57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2"/>
          <p:cNvSpPr/>
          <p:nvPr/>
        </p:nvSpPr>
        <p:spPr>
          <a:xfrm>
            <a:off x="6405210" y="1613695"/>
            <a:ext cx="1859700" cy="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8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437"/>
              <a:buFont typeface="PT Serif"/>
              <a:buNone/>
            </a:pPr>
            <a:r>
              <a:rPr lang="ru" sz="1437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Непредсказуемость</a:t>
            </a:r>
            <a:endParaRPr sz="143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2"/>
          <p:cNvSpPr/>
          <p:nvPr/>
        </p:nvSpPr>
        <p:spPr>
          <a:xfrm>
            <a:off x="6166078" y="1931150"/>
            <a:ext cx="2338200" cy="9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093"/>
              <a:buFont typeface="DM Sans"/>
              <a:buNone/>
            </a:pPr>
            <a:r>
              <a:rPr lang="ru" sz="1093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Детерминированный ИИ скучен — игрок запомнит паттерны. ИИ должен удивлять, оставаясь честным.</a:t>
            </a:r>
            <a:endParaRPr sz="1093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2"/>
          <p:cNvSpPr/>
          <p:nvPr/>
        </p:nvSpPr>
        <p:spPr>
          <a:xfrm>
            <a:off x="497925" y="3121380"/>
            <a:ext cx="8148000" cy="1394100"/>
          </a:xfrm>
          <a:prstGeom prst="roundRect">
            <a:avLst>
              <a:gd fmla="val 1524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57100" lIns="57100" spcFirstLastPara="1" rIns="57100" wrap="square" tIns="57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2"/>
          <p:cNvSpPr/>
          <p:nvPr/>
        </p:nvSpPr>
        <p:spPr>
          <a:xfrm>
            <a:off x="4359379" y="3263074"/>
            <a:ext cx="425100" cy="425100"/>
          </a:xfrm>
          <a:prstGeom prst="roundRect">
            <a:avLst>
              <a:gd fmla="val 13436980" name="adj"/>
            </a:avLst>
          </a:prstGeom>
          <a:solidFill>
            <a:srgbClr val="E04F00"/>
          </a:solidFill>
          <a:ln>
            <a:noFill/>
          </a:ln>
        </p:spPr>
        <p:txBody>
          <a:bodyPr anchorCtr="0" anchor="ctr" bIns="57100" lIns="57100" spcFirstLastPara="1" rIns="57100" wrap="square" tIns="57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2"/>
          <p:cNvSpPr/>
          <p:nvPr/>
        </p:nvSpPr>
        <p:spPr>
          <a:xfrm>
            <a:off x="3358741" y="3829850"/>
            <a:ext cx="2426400" cy="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8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437"/>
              <a:buFont typeface="PT Serif"/>
              <a:buNone/>
            </a:pPr>
            <a:r>
              <a:rPr lang="ru" sz="1437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Мгновенная обратная связь</a:t>
            </a:r>
            <a:endParaRPr sz="143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2"/>
          <p:cNvSpPr/>
          <p:nvPr/>
        </p:nvSpPr>
        <p:spPr>
          <a:xfrm>
            <a:off x="639619" y="4147304"/>
            <a:ext cx="78648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093"/>
              <a:buFont typeface="DM Sans"/>
              <a:buNone/>
            </a:pPr>
            <a:r>
              <a:rPr lang="ru" sz="1093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Адаптация происходит прямо во время сессии — не между обучениями, как в большинстве ML-задач.</a:t>
            </a:r>
            <a:endParaRPr sz="1093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3"/>
          <p:cNvSpPr txBox="1"/>
          <p:nvPr>
            <p:ph idx="1" type="subTitle"/>
          </p:nvPr>
        </p:nvSpPr>
        <p:spPr>
          <a:xfrm>
            <a:off x="4223528" y="6231590"/>
            <a:ext cx="8568900" cy="36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3"/>
          <p:cNvSpPr txBox="1"/>
          <p:nvPr>
            <p:ph type="title"/>
          </p:nvPr>
        </p:nvSpPr>
        <p:spPr>
          <a:xfrm>
            <a:off x="323528" y="267494"/>
            <a:ext cx="3610800" cy="421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Заключение</a:t>
            </a:r>
            <a:endParaRPr/>
          </a:p>
        </p:txBody>
      </p:sp>
      <p:sp>
        <p:nvSpPr>
          <p:cNvPr id="141" name="Google Shape;141;p13"/>
          <p:cNvSpPr/>
          <p:nvPr/>
        </p:nvSpPr>
        <p:spPr>
          <a:xfrm>
            <a:off x="361326" y="1094999"/>
            <a:ext cx="39075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60"/>
              <a:buFont typeface="DM Sans"/>
              <a:buNone/>
            </a:pPr>
            <a:r>
              <a:rPr lang="ru" sz="126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Игры оказались не просто развлечением, но и полигоном для развития всей отрасли ИИ.</a:t>
            </a:r>
            <a:endParaRPr sz="126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3"/>
          <p:cNvSpPr/>
          <p:nvPr/>
        </p:nvSpPr>
        <p:spPr>
          <a:xfrm>
            <a:off x="361326" y="1764292"/>
            <a:ext cx="3907500" cy="10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60"/>
              <a:buFont typeface="DM Sans"/>
              <a:buNone/>
            </a:pPr>
            <a:r>
              <a:rPr lang="ru" sz="126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Жёсткие ограничения по времени, необходимость быть интересным, а не оптимальным, и миллионы игроков как источник данных — уникальная среда.</a:t>
            </a:r>
            <a:endParaRPr sz="126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3"/>
          <p:cNvSpPr/>
          <p:nvPr/>
        </p:nvSpPr>
        <p:spPr>
          <a:xfrm>
            <a:off x="361326" y="2955995"/>
            <a:ext cx="3907500" cy="13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60"/>
              <a:buFont typeface="DM Sans"/>
              <a:buNone/>
            </a:pPr>
            <a:r>
              <a:rPr lang="ru" sz="126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Техники, отработанные в играх — </a:t>
            </a:r>
            <a:r>
              <a:rPr b="1" lang="ru" sz="126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обучение с подкреплением, имитационное обучение, адаптивные системы</a:t>
            </a:r>
            <a:r>
              <a:rPr lang="ru" sz="126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— сегодня применяются в робототехнике, беспилотных автомобилях и медицине.</a:t>
            </a:r>
            <a:endParaRPr sz="126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4" name="Google Shape;14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1750" y="1297500"/>
            <a:ext cx="4224951" cy="2375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