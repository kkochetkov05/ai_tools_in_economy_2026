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360" r:id="rId6"/>
    <p:sldId id="361" r:id="rId7"/>
    <p:sldId id="365" r:id="rId8"/>
    <p:sldId id="362" r:id="rId9"/>
    <p:sldId id="363" r:id="rId10"/>
    <p:sldId id="364" r:id="rId11"/>
    <p:sldId id="346" r:id="rId12"/>
    <p:sldId id="356" r:id="rId13"/>
    <p:sldId id="357" r:id="rId14"/>
    <p:sldId id="352" r:id="rId15"/>
    <p:sldId id="359" r:id="rId16"/>
    <p:sldId id="358" r:id="rId17"/>
    <p:sldId id="341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2CAC850-BA2C-474F-9793-8AB63545B49F}">
          <p14:sldIdLst>
            <p14:sldId id="256"/>
            <p14:sldId id="360"/>
            <p14:sldId id="361"/>
            <p14:sldId id="365"/>
            <p14:sldId id="362"/>
            <p14:sldId id="363"/>
            <p14:sldId id="364"/>
            <p14:sldId id="346"/>
            <p14:sldId id="356"/>
            <p14:sldId id="357"/>
            <p14:sldId id="352"/>
            <p14:sldId id="359"/>
            <p14:sldId id="358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09" userDrawn="1">
          <p15:clr>
            <a:srgbClr val="A4A3A4"/>
          </p15:clr>
        </p15:guide>
        <p15:guide id="2" pos="41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азанкова Арина" initials="АС" lastIdx="1" clrIdx="0">
    <p:extLst>
      <p:ext uri="{19B8F6BF-5375-455C-9EA6-DF929625EA0E}">
        <p15:presenceInfo xmlns:p15="http://schemas.microsoft.com/office/powerpoint/2012/main" userId="S::st122150@student.spbu.ru::b8cf5467-778e-4db3-80f9-0de6f1e3399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826"/>
    <a:srgbClr val="8FAADC"/>
    <a:srgbClr val="66A0D0"/>
    <a:srgbClr val="8C6E8E"/>
    <a:srgbClr val="AE6464"/>
    <a:srgbClr val="F8F1F1"/>
    <a:srgbClr val="D3B25F"/>
    <a:srgbClr val="C2AA46"/>
    <a:srgbClr val="990000"/>
    <a:srgbClr val="C2A1C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43" autoAdjust="0"/>
    <p:restoredTop sz="94652" autoAdjust="0"/>
  </p:normalViewPr>
  <p:slideViewPr>
    <p:cSldViewPr snapToGrid="0">
      <p:cViewPr varScale="1">
        <p:scale>
          <a:sx n="83" d="100"/>
          <a:sy n="83" d="100"/>
        </p:scale>
        <p:origin x="302" y="82"/>
      </p:cViewPr>
      <p:guideLst>
        <p:guide orient="horz" pos="2409"/>
        <p:guide pos="41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-490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01T00:21:08.605" idx="1">
    <p:pos x="7537" y="2061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4D1C89-F706-4CE0-95F1-EEAC48685F52}" type="doc">
      <dgm:prSet loTypeId="urn:microsoft.com/office/officeart/2005/8/layout/process1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ru-KZ"/>
        </a:p>
      </dgm:t>
    </dgm:pt>
    <dgm:pt modelId="{6CE0122A-5E45-4F71-B638-2541A673661C}">
      <dgm:prSet phldrT="[Текст]" custT="1"/>
      <dgm:spPr>
        <a:ln>
          <a:solidFill>
            <a:srgbClr val="F8F1F1"/>
          </a:solidFill>
        </a:ln>
      </dgm:spPr>
      <dgm:t>
        <a:bodyPr/>
        <a:lstStyle/>
        <a:p>
          <a:r>
            <a:rPr lang="ru-RU" sz="1400" b="1" i="0" dirty="0"/>
            <a:t>Смена парадигмы</a:t>
          </a:r>
          <a:br>
            <a:rPr lang="ru-RU" sz="1100" dirty="0"/>
          </a:br>
          <a:r>
            <a:rPr lang="ru-RU" sz="1200" b="0" i="0" dirty="0"/>
            <a:t>Раньше психология строилась на объяснении феноменов. Сейчас, с приходом ИИ, мы видим сдвиг к предсказанию. Модель может предсказать суицидальный риск точнее, чем клиницист, но объяснить, </a:t>
          </a:r>
          <a:r>
            <a:rPr lang="ru-RU" sz="1200" b="0" i="1" dirty="0"/>
            <a:t>почему</a:t>
          </a:r>
          <a:r>
            <a:rPr lang="ru-RU" sz="1200" b="0" i="0" dirty="0"/>
            <a:t> она так решила, зачастую не может. Это проблема "черного ящика".</a:t>
          </a:r>
          <a:endParaRPr lang="ru-RU" sz="1100" dirty="0">
            <a:solidFill>
              <a:srgbClr val="923826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D17B2857-CE2F-4252-940F-4CF3126413C6}" type="parTrans" cxnId="{19F28E6A-A839-4B12-8F62-04DFC789A438}">
      <dgm:prSet/>
      <dgm:spPr/>
      <dgm:t>
        <a:bodyPr/>
        <a:lstStyle/>
        <a:p>
          <a:endParaRPr lang="ru-RU"/>
        </a:p>
      </dgm:t>
    </dgm:pt>
    <dgm:pt modelId="{05845C3E-5638-49DC-9979-3DE8D3AB03AB}" type="sibTrans" cxnId="{19F28E6A-A839-4B12-8F62-04DFC789A438}">
      <dgm:prSet/>
      <dgm:spPr>
        <a:solidFill>
          <a:srgbClr val="F8F1F1"/>
        </a:solidFill>
      </dgm:spPr>
      <dgm:t>
        <a:bodyPr/>
        <a:lstStyle/>
        <a:p>
          <a:endParaRPr lang="ru-RU"/>
        </a:p>
      </dgm:t>
    </dgm:pt>
    <dgm:pt modelId="{2B84ED50-2003-4D9A-BF1C-8ED15CC8BB33}">
      <dgm:prSet phldrT="[Текст]" custT="1"/>
      <dgm:spPr>
        <a:ln>
          <a:solidFill>
            <a:srgbClr val="F8F1F1"/>
          </a:solidFill>
        </a:ln>
      </dgm:spPr>
      <dgm:t>
        <a:bodyPr/>
        <a:lstStyle/>
        <a:p>
          <a:r>
            <a:rPr lang="ru-RU" sz="1400" b="1" i="0" dirty="0"/>
            <a:t>Ограничения данных</a:t>
          </a:r>
          <a:br>
            <a:rPr lang="ru-RU" sz="1200" dirty="0"/>
          </a:br>
          <a:r>
            <a:rPr lang="ru-RU" sz="1200" b="0" i="0" dirty="0"/>
            <a:t>Большинство обучающих выборок собраны в США и Европе. Это создает культурный и языковой смещения. Модель, обученная на англоязычных данных, может некорректно интерпретировать проявления тревоги или депрессии в других культурах.</a:t>
          </a:r>
          <a:endParaRPr lang="ru-RU" sz="1200" dirty="0">
            <a:solidFill>
              <a:srgbClr val="923826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3BE7B8DA-2C63-49E3-AC3E-76D2DC230037}" type="parTrans" cxnId="{C102AEE5-30D2-4F99-A116-7198E4202FE3}">
      <dgm:prSet/>
      <dgm:spPr/>
      <dgm:t>
        <a:bodyPr/>
        <a:lstStyle/>
        <a:p>
          <a:endParaRPr lang="ru-RU"/>
        </a:p>
      </dgm:t>
    </dgm:pt>
    <dgm:pt modelId="{73A48767-0CAC-4E05-8CE4-C68A3F69086F}" type="sibTrans" cxnId="{C102AEE5-30D2-4F99-A116-7198E4202FE3}">
      <dgm:prSet/>
      <dgm:spPr>
        <a:solidFill>
          <a:srgbClr val="F8F1F1"/>
        </a:solidFill>
      </dgm:spPr>
      <dgm:t>
        <a:bodyPr/>
        <a:lstStyle/>
        <a:p>
          <a:endParaRPr lang="ru-RU"/>
        </a:p>
      </dgm:t>
    </dgm:pt>
    <dgm:pt modelId="{A312AEE3-623B-4C61-A40D-92BDC803C344}">
      <dgm:prSet phldrT="[Текст]" custT="1"/>
      <dgm:spPr>
        <a:ln>
          <a:solidFill>
            <a:srgbClr val="F8F1F1"/>
          </a:solidFill>
        </a:ln>
      </dgm:spPr>
      <dgm:t>
        <a:bodyPr/>
        <a:lstStyle/>
        <a:p>
          <a:r>
            <a:rPr lang="ru-RU" sz="1400" b="1" i="0" dirty="0"/>
            <a:t>Этические риски</a:t>
          </a:r>
          <a:br>
            <a:rPr lang="ru-RU" sz="1200" dirty="0"/>
          </a:br>
          <a:r>
            <a:rPr lang="ru-RU" sz="1200" b="0" i="0" dirty="0"/>
            <a:t>Вопросы конфиденциальности, информированного согласия, ответственности за диагностические ошибки. В психологии цена ошибки особенно высока.</a:t>
          </a:r>
          <a:endParaRPr lang="ru-RU" sz="1200" dirty="0">
            <a:solidFill>
              <a:schemeClr val="tx1">
                <a:lumMod val="90000"/>
                <a:lumOff val="10000"/>
              </a:schemeClr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FE035690-5EC0-493E-BE2A-C8913117DAA0}" type="parTrans" cxnId="{F27AD21F-82EA-49B8-A5A9-45807004F42D}">
      <dgm:prSet/>
      <dgm:spPr/>
      <dgm:t>
        <a:bodyPr/>
        <a:lstStyle/>
        <a:p>
          <a:endParaRPr lang="ru-RU"/>
        </a:p>
      </dgm:t>
    </dgm:pt>
    <dgm:pt modelId="{BDDA4A36-1662-4BE3-8B56-321D3F0F8407}" type="sibTrans" cxnId="{F27AD21F-82EA-49B8-A5A9-45807004F42D}">
      <dgm:prSet/>
      <dgm:spPr/>
      <dgm:t>
        <a:bodyPr/>
        <a:lstStyle/>
        <a:p>
          <a:endParaRPr lang="ru-RU"/>
        </a:p>
      </dgm:t>
    </dgm:pt>
    <dgm:pt modelId="{9EC3A79A-E46F-483B-A699-797E8B29FABF}" type="pres">
      <dgm:prSet presAssocID="{804D1C89-F706-4CE0-95F1-EEAC48685F52}" presName="Name0" presStyleCnt="0">
        <dgm:presLayoutVars>
          <dgm:dir/>
          <dgm:resizeHandles val="exact"/>
        </dgm:presLayoutVars>
      </dgm:prSet>
      <dgm:spPr/>
    </dgm:pt>
    <dgm:pt modelId="{C54A146B-8AE1-4120-9188-80AC5A9472B4}" type="pres">
      <dgm:prSet presAssocID="{6CE0122A-5E45-4F71-B638-2541A673661C}" presName="node" presStyleLbl="node1" presStyleIdx="0" presStyleCnt="3" custLinFactNeighborX="13216">
        <dgm:presLayoutVars>
          <dgm:bulletEnabled val="1"/>
        </dgm:presLayoutVars>
      </dgm:prSet>
      <dgm:spPr/>
    </dgm:pt>
    <dgm:pt modelId="{21EC0C1B-C79F-4484-8C1C-138585AE83D2}" type="pres">
      <dgm:prSet presAssocID="{05845C3E-5638-49DC-9979-3DE8D3AB03AB}" presName="sibTrans" presStyleLbl="sibTrans2D1" presStyleIdx="0" presStyleCnt="2" custScaleY="61113"/>
      <dgm:spPr/>
    </dgm:pt>
    <dgm:pt modelId="{D98AECCB-5898-4759-B3EE-DB1DA214029A}" type="pres">
      <dgm:prSet presAssocID="{05845C3E-5638-49DC-9979-3DE8D3AB03AB}" presName="connectorText" presStyleLbl="sibTrans2D1" presStyleIdx="0" presStyleCnt="2"/>
      <dgm:spPr/>
    </dgm:pt>
    <dgm:pt modelId="{DC2772D5-DB60-4D66-BA17-3CB0B3A5B36A}" type="pres">
      <dgm:prSet presAssocID="{2B84ED50-2003-4D9A-BF1C-8ED15CC8BB33}" presName="node" presStyleLbl="node1" presStyleIdx="1" presStyleCnt="3" custLinFactNeighborX="-9136">
        <dgm:presLayoutVars>
          <dgm:bulletEnabled val="1"/>
        </dgm:presLayoutVars>
      </dgm:prSet>
      <dgm:spPr/>
    </dgm:pt>
    <dgm:pt modelId="{A212D042-6C68-4517-B297-A715A12F1B6F}" type="pres">
      <dgm:prSet presAssocID="{73A48767-0CAC-4E05-8CE4-C68A3F69086F}" presName="sibTrans" presStyleLbl="sibTrans2D1" presStyleIdx="1" presStyleCnt="2" custScaleY="61113"/>
      <dgm:spPr/>
    </dgm:pt>
    <dgm:pt modelId="{88E939D6-C8C7-44F9-AC68-34F7449F531B}" type="pres">
      <dgm:prSet presAssocID="{73A48767-0CAC-4E05-8CE4-C68A3F69086F}" presName="connectorText" presStyleLbl="sibTrans2D1" presStyleIdx="1" presStyleCnt="2"/>
      <dgm:spPr/>
    </dgm:pt>
    <dgm:pt modelId="{8ADEF958-EACD-4181-A88B-02D96DA9EA82}" type="pres">
      <dgm:prSet presAssocID="{A312AEE3-623B-4C61-A40D-92BDC803C344}" presName="node" presStyleLbl="node1" presStyleIdx="2" presStyleCnt="3" custLinFactNeighborX="-33285" custLinFactNeighborY="1477">
        <dgm:presLayoutVars>
          <dgm:bulletEnabled val="1"/>
        </dgm:presLayoutVars>
      </dgm:prSet>
      <dgm:spPr/>
    </dgm:pt>
  </dgm:ptLst>
  <dgm:cxnLst>
    <dgm:cxn modelId="{F27AD21F-82EA-49B8-A5A9-45807004F42D}" srcId="{804D1C89-F706-4CE0-95F1-EEAC48685F52}" destId="{A312AEE3-623B-4C61-A40D-92BDC803C344}" srcOrd="2" destOrd="0" parTransId="{FE035690-5EC0-493E-BE2A-C8913117DAA0}" sibTransId="{BDDA4A36-1662-4BE3-8B56-321D3F0F8407}"/>
    <dgm:cxn modelId="{0AC9AF3C-59BC-42DC-818B-E865FE4EEFC1}" type="presOf" srcId="{A312AEE3-623B-4C61-A40D-92BDC803C344}" destId="{8ADEF958-EACD-4181-A88B-02D96DA9EA82}" srcOrd="0" destOrd="0" presId="urn:microsoft.com/office/officeart/2005/8/layout/process1"/>
    <dgm:cxn modelId="{BD957C3F-847B-40C3-866B-B5DD66672F48}" type="presOf" srcId="{2B84ED50-2003-4D9A-BF1C-8ED15CC8BB33}" destId="{DC2772D5-DB60-4D66-BA17-3CB0B3A5B36A}" srcOrd="0" destOrd="0" presId="urn:microsoft.com/office/officeart/2005/8/layout/process1"/>
    <dgm:cxn modelId="{19F28E6A-A839-4B12-8F62-04DFC789A438}" srcId="{804D1C89-F706-4CE0-95F1-EEAC48685F52}" destId="{6CE0122A-5E45-4F71-B638-2541A673661C}" srcOrd="0" destOrd="0" parTransId="{D17B2857-CE2F-4252-940F-4CF3126413C6}" sibTransId="{05845C3E-5638-49DC-9979-3DE8D3AB03AB}"/>
    <dgm:cxn modelId="{FE689B87-67AB-4AA8-80B5-D99DADFB4872}" type="presOf" srcId="{6CE0122A-5E45-4F71-B638-2541A673661C}" destId="{C54A146B-8AE1-4120-9188-80AC5A9472B4}" srcOrd="0" destOrd="0" presId="urn:microsoft.com/office/officeart/2005/8/layout/process1"/>
    <dgm:cxn modelId="{E4DD119D-92BD-46B7-B103-DE331BB75104}" type="presOf" srcId="{05845C3E-5638-49DC-9979-3DE8D3AB03AB}" destId="{21EC0C1B-C79F-4484-8C1C-138585AE83D2}" srcOrd="0" destOrd="0" presId="urn:microsoft.com/office/officeart/2005/8/layout/process1"/>
    <dgm:cxn modelId="{812457B6-5F14-4970-9A2D-D67A132BC349}" type="presOf" srcId="{804D1C89-F706-4CE0-95F1-EEAC48685F52}" destId="{9EC3A79A-E46F-483B-A699-797E8B29FABF}" srcOrd="0" destOrd="0" presId="urn:microsoft.com/office/officeart/2005/8/layout/process1"/>
    <dgm:cxn modelId="{8C54CDD0-E2AA-4DDD-9F70-49354AC65EF4}" type="presOf" srcId="{05845C3E-5638-49DC-9979-3DE8D3AB03AB}" destId="{D98AECCB-5898-4759-B3EE-DB1DA214029A}" srcOrd="1" destOrd="0" presId="urn:microsoft.com/office/officeart/2005/8/layout/process1"/>
    <dgm:cxn modelId="{C6DD0ADF-8C60-4B16-8D7C-4D4A397536A3}" type="presOf" srcId="{73A48767-0CAC-4E05-8CE4-C68A3F69086F}" destId="{88E939D6-C8C7-44F9-AC68-34F7449F531B}" srcOrd="1" destOrd="0" presId="urn:microsoft.com/office/officeart/2005/8/layout/process1"/>
    <dgm:cxn modelId="{C102AEE5-30D2-4F99-A116-7198E4202FE3}" srcId="{804D1C89-F706-4CE0-95F1-EEAC48685F52}" destId="{2B84ED50-2003-4D9A-BF1C-8ED15CC8BB33}" srcOrd="1" destOrd="0" parTransId="{3BE7B8DA-2C63-49E3-AC3E-76D2DC230037}" sibTransId="{73A48767-0CAC-4E05-8CE4-C68A3F69086F}"/>
    <dgm:cxn modelId="{993CC5EE-87B3-48CA-9D3D-2AC5326E8227}" type="presOf" srcId="{73A48767-0CAC-4E05-8CE4-C68A3F69086F}" destId="{A212D042-6C68-4517-B297-A715A12F1B6F}" srcOrd="0" destOrd="0" presId="urn:microsoft.com/office/officeart/2005/8/layout/process1"/>
    <dgm:cxn modelId="{C012068F-92A0-4F9C-ABAC-A3BF67334125}" type="presParOf" srcId="{9EC3A79A-E46F-483B-A699-797E8B29FABF}" destId="{C54A146B-8AE1-4120-9188-80AC5A9472B4}" srcOrd="0" destOrd="0" presId="urn:microsoft.com/office/officeart/2005/8/layout/process1"/>
    <dgm:cxn modelId="{E318136D-FE98-4227-A142-CCDC917FE259}" type="presParOf" srcId="{9EC3A79A-E46F-483B-A699-797E8B29FABF}" destId="{21EC0C1B-C79F-4484-8C1C-138585AE83D2}" srcOrd="1" destOrd="0" presId="urn:microsoft.com/office/officeart/2005/8/layout/process1"/>
    <dgm:cxn modelId="{85AFAB6E-6A97-4639-A332-FE30C85564A7}" type="presParOf" srcId="{21EC0C1B-C79F-4484-8C1C-138585AE83D2}" destId="{D98AECCB-5898-4759-B3EE-DB1DA214029A}" srcOrd="0" destOrd="0" presId="urn:microsoft.com/office/officeart/2005/8/layout/process1"/>
    <dgm:cxn modelId="{465A7CCB-54EE-4763-AC3A-5741A3D6710F}" type="presParOf" srcId="{9EC3A79A-E46F-483B-A699-797E8B29FABF}" destId="{DC2772D5-DB60-4D66-BA17-3CB0B3A5B36A}" srcOrd="2" destOrd="0" presId="urn:microsoft.com/office/officeart/2005/8/layout/process1"/>
    <dgm:cxn modelId="{FCE9DC62-717C-452C-B2BF-631E5E974DF4}" type="presParOf" srcId="{9EC3A79A-E46F-483B-A699-797E8B29FABF}" destId="{A212D042-6C68-4517-B297-A715A12F1B6F}" srcOrd="3" destOrd="0" presId="urn:microsoft.com/office/officeart/2005/8/layout/process1"/>
    <dgm:cxn modelId="{9D73EA99-35E4-4E1B-981B-6C180153AF73}" type="presParOf" srcId="{A212D042-6C68-4517-B297-A715A12F1B6F}" destId="{88E939D6-C8C7-44F9-AC68-34F7449F531B}" srcOrd="0" destOrd="0" presId="urn:microsoft.com/office/officeart/2005/8/layout/process1"/>
    <dgm:cxn modelId="{C729EDDA-5EBA-4B9D-A776-A8C257C9BABF}" type="presParOf" srcId="{9EC3A79A-E46F-483B-A699-797E8B29FABF}" destId="{8ADEF958-EACD-4181-A88B-02D96DA9EA8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4A146B-8AE1-4120-9188-80AC5A9472B4}">
      <dsp:nvSpPr>
        <dsp:cNvPr id="0" name=""/>
        <dsp:cNvSpPr/>
      </dsp:nvSpPr>
      <dsp:spPr>
        <a:xfrm>
          <a:off x="172703" y="596975"/>
          <a:ext cx="3072492" cy="21891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8F1F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i="0" kern="1200" dirty="0"/>
            <a:t>Смена парадигмы</a:t>
          </a:r>
          <a:br>
            <a:rPr lang="ru-RU" sz="1100" kern="1200" dirty="0"/>
          </a:br>
          <a:r>
            <a:rPr lang="ru-RU" sz="1200" b="0" i="0" kern="1200" dirty="0"/>
            <a:t>Раньше психология строилась на объяснении феноменов. Сейчас, с приходом ИИ, мы видим сдвиг к предсказанию. Модель может предсказать суицидальный риск точнее, чем клиницист, но объяснить, </a:t>
          </a:r>
          <a:r>
            <a:rPr lang="ru-RU" sz="1200" b="0" i="1" kern="1200" dirty="0"/>
            <a:t>почему</a:t>
          </a:r>
          <a:r>
            <a:rPr lang="ru-RU" sz="1200" b="0" i="0" kern="1200" dirty="0"/>
            <a:t> она так решила, зачастую не может. Это проблема "черного ящика".</a:t>
          </a:r>
          <a:endParaRPr lang="ru-RU" sz="1100" kern="1200" dirty="0">
            <a:solidFill>
              <a:srgbClr val="923826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sp:txBody>
      <dsp:txXfrm>
        <a:off x="236821" y="661093"/>
        <a:ext cx="2944256" cy="2060914"/>
      </dsp:txXfrm>
    </dsp:sp>
    <dsp:sp modelId="{21EC0C1B-C79F-4484-8C1C-138585AE83D2}">
      <dsp:nvSpPr>
        <dsp:cNvPr id="0" name=""/>
        <dsp:cNvSpPr/>
      </dsp:nvSpPr>
      <dsp:spPr>
        <a:xfrm>
          <a:off x="3483769" y="1458716"/>
          <a:ext cx="505774" cy="465667"/>
        </a:xfrm>
        <a:prstGeom prst="rightArrow">
          <a:avLst>
            <a:gd name="adj1" fmla="val 60000"/>
            <a:gd name="adj2" fmla="val 50000"/>
          </a:avLst>
        </a:prstGeom>
        <a:solidFill>
          <a:srgbClr val="F8F1F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700" kern="1200"/>
        </a:p>
      </dsp:txBody>
      <dsp:txXfrm>
        <a:off x="3483769" y="1551849"/>
        <a:ext cx="366074" cy="279401"/>
      </dsp:txXfrm>
    </dsp:sp>
    <dsp:sp modelId="{DC2772D5-DB60-4D66-BA17-3CB0B3A5B36A}">
      <dsp:nvSpPr>
        <dsp:cNvPr id="0" name=""/>
        <dsp:cNvSpPr/>
      </dsp:nvSpPr>
      <dsp:spPr>
        <a:xfrm>
          <a:off x="4199488" y="596975"/>
          <a:ext cx="3072492" cy="21891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8F1F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i="0" kern="1200" dirty="0"/>
            <a:t>Ограничения данных</a:t>
          </a:r>
          <a:br>
            <a:rPr lang="ru-RU" sz="1200" kern="1200" dirty="0"/>
          </a:br>
          <a:r>
            <a:rPr lang="ru-RU" sz="1200" b="0" i="0" kern="1200" dirty="0"/>
            <a:t>Большинство обучающих выборок собраны в США и Европе. Это создает культурный и языковой смещения. Модель, обученная на англоязычных данных, может некорректно интерпретировать проявления тревоги или депрессии в других культурах.</a:t>
          </a:r>
          <a:endParaRPr lang="ru-RU" sz="1200" kern="1200" dirty="0">
            <a:solidFill>
              <a:srgbClr val="923826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sp:txBody>
      <dsp:txXfrm>
        <a:off x="4263606" y="661093"/>
        <a:ext cx="2944256" cy="2060914"/>
      </dsp:txXfrm>
    </dsp:sp>
    <dsp:sp modelId="{A212D042-6C68-4517-B297-A715A12F1B6F}">
      <dsp:nvSpPr>
        <dsp:cNvPr id="0" name=""/>
        <dsp:cNvSpPr/>
      </dsp:nvSpPr>
      <dsp:spPr>
        <a:xfrm rot="27756">
          <a:off x="7505024" y="1474996"/>
          <a:ext cx="494085" cy="465667"/>
        </a:xfrm>
        <a:prstGeom prst="rightArrow">
          <a:avLst>
            <a:gd name="adj1" fmla="val 60000"/>
            <a:gd name="adj2" fmla="val 50000"/>
          </a:avLst>
        </a:prstGeom>
        <a:solidFill>
          <a:srgbClr val="F8F1F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700" kern="1200"/>
        </a:p>
      </dsp:txBody>
      <dsp:txXfrm>
        <a:off x="7505026" y="1567565"/>
        <a:ext cx="354385" cy="279401"/>
      </dsp:txXfrm>
    </dsp:sp>
    <dsp:sp modelId="{8ADEF958-EACD-4181-A88B-02D96DA9EA82}">
      <dsp:nvSpPr>
        <dsp:cNvPr id="0" name=""/>
        <dsp:cNvSpPr/>
      </dsp:nvSpPr>
      <dsp:spPr>
        <a:xfrm>
          <a:off x="8204187" y="629308"/>
          <a:ext cx="3072492" cy="21891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8F1F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i="0" kern="1200" dirty="0"/>
            <a:t>Этические риски</a:t>
          </a:r>
          <a:br>
            <a:rPr lang="ru-RU" sz="1200" kern="1200" dirty="0"/>
          </a:br>
          <a:r>
            <a:rPr lang="ru-RU" sz="1200" b="0" i="0" kern="1200" dirty="0"/>
            <a:t>Вопросы конфиденциальности, информированного согласия, ответственности за диагностические ошибки. В психологии цена ошибки особенно высока.</a:t>
          </a:r>
          <a:endParaRPr lang="ru-RU" sz="1200" kern="1200" dirty="0">
            <a:solidFill>
              <a:schemeClr val="tx1">
                <a:lumMod val="90000"/>
                <a:lumOff val="10000"/>
              </a:schemeClr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sp:txBody>
      <dsp:txXfrm>
        <a:off x="8268305" y="693426"/>
        <a:ext cx="2944256" cy="2060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D93DD-A479-4F6C-AF5E-6152D069177D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27F79-BC16-4DE0-8BA2-D3AF1D768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471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DAC6F-BB1F-4063-BD4A-C26C60CE3AD6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60B39-B557-40BF-9ECA-089F8F897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456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060B39-B557-40BF-9ECA-089F8F8977C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45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82042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396784"/>
            <a:ext cx="3987797" cy="1140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267304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04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8204200" cy="6857999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64686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8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28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4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3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2000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1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3" name="Группа 52"/>
          <p:cNvGrpSpPr/>
          <p:nvPr userDrawn="1"/>
        </p:nvGrpSpPr>
        <p:grpSpPr>
          <a:xfrm>
            <a:off x="9143115" y="0"/>
            <a:ext cx="2527884" cy="1474000"/>
            <a:chOff x="9225933" y="44624"/>
            <a:chExt cx="2527884" cy="1474000"/>
          </a:xfrm>
        </p:grpSpPr>
        <p:cxnSp>
          <p:nvCxnSpPr>
            <p:cNvPr id="55" name="Прямая соединительная линия 54"/>
            <p:cNvCxnSpPr/>
            <p:nvPr userDrawn="1"/>
          </p:nvCxnSpPr>
          <p:spPr>
            <a:xfrm flipV="1">
              <a:off x="922593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/>
            <p:cNvCxnSpPr/>
            <p:nvPr userDrawn="1"/>
          </p:nvCxnSpPr>
          <p:spPr>
            <a:xfrm flipV="1">
              <a:off x="934050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/>
            <p:cNvCxnSpPr/>
            <p:nvPr userDrawn="1"/>
          </p:nvCxnSpPr>
          <p:spPr>
            <a:xfrm flipV="1">
              <a:off x="944770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/>
            <p:cNvCxnSpPr/>
            <p:nvPr userDrawn="1"/>
          </p:nvCxnSpPr>
          <p:spPr>
            <a:xfrm flipV="1">
              <a:off x="956227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 userDrawn="1"/>
          </p:nvCxnSpPr>
          <p:spPr>
            <a:xfrm flipV="1">
              <a:off x="967753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/>
            <p:cNvCxnSpPr/>
            <p:nvPr userDrawn="1"/>
          </p:nvCxnSpPr>
          <p:spPr>
            <a:xfrm flipV="1">
              <a:off x="9792105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/>
            <p:cNvCxnSpPr/>
            <p:nvPr userDrawn="1"/>
          </p:nvCxnSpPr>
          <p:spPr>
            <a:xfrm flipV="1">
              <a:off x="989931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 userDrawn="1"/>
          </p:nvCxnSpPr>
          <p:spPr>
            <a:xfrm flipV="1">
              <a:off x="10013880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/>
            <p:nvPr userDrawn="1"/>
          </p:nvCxnSpPr>
          <p:spPr>
            <a:xfrm flipV="1">
              <a:off x="10132589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/>
            <p:nvPr userDrawn="1"/>
          </p:nvCxnSpPr>
          <p:spPr>
            <a:xfrm flipV="1">
              <a:off x="1024715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/>
            <p:nvPr userDrawn="1"/>
          </p:nvCxnSpPr>
          <p:spPr>
            <a:xfrm flipV="1">
              <a:off x="10354364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/>
            <p:nvPr userDrawn="1"/>
          </p:nvCxnSpPr>
          <p:spPr>
            <a:xfrm flipV="1">
              <a:off x="1046893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/>
            <p:cNvCxnSpPr/>
            <p:nvPr userDrawn="1"/>
          </p:nvCxnSpPr>
          <p:spPr>
            <a:xfrm flipV="1">
              <a:off x="1058419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Прямая соединительная линия 68"/>
            <p:cNvCxnSpPr/>
            <p:nvPr userDrawn="1"/>
          </p:nvCxnSpPr>
          <p:spPr>
            <a:xfrm flipV="1">
              <a:off x="1069876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/>
            <p:cNvCxnSpPr/>
            <p:nvPr userDrawn="1"/>
          </p:nvCxnSpPr>
          <p:spPr>
            <a:xfrm flipV="1">
              <a:off x="1080596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 userDrawn="1"/>
          </p:nvCxnSpPr>
          <p:spPr>
            <a:xfrm flipV="1">
              <a:off x="1092053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6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299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+ ненумер.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188720"/>
            <a:ext cx="6086475" cy="548639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426329" y="1183006"/>
            <a:ext cx="5580886" cy="549211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3228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нумерованный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148715"/>
            <a:ext cx="11835765" cy="54864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800100" indent="-342900">
              <a:lnSpc>
                <a:spcPct val="100000"/>
              </a:lnSpc>
              <a:buFont typeface="+mj-lt"/>
              <a:buAutoNum type="arabicPeriod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lnSpc>
                <a:spcPct val="100000"/>
              </a:lnSpc>
              <a:buFont typeface="+mj-lt"/>
              <a:buAutoNum type="arabicPeriod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7145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1717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57897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сто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450" y="1177290"/>
            <a:ext cx="11812905" cy="5486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9282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+ текст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0"/>
            <a:ext cx="7008813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450" y="1138687"/>
            <a:ext cx="4831871" cy="55135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4840605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69188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исунок +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703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279" y="5852160"/>
            <a:ext cx="11886086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8429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лев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6072" y="1786243"/>
            <a:ext cx="5242849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831" y="554439"/>
            <a:ext cx="526434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07976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1532" y="1786243"/>
            <a:ext cx="5681932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31" y="554439"/>
            <a:ext cx="499832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1101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13339"/>
            <a:ext cx="12203466" cy="2017541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 userDrawn="1"/>
        </p:nvSpPr>
        <p:spPr>
          <a:xfrm>
            <a:off x="7833360" y="2560320"/>
            <a:ext cx="3933287" cy="4000499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1522" y="2830182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967895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213339"/>
            <a:ext cx="7622546" cy="2017541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 userDrawn="1"/>
        </p:nvSpPr>
        <p:spPr>
          <a:xfrm>
            <a:off x="7833360" y="1213338"/>
            <a:ext cx="3933287" cy="5331235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1522" y="1483200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995471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+ текс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8922" y="1223010"/>
            <a:ext cx="5575433" cy="5372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Диаграмма 7"/>
          <p:cNvSpPr>
            <a:spLocks noGrp="1"/>
          </p:cNvSpPr>
          <p:nvPr>
            <p:ph type="chart" sz="quarter" idx="11"/>
          </p:nvPr>
        </p:nvSpPr>
        <p:spPr>
          <a:xfrm>
            <a:off x="171451" y="1229042"/>
            <a:ext cx="6052184" cy="5354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961370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9544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quot;Дорожная карта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Соединительная линия уступом 5"/>
          <p:cNvCxnSpPr/>
          <p:nvPr userDrawn="1"/>
        </p:nvCxnSpPr>
        <p:spPr>
          <a:xfrm>
            <a:off x="165735" y="1417320"/>
            <a:ext cx="11755755" cy="1194435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8579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2711624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308600" y="1277607"/>
            <a:ext cx="5612889" cy="5626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879975" y="2780929"/>
            <a:ext cx="3418329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479220" y="2780929"/>
            <a:ext cx="2442270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48577" y="4821687"/>
            <a:ext cx="11612917" cy="14939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531460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439165" y="2249512"/>
            <a:ext cx="5108575" cy="490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Прямоугольник 3"/>
          <p:cNvSpPr/>
          <p:nvPr userDrawn="1"/>
        </p:nvSpPr>
        <p:spPr>
          <a:xfrm>
            <a:off x="439165" y="1354812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Контакты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1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3705242-639C-4816-B6E8-01005FE983B9}"/>
              </a:ext>
            </a:extLst>
          </p:cNvPr>
          <p:cNvCxnSpPr>
            <a:cxnSpLocks/>
          </p:cNvCxnSpPr>
          <p:nvPr userDrawn="1"/>
        </p:nvCxnSpPr>
        <p:spPr>
          <a:xfrm>
            <a:off x="0" y="163887"/>
            <a:ext cx="10548046" cy="0"/>
          </a:xfrm>
          <a:prstGeom prst="line">
            <a:avLst/>
          </a:prstGeom>
          <a:ln w="9525">
            <a:solidFill>
              <a:srgbClr val="9238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813" y="-309257"/>
            <a:ext cx="2044945" cy="110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9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1" r:id="rId3"/>
    <p:sldLayoutId id="2147483673" r:id="rId4"/>
    <p:sldLayoutId id="2147483661" r:id="rId5"/>
    <p:sldLayoutId id="2147483674" r:id="rId6"/>
    <p:sldLayoutId id="2147483660" r:id="rId7"/>
    <p:sldLayoutId id="2147483675" r:id="rId8"/>
    <p:sldLayoutId id="2147483654" r:id="rId9"/>
    <p:sldLayoutId id="2147483664" r:id="rId10"/>
    <p:sldLayoutId id="2147483658" r:id="rId11"/>
    <p:sldLayoutId id="2147483655" r:id="rId12"/>
    <p:sldLayoutId id="2147483657" r:id="rId13"/>
    <p:sldLayoutId id="2147483663" r:id="rId14"/>
    <p:sldLayoutId id="2147483665" r:id="rId15"/>
    <p:sldLayoutId id="2147483670" r:id="rId16"/>
    <p:sldLayoutId id="2147483667" r:id="rId17"/>
    <p:sldLayoutId id="2147483677" r:id="rId18"/>
    <p:sldLayoutId id="2147483668" r:id="rId19"/>
    <p:sldLayoutId id="2147483669" r:id="rId20"/>
    <p:sldLayoutId id="2147483671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C305344-D381-4977-A435-C8740BF079CE}"/>
              </a:ext>
            </a:extLst>
          </p:cNvPr>
          <p:cNvSpPr/>
          <p:nvPr/>
        </p:nvSpPr>
        <p:spPr>
          <a:xfrm>
            <a:off x="1916004" y="3999970"/>
            <a:ext cx="90588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Искусственный интеллект в психологии: типы решаемых задач и особенности</a:t>
            </a:r>
          </a:p>
        </p:txBody>
      </p:sp>
    </p:spTree>
    <p:extLst>
      <p:ext uri="{BB962C8B-B14F-4D97-AF65-F5344CB8AC3E}">
        <p14:creationId xmlns:p14="http://schemas.microsoft.com/office/powerpoint/2010/main" val="2424672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F094545B-B931-4F0B-F5AE-6D894F92A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363116"/>
            <a:ext cx="6086475" cy="5486399"/>
          </a:xfrm>
        </p:spPr>
        <p:txBody>
          <a:bodyPr/>
          <a:lstStyle/>
          <a:p>
            <a:pPr marL="0" indent="0">
              <a:buNone/>
            </a:pPr>
            <a:r>
              <a:rPr lang="ru-RU" sz="1500" b="1" dirty="0"/>
              <a:t>Как устроены.</a:t>
            </a:r>
            <a:br>
              <a:rPr lang="ru-RU" sz="1500" dirty="0"/>
            </a:br>
            <a:r>
              <a:rPr lang="ru-RU" sz="1500" dirty="0"/>
              <a:t>Модель обучается на размеченных данных. У неё есть примеры: «вот сто расшифровок сессий пациентов с подтверждённой депрессией, вот сто — здоровых людей». Она находит различия и учится их воспроизводить на новых случаях.</a:t>
            </a:r>
          </a:p>
          <a:p>
            <a:pPr marL="0" indent="0">
              <a:buNone/>
            </a:pPr>
            <a:r>
              <a:rPr lang="ru-RU" sz="1500" b="1" dirty="0"/>
              <a:t>Какие данные анализируют.</a:t>
            </a:r>
            <a:br>
              <a:rPr lang="ru-RU" sz="1500" dirty="0"/>
            </a:br>
            <a:r>
              <a:rPr lang="ru-RU" sz="1500" dirty="0"/>
              <a:t>— Текст: ответы на открытые вопросы, посты в соцсетях, дневниковые записи. Модели на основе BERT или GPT обрабатывают их и ищут маркеры руминаций, безнадёжности, сниженной лексической плотности.</a:t>
            </a:r>
            <a:br>
              <a:rPr lang="ru-RU" sz="1500" dirty="0"/>
            </a:br>
            <a:r>
              <a:rPr lang="ru-RU" sz="1500" dirty="0"/>
              <a:t>— Голос: спектральный анализ. У людей с депрессией меняется интонационная вариативность, появляются более длинные паузы, снижается темп речи. Модели вроде Wav2Vec улавливают эти сдвиги.</a:t>
            </a:r>
            <a:br>
              <a:rPr lang="ru-RU" sz="1500" dirty="0"/>
            </a:br>
            <a:r>
              <a:rPr lang="ru-RU" sz="1500" dirty="0"/>
              <a:t>— Нейровизуализация: МРТ и </a:t>
            </a:r>
            <a:r>
              <a:rPr lang="ru-RU" sz="1500" dirty="0" err="1"/>
              <a:t>фМРТ</a:t>
            </a:r>
            <a:r>
              <a:rPr lang="ru-RU" sz="1500" dirty="0"/>
              <a:t>. CNN находят пространственные паттерны — например, аномальную активацию миндалевидного тела или префронтальной коры.</a:t>
            </a:r>
            <a:br>
              <a:rPr lang="ru-RU" sz="1500" dirty="0"/>
            </a:br>
            <a:r>
              <a:rPr lang="ru-RU" sz="1500" dirty="0"/>
              <a:t>— ЭЭГ и </a:t>
            </a:r>
            <a:r>
              <a:rPr lang="ru-RU" sz="1500" dirty="0" err="1"/>
              <a:t>биосигналы</a:t>
            </a:r>
            <a:r>
              <a:rPr lang="ru-RU" sz="1500" dirty="0"/>
              <a:t>: LSTM анализируют динамику мозговой активности во времени. Это важно для эпилепсии, нарушений сна, ПТСР — там, где критичен временной паттерн.</a:t>
            </a:r>
          </a:p>
          <a:p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2F09AF5-403E-D34A-1118-B7ECC819ED25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370911" y="1365886"/>
            <a:ext cx="5580886" cy="5492114"/>
          </a:xfrm>
        </p:spPr>
        <p:txBody>
          <a:bodyPr/>
          <a:lstStyle/>
          <a:p>
            <a:pPr marL="0" indent="0">
              <a:buNone/>
            </a:pPr>
            <a:r>
              <a:rPr lang="ru-RU" sz="1500" b="1" dirty="0"/>
              <a:t>Что на выходе.</a:t>
            </a:r>
            <a:br>
              <a:rPr lang="ru-RU" sz="1500" dirty="0"/>
            </a:br>
            <a:r>
              <a:rPr lang="ru-RU" sz="1500" dirty="0"/>
              <a:t>Не просто «депрессия есть». Хорошая модель даёт вероятность: «вероятность большого депрессивного эпизода — 87%». Это позволяет клиницисту принимать взвешенное решение, а не слепо доверять машине.</a:t>
            </a:r>
          </a:p>
          <a:p>
            <a:pPr marL="0" indent="0">
              <a:buNone/>
            </a:pPr>
            <a:r>
              <a:rPr lang="ru-RU" sz="1500" b="1" dirty="0"/>
              <a:t>Точность.</a:t>
            </a:r>
            <a:br>
              <a:rPr lang="ru-RU" sz="1500" dirty="0"/>
            </a:br>
            <a:r>
              <a:rPr lang="ru-RU" sz="1500" dirty="0"/>
              <a:t>Современные модели на основе трансформеров показывают точность скрининга депрессии, сопоставимую с клинической оценкой. При этом они не устают и могут за сутки обработать столько данных, сколько психолог не обработает за месяц.</a:t>
            </a:r>
          </a:p>
          <a:p>
            <a:pPr marL="0" indent="0">
              <a:buNone/>
            </a:pPr>
            <a:r>
              <a:rPr lang="ru-RU" sz="1500" b="1" dirty="0"/>
              <a:t>Ограничения.</a:t>
            </a:r>
            <a:br>
              <a:rPr lang="ru-RU" sz="1500" dirty="0"/>
            </a:br>
            <a:r>
              <a:rPr lang="ru-RU" sz="1500" dirty="0"/>
              <a:t>— Модель знает только то, что было в обучающей выборке. Если выборка смещённая (например, одни мужчины или один регион), модель будет ошибаться на других группах.</a:t>
            </a:r>
            <a:br>
              <a:rPr lang="ru-RU" sz="1500" dirty="0"/>
            </a:br>
            <a:r>
              <a:rPr lang="ru-RU" sz="1500" dirty="0"/>
              <a:t>— Ложноположительный диагноз для здорового человека — серьёзная проблема. Поэтому результат модели — это не вердикт, а сигнал для специалиста.</a:t>
            </a:r>
          </a:p>
          <a:p>
            <a:endParaRPr lang="ru-KZ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9DECCA0-AD2B-6FFE-1421-CE88D817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305116"/>
            <a:ext cx="10860334" cy="55998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b="1" dirty="0"/>
              <a:t>Модели для диагностики и классификации</a:t>
            </a:r>
            <a:br>
              <a:rPr lang="ru-RU" b="1" dirty="0"/>
            </a:br>
            <a:br>
              <a:rPr lang="ru-RU" sz="1100" b="1" dirty="0"/>
            </a:br>
            <a:r>
              <a:rPr kumimoji="0" lang="ru-RU" sz="1500" b="0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65000"/>
                    <a:lumOff val="35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Это самый массовый класс моделей в клинической психологии. Их задача — по входным данным сказать, есть ли у человека признаки расстройства.</a:t>
            </a:r>
            <a:br>
              <a:rPr kumimoji="0" lang="ru-RU" sz="1500" b="0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65000"/>
                    <a:lumOff val="35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075656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70E1B973-DE0E-5CC8-59DE-44F79B3CA2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353880"/>
            <a:ext cx="6086475" cy="5486399"/>
          </a:xfrm>
        </p:spPr>
        <p:txBody>
          <a:bodyPr/>
          <a:lstStyle/>
          <a:p>
            <a:pPr marL="0" indent="0">
              <a:buNone/>
            </a:pPr>
            <a:r>
              <a:rPr lang="ru-RU" sz="1500" b="1" dirty="0"/>
              <a:t>Как устроены.</a:t>
            </a:r>
            <a:br>
              <a:rPr lang="ru-RU" sz="1500" dirty="0"/>
            </a:br>
            <a:r>
              <a:rPr lang="ru-RU" sz="1500" dirty="0"/>
              <a:t>Обучены на огромных корпусах текстов — книги, статьи, диалоги. Они не понимают смысл в человеческом смысле слова. Они предсказывают, какое слово или фраза с наибольшей вероятностью должны появиться дальше. Но именно это позволяет им строить связные, эмпатичные ответы.</a:t>
            </a:r>
          </a:p>
          <a:p>
            <a:pPr marL="0" indent="0">
              <a:buNone/>
            </a:pPr>
            <a:r>
              <a:rPr lang="ru-RU" sz="1500" b="1" dirty="0"/>
              <a:t>Форматы применения.</a:t>
            </a:r>
            <a:br>
              <a:rPr lang="ru-RU" sz="1500" dirty="0"/>
            </a:br>
            <a:r>
              <a:rPr lang="ru-RU" sz="1500" dirty="0"/>
              <a:t>— </a:t>
            </a:r>
            <a:r>
              <a:rPr lang="ru-RU" sz="1500" b="1" dirty="0"/>
              <a:t>Чат-боты для психологической поддержки.</a:t>
            </a:r>
            <a:r>
              <a:rPr lang="ru-RU" sz="1500" dirty="0"/>
              <a:t> </a:t>
            </a:r>
            <a:r>
              <a:rPr lang="ru-RU" sz="1500" dirty="0" err="1"/>
              <a:t>Woebot</a:t>
            </a:r>
            <a:r>
              <a:rPr lang="ru-RU" sz="1500" dirty="0"/>
              <a:t>, </a:t>
            </a:r>
            <a:r>
              <a:rPr lang="ru-RU" sz="1500" dirty="0" err="1"/>
              <a:t>Wysa</a:t>
            </a:r>
            <a:r>
              <a:rPr lang="ru-RU" sz="1500" dirty="0"/>
              <a:t> — примеры систем, которые ведут диалог в формате когнитивно-поведенческой терапии. Предлагают техники, отслеживают настроение, напоминают о практиках.</a:t>
            </a:r>
            <a:br>
              <a:rPr lang="ru-RU" sz="1500" dirty="0"/>
            </a:br>
            <a:r>
              <a:rPr lang="ru-RU" sz="1500" dirty="0"/>
              <a:t>— </a:t>
            </a:r>
            <a:r>
              <a:rPr lang="ru-RU" sz="1500" b="1" dirty="0"/>
              <a:t>Скрининг суицидального риска в диалоге.</a:t>
            </a:r>
            <a:r>
              <a:rPr lang="ru-RU" sz="1500" dirty="0"/>
              <a:t> Модель анализирует переписку в реальном времени и подаёт сигнал, если замечает маркеры — конкретные планы, прощание, резкое снижение тональности.</a:t>
            </a:r>
            <a:br>
              <a:rPr lang="ru-RU" sz="1500" dirty="0"/>
            </a:br>
            <a:r>
              <a:rPr lang="ru-RU" sz="1500" dirty="0"/>
              <a:t>— </a:t>
            </a:r>
            <a:r>
              <a:rPr lang="ru-RU" sz="1500" b="1" dirty="0"/>
              <a:t>Генерация терапевтических материалов.</a:t>
            </a:r>
            <a:r>
              <a:rPr lang="ru-RU" sz="1500" dirty="0"/>
              <a:t> Метафоры, сценарии релаксации, тексты для техник — модель создаёт их под конкретный запрос и контекст пользователя.</a:t>
            </a:r>
            <a:br>
              <a:rPr lang="ru-RU" sz="1500" dirty="0"/>
            </a:br>
            <a:r>
              <a:rPr lang="ru-RU" sz="1500" dirty="0"/>
              <a:t>— </a:t>
            </a:r>
            <a:r>
              <a:rPr lang="ru-RU" sz="1500" b="1" dirty="0"/>
              <a:t>Суммаризация сессий.</a:t>
            </a:r>
            <a:r>
              <a:rPr lang="ru-RU" sz="1500" dirty="0"/>
              <a:t> После консультации модель делает краткую выжимку: основные темы, эмоциональная динамика, ключевые фразы клиента. Снижает нагрузку на терапевта при ведении документации.</a:t>
            </a:r>
          </a:p>
          <a:p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13972E-C6A0-DBFE-84C9-6A5C1EC0861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52210" y="1348165"/>
            <a:ext cx="5580886" cy="5492114"/>
          </a:xfrm>
        </p:spPr>
        <p:txBody>
          <a:bodyPr/>
          <a:lstStyle/>
          <a:p>
            <a:pPr marL="0" indent="0">
              <a:buNone/>
            </a:pPr>
            <a:r>
              <a:rPr lang="ru-RU" sz="1500" b="1" dirty="0"/>
              <a:t>Важное отличие от диагностических моделей.</a:t>
            </a:r>
            <a:br>
              <a:rPr lang="ru-RU" sz="1500" dirty="0"/>
            </a:br>
            <a:r>
              <a:rPr lang="ru-RU" sz="1500" dirty="0"/>
              <a:t>Диагностическая отвечает на вопрос «что?». Генеративная отвечает на запрос «сделай». Первая выдаёт категорию или вероятность. Вторая — текст, голос или изображение.</a:t>
            </a:r>
          </a:p>
          <a:p>
            <a:pPr marL="0" indent="0">
              <a:buNone/>
            </a:pPr>
            <a:r>
              <a:rPr lang="ru-RU" sz="1500" b="1" dirty="0"/>
              <a:t>Основные риски.</a:t>
            </a:r>
            <a:br>
              <a:rPr lang="ru-RU" sz="1500" dirty="0"/>
            </a:br>
            <a:r>
              <a:rPr lang="ru-RU" sz="1500" dirty="0"/>
              <a:t>— </a:t>
            </a:r>
            <a:r>
              <a:rPr lang="ru-RU" sz="1500" b="1" dirty="0"/>
              <a:t>Галлюцинации.</a:t>
            </a:r>
            <a:r>
              <a:rPr lang="ru-RU" sz="1500" dirty="0"/>
              <a:t> Модель может сгенерировать правдоподобный, но вредный совет. Например, порекомендовать «просто взять себя в руки» человеку с клинической депрессией.</a:t>
            </a:r>
            <a:br>
              <a:rPr lang="ru-RU" sz="1500" dirty="0"/>
            </a:br>
            <a:r>
              <a:rPr lang="ru-RU" sz="1500" dirty="0"/>
              <a:t>— </a:t>
            </a:r>
            <a:r>
              <a:rPr lang="ru-RU" sz="1500" b="1" dirty="0"/>
              <a:t>Симуляция эмпатии.</a:t>
            </a:r>
            <a:r>
              <a:rPr lang="ru-RU" sz="1500" dirty="0"/>
              <a:t> Модель не сопереживает — она воспроизводит паттерны сочувствующей речи. Для некоторых пользователей это нормально. Для других — триггер: «меня обманывают, меня никто не слушает».</a:t>
            </a:r>
            <a:br>
              <a:rPr lang="ru-RU" sz="1500" dirty="0"/>
            </a:br>
            <a:r>
              <a:rPr lang="ru-RU" sz="1500" dirty="0"/>
              <a:t>— </a:t>
            </a:r>
            <a:r>
              <a:rPr lang="ru-RU" sz="1500" b="1" dirty="0"/>
              <a:t>Формирование зависимости.</a:t>
            </a:r>
            <a:r>
              <a:rPr lang="ru-RU" sz="1500" dirty="0"/>
              <a:t> Пользователь может начать заменять живого терапевта чат-ботом, откладывая реальную помощь.</a:t>
            </a:r>
          </a:p>
          <a:p>
            <a:pPr marL="0" indent="0">
              <a:buNone/>
            </a:pPr>
            <a:r>
              <a:rPr lang="ru-RU" sz="1500" b="1" dirty="0"/>
              <a:t>Ключевой принцип применения.</a:t>
            </a:r>
            <a:br>
              <a:rPr lang="ru-RU" sz="1500" dirty="0"/>
            </a:br>
            <a:r>
              <a:rPr lang="ru-RU" sz="1500" dirty="0"/>
              <a:t>Генеративная модель — не терапевт. Это инструмент между сессиями, в три часа ночи, когда живого специалиста нет рядом. Она держит пространство, но не лечит.</a:t>
            </a:r>
          </a:p>
          <a:p>
            <a:pPr marL="0" indent="0">
              <a:buNone/>
            </a:pPr>
            <a:br>
              <a:rPr lang="ru-RU" dirty="0"/>
            </a:br>
            <a:endParaRPr lang="ru-KZ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0D0B199-1827-A854-8869-7E760AB69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182880"/>
            <a:ext cx="10860334" cy="55998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b="1" dirty="0"/>
              <a:t>Генеративные модели и диалоговые системы</a:t>
            </a:r>
            <a:br>
              <a:rPr lang="ru-RU" b="1" dirty="0"/>
            </a:br>
            <a:br>
              <a:rPr lang="ru-RU" sz="1100" b="1" dirty="0"/>
            </a:br>
            <a:r>
              <a:rPr kumimoji="0" lang="ru-RU" sz="1500" b="0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65000"/>
                    <a:lumOff val="35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Это модели, которые не ставят диагноз, а взаимодействуют с человеком. Их задача — дать отклик, поддержать, помочь сформулировать переживание.</a:t>
            </a:r>
            <a:br>
              <a:rPr kumimoji="0" lang="ru-RU" sz="1500" b="0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65000"/>
                    <a:lumOff val="35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524842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08BBC-D44B-E04B-BD59-D17A88C8A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819FF5D8-3A1D-0B0B-0AFB-4F805A65B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353880"/>
            <a:ext cx="6086475" cy="5486399"/>
          </a:xfrm>
        </p:spPr>
        <p:txBody>
          <a:bodyPr/>
          <a:lstStyle/>
          <a:p>
            <a:pPr marL="0" indent="0">
              <a:buNone/>
            </a:pPr>
            <a:r>
              <a:rPr lang="ru-RU" sz="1500"/>
              <a:t>Большинство моделей работают с чем-то одним: текст, или голос, или снимок. Но психика не раскладывается на отдельные модальности. Тревога видна и в речи, и в позе, и в пульсе. Поэтому развиваются два направления, которые пытаются работать с психикой как с целостной системой.</a:t>
            </a:r>
          </a:p>
          <a:p>
            <a:pPr marL="0" indent="0">
              <a:buNone/>
            </a:pPr>
            <a:r>
              <a:rPr lang="ru-RU" sz="1500" b="1"/>
              <a:t>Мультимодальные модели — объединение источников.</a:t>
            </a:r>
            <a:endParaRPr lang="ru-RU" sz="1500"/>
          </a:p>
          <a:p>
            <a:pPr marL="0" indent="0">
              <a:buNone/>
            </a:pPr>
            <a:r>
              <a:rPr lang="ru-RU" sz="1500" i="1"/>
              <a:t>Идея.</a:t>
            </a:r>
            <a:r>
              <a:rPr lang="ru-RU" sz="1500"/>
              <a:t> Психическое состояние выражается сразу в нескольких каналах. Если модель видит согласованные сигналы из разных источников — надёжность вывода растёт. Если один источник «врёт» или зашумлён — другие его корректируют.</a:t>
            </a:r>
          </a:p>
          <a:p>
            <a:pPr marL="0" indent="0">
              <a:buNone/>
            </a:pPr>
            <a:r>
              <a:rPr lang="ru-RU" sz="1500" i="1"/>
              <a:t>Что объединяется.</a:t>
            </a:r>
            <a:br>
              <a:rPr lang="ru-RU" sz="1500"/>
            </a:br>
            <a:r>
              <a:rPr lang="ru-RU" sz="1500"/>
              <a:t>— Речь: лексика, темп, интонация.</a:t>
            </a:r>
            <a:br>
              <a:rPr lang="ru-RU" sz="1500"/>
            </a:br>
            <a:r>
              <a:rPr lang="ru-RU" sz="1500"/>
              <a:t>— Лицо: микровыражения, направление взгляда, общий уровень напряжения.</a:t>
            </a:r>
            <a:br>
              <a:rPr lang="ru-RU" sz="1500"/>
            </a:br>
            <a:r>
              <a:rPr lang="ru-RU" sz="1500"/>
              <a:t>— Жесты и поза: амплитуда движений, закрытость, двигательное возбуждение или заторможенность.</a:t>
            </a:r>
            <a:br>
              <a:rPr lang="ru-RU" sz="1500"/>
            </a:br>
            <a:r>
              <a:rPr lang="ru-RU" sz="1500"/>
              <a:t>— Физиология: пульс, вариабельность сердечного ритма, кожно-гальваническая реакция, данные сна с носимых устройств.</a:t>
            </a:r>
            <a:br>
              <a:rPr lang="ru-RU" sz="1500"/>
            </a:br>
            <a:r>
              <a:rPr lang="ru-RU" sz="1500"/>
              <a:t>— Контекст: время суток, частота обращений, соблюдение режима.</a:t>
            </a:r>
          </a:p>
          <a:p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4D7D47-BACE-CAB1-CAEC-B92A5AA7F1D5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52210" y="1348165"/>
            <a:ext cx="5580886" cy="5492114"/>
          </a:xfrm>
        </p:spPr>
        <p:txBody>
          <a:bodyPr/>
          <a:lstStyle/>
          <a:p>
            <a:pPr marL="0" indent="0">
              <a:buNone/>
            </a:pPr>
            <a:r>
              <a:rPr lang="ru-RU" sz="1500" b="1"/>
              <a:t>Когнитивные модели — формальные теории психики.</a:t>
            </a:r>
            <a:endParaRPr lang="ru-RU" sz="1500"/>
          </a:p>
          <a:p>
            <a:pPr marL="0" indent="0">
              <a:buNone/>
            </a:pPr>
            <a:r>
              <a:rPr lang="ru-RU" sz="1500" i="1"/>
              <a:t>Идея.</a:t>
            </a:r>
            <a:r>
              <a:rPr lang="ru-RU" sz="1500"/>
              <a:t> Не диагностировать, а понять, как работает сознание. Построить вычислительную модель, которая ведёт себя как психика — с теми же ограничениями, теми же ошибками, той же логикой.</a:t>
            </a:r>
          </a:p>
          <a:p>
            <a:pPr marL="0" indent="0">
              <a:buNone/>
            </a:pPr>
            <a:r>
              <a:rPr lang="ru-RU" sz="1500" i="1"/>
              <a:t>Чем отличаются от остальных.</a:t>
            </a:r>
            <a:br>
              <a:rPr lang="ru-RU" sz="1500"/>
            </a:br>
            <a:r>
              <a:rPr lang="ru-RU" sz="1500"/>
              <a:t>— Обычная нейросеть — статистическая машина. Она не притворяется психикой. Она просто находит корреляции.</a:t>
            </a:r>
            <a:br>
              <a:rPr lang="ru-RU" sz="1500"/>
            </a:br>
            <a:r>
              <a:rPr lang="ru-RU" sz="1500"/>
              <a:t>— Когнитивная архитектура — это гипотеза о структуре сознания. У неё есть блоки: рабочая память, долговременная память, механизм внимания, система принятия решений. Они взаимодействуют по правилам, которые формулирует теория.</a:t>
            </a:r>
            <a:br>
              <a:rPr lang="ru-RU" sz="1500"/>
            </a:br>
            <a:br>
              <a:rPr lang="ru-RU" sz="1500"/>
            </a:br>
            <a:r>
              <a:rPr lang="ru-RU" sz="1500" i="1"/>
              <a:t>Примеры архитектур.</a:t>
            </a:r>
            <a:br>
              <a:rPr lang="ru-RU" sz="1500"/>
            </a:br>
            <a:r>
              <a:rPr lang="ru-RU" sz="1500"/>
              <a:t>— </a:t>
            </a:r>
            <a:r>
              <a:rPr lang="ru-RU" sz="1500" b="1"/>
              <a:t>ACT-R.</a:t>
            </a:r>
            <a:r>
              <a:rPr lang="ru-RU" sz="1500"/>
              <a:t> Моделирует когнитивные процессы: как информация извлекается из памяти, как распределяется внимание. Позволяет предсказывать время реакции, забывание, ошибки.</a:t>
            </a:r>
            <a:br>
              <a:rPr lang="ru-RU" sz="1500"/>
            </a:br>
            <a:r>
              <a:rPr lang="ru-RU" sz="1500"/>
              <a:t>— </a:t>
            </a:r>
            <a:r>
              <a:rPr lang="ru-RU" sz="1500" b="1"/>
              <a:t>Soar.</a:t>
            </a:r>
            <a:r>
              <a:rPr lang="ru-RU" sz="1500"/>
              <a:t> Архитектура, основанная на правилах. Моделирует обучение через решение задач и накопление опыта.</a:t>
            </a:r>
          </a:p>
          <a:p>
            <a:pPr marL="0" indent="0">
              <a:buNone/>
            </a:pPr>
            <a:br>
              <a:rPr lang="ru-RU" sz="1500"/>
            </a:br>
            <a:endParaRPr lang="ru-KZ" sz="15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10073D5-3417-ADC6-A6F8-445BE6DE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182880"/>
            <a:ext cx="10860334" cy="685338"/>
          </a:xfrm>
        </p:spPr>
        <p:txBody>
          <a:bodyPr/>
          <a:lstStyle/>
          <a:p>
            <a:pPr lvl="0">
              <a:spcBef>
                <a:spcPts val="1000"/>
              </a:spcBef>
              <a:defRPr/>
            </a:pPr>
            <a:r>
              <a:rPr lang="ru-RU" b="1"/>
              <a:t>Мультимодальные и когнитивные модели: целостный подход</a:t>
            </a:r>
            <a:br>
              <a:rPr lang="ru-RU" sz="1500">
                <a:solidFill>
                  <a:srgbClr val="181818">
                    <a:lumMod val="65000"/>
                    <a:lumOff val="35000"/>
                  </a:srgb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br>
              <a:rPr kumimoji="0" lang="ru-RU" sz="1500" b="0" i="0" u="none" strike="noStrike" kern="1200" cap="none" spc="0" normalizeH="0" baseline="0" noProof="0">
                <a:ln>
                  <a:noFill/>
                </a:ln>
                <a:solidFill>
                  <a:srgbClr val="181818">
                    <a:lumMod val="65000"/>
                    <a:lumOff val="35000"/>
                  </a:srgb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100795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FF27D866-C85D-B0C6-7FF0-9B993A3B4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sz="1800" b="1" dirty="0" err="1"/>
              <a:t>Woebot</a:t>
            </a:r>
            <a:r>
              <a:rPr lang="ru-RU" sz="1800" b="1" dirty="0"/>
              <a:t> (США, 2017)</a:t>
            </a:r>
            <a:br>
              <a:rPr lang="ru-RU" sz="1600" dirty="0"/>
            </a:br>
            <a:r>
              <a:rPr lang="ru-RU" sz="1600" i="1" dirty="0"/>
              <a:t>Что это.</a:t>
            </a:r>
            <a:r>
              <a:rPr lang="ru-RU" sz="1600" dirty="0"/>
              <a:t> Чат-бот на основе когнитивно-поведенческой терапии.</a:t>
            </a:r>
            <a:br>
              <a:rPr lang="ru-RU" sz="1600" dirty="0"/>
            </a:br>
            <a:r>
              <a:rPr lang="ru-RU" sz="1600" i="1" dirty="0"/>
              <a:t>Как работает.</a:t>
            </a:r>
            <a:r>
              <a:rPr lang="ru-RU" sz="1600" dirty="0"/>
              <a:t> Пользователь описывает своё состояние в свободной форме, </a:t>
            </a:r>
            <a:r>
              <a:rPr lang="ru-RU" sz="1600" dirty="0" err="1"/>
              <a:t>Woebot</a:t>
            </a:r>
            <a:r>
              <a:rPr lang="ru-RU" sz="1600" dirty="0"/>
              <a:t> анализирует текст и предлагает технику из КПТ — например, отслеживание автоматических мыслей или поведенческую активацию.</a:t>
            </a:r>
            <a:br>
              <a:rPr lang="ru-RU" sz="1600" dirty="0"/>
            </a:br>
            <a:r>
              <a:rPr lang="ru-RU" sz="1600" i="1" dirty="0"/>
              <a:t>Доказательная база.</a:t>
            </a:r>
            <a:r>
              <a:rPr lang="ru-RU" sz="1600" dirty="0"/>
              <a:t> Рандомизированное контролируемое исследование 2017 года показало значимое снижение симптомов депрессии и тревоги за две недели использования.</a:t>
            </a:r>
            <a:br>
              <a:rPr lang="ru-RU" sz="1600" dirty="0"/>
            </a:br>
            <a:r>
              <a:rPr lang="ru-RU" sz="1600" i="1" dirty="0"/>
              <a:t>Ограничения.</a:t>
            </a:r>
            <a:r>
              <a:rPr lang="ru-RU" sz="1600" dirty="0"/>
              <a:t> Работает только на английском. Не предназначен для кризисных состояний — при маркерах суицидального риска перенаправляет на горячую линию.</a:t>
            </a:r>
            <a:endParaRPr lang="ru-KZ" sz="1600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3C611FF-C5DC-8220-2084-0DAA5FA7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Конкретные системы: что уже работает</a:t>
            </a:r>
            <a:br>
              <a:rPr lang="ru-RU" dirty="0"/>
            </a:br>
            <a:br>
              <a:rPr lang="ru-RU" dirty="0"/>
            </a:br>
            <a:endParaRPr lang="ru-KZ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46CB226-2F73-FB79-5971-5E57DEB8F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83" y="1198359"/>
            <a:ext cx="5385320" cy="538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452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599AAEA-6108-6614-DA24-AB10C93DC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735" y="1241483"/>
            <a:ext cx="5575433" cy="5372100"/>
          </a:xfrm>
        </p:spPr>
        <p:txBody>
          <a:bodyPr/>
          <a:lstStyle/>
          <a:p>
            <a:r>
              <a:rPr lang="ru-RU" sz="1800" b="1" dirty="0" err="1"/>
              <a:t>Wysa</a:t>
            </a:r>
            <a:r>
              <a:rPr lang="ru-RU" sz="1800" b="1" dirty="0"/>
              <a:t> (Великобритания/Индия, 2016)</a:t>
            </a:r>
            <a:br>
              <a:rPr lang="ru-RU" sz="1600" dirty="0"/>
            </a:br>
            <a:r>
              <a:rPr lang="ru-RU" sz="1600" i="1" dirty="0"/>
              <a:t>Что это.</a:t>
            </a:r>
            <a:r>
              <a:rPr lang="ru-RU" sz="1600" dirty="0"/>
              <a:t> Чат-бот с эмоционально-поддерживающим фокусом, использующий пингвина-аватара.</a:t>
            </a:r>
            <a:br>
              <a:rPr lang="ru-RU" sz="1600" dirty="0"/>
            </a:br>
            <a:r>
              <a:rPr lang="ru-RU" sz="1600" i="1" dirty="0"/>
              <a:t>Как работает.</a:t>
            </a:r>
            <a:r>
              <a:rPr lang="ru-RU" sz="1600" dirty="0"/>
              <a:t> В отличие от </a:t>
            </a:r>
            <a:r>
              <a:rPr lang="ru-RU" sz="1600" dirty="0" err="1"/>
              <a:t>Woebot</a:t>
            </a:r>
            <a:r>
              <a:rPr lang="ru-RU" sz="1600" dirty="0"/>
              <a:t>, </a:t>
            </a:r>
            <a:r>
              <a:rPr lang="ru-RU" sz="1600" dirty="0" err="1"/>
              <a:t>Wysa</a:t>
            </a:r>
            <a:r>
              <a:rPr lang="ru-RU" sz="1600" dirty="0"/>
              <a:t> не только про КПТ — он включает техники осознанности, диалектической поведенческой терапии и мотивационного интервью. Есть интеграция с живыми терапевтами для платных пользователей.</a:t>
            </a:r>
            <a:br>
              <a:rPr lang="ru-RU" sz="1600" dirty="0"/>
            </a:br>
            <a:r>
              <a:rPr lang="ru-RU" sz="1600" i="1" dirty="0"/>
              <a:t>Особенность.</a:t>
            </a:r>
            <a:r>
              <a:rPr lang="ru-RU" sz="1600" dirty="0"/>
              <a:t> Ориентирован на подростков и молодых взрослых. Анимация аватара снижает барьер стеснения — переписываться с пингвином проще, чем с «серьёзной» системой.</a:t>
            </a:r>
            <a:br>
              <a:rPr lang="ru-RU" sz="1600" dirty="0"/>
            </a:br>
            <a:r>
              <a:rPr lang="ru-RU" sz="1600" i="1" dirty="0"/>
              <a:t>Признание.</a:t>
            </a:r>
            <a:r>
              <a:rPr lang="ru-RU" sz="1600" dirty="0"/>
              <a:t> Одобрен NHS (Национальной службой здравоохранения Великобритании) как цифровой терапевтический инструмент.</a:t>
            </a:r>
            <a:endParaRPr lang="ru-KZ" sz="16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566765D-34F9-60F5-0347-0FCD894B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Конкретные системы: что уже работает</a:t>
            </a:r>
            <a:endParaRPr lang="ru-KZ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0AB2AA-ECC4-9259-4F8C-55DEE622D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182" y="994411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031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9290B-8C8D-17C1-3A41-5E527C248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AECF398A-F191-466B-E5FD-5BFD4328B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sz="1800" b="1" dirty="0" err="1"/>
              <a:t>Limbic</a:t>
            </a:r>
            <a:r>
              <a:rPr lang="ru-RU" sz="1800" b="1" dirty="0"/>
              <a:t> (Великобритания, 2019)</a:t>
            </a:r>
            <a:br>
              <a:rPr lang="ru-RU" sz="2000" dirty="0"/>
            </a:br>
            <a:r>
              <a:rPr lang="ru-RU" sz="1600" i="1" dirty="0"/>
              <a:t>Что это.</a:t>
            </a:r>
            <a:r>
              <a:rPr lang="ru-RU" sz="1600" dirty="0"/>
              <a:t> Система поддержки принятия клинических решений для скрининга психических расстройств.</a:t>
            </a:r>
            <a:br>
              <a:rPr lang="ru-RU" sz="2000" dirty="0"/>
            </a:br>
            <a:r>
              <a:rPr lang="ru-RU" sz="1600" i="1" dirty="0"/>
              <a:t>Как работает.</a:t>
            </a:r>
            <a:r>
              <a:rPr lang="ru-RU" sz="1600" dirty="0"/>
              <a:t> Анализирует текст, который пациент вводит при самостоятельном обращении. Модель на основе трансформеров оценивает риск депрессии, тревоги и других расстройств и передаёт структурированный отчёт клиницисту до начала приёма.</a:t>
            </a:r>
            <a:br>
              <a:rPr lang="ru-RU" sz="2000" dirty="0"/>
            </a:br>
            <a:r>
              <a:rPr lang="ru-RU" sz="1600" i="1" dirty="0"/>
              <a:t>Результаты.</a:t>
            </a:r>
            <a:r>
              <a:rPr lang="ru-RU" sz="1600" dirty="0"/>
              <a:t> Внедрение в британской NHS сократило время постановки диагноза и повысило пропускную способность службы психологической помощи на 20–30%.</a:t>
            </a:r>
            <a:br>
              <a:rPr lang="ru-RU" sz="2000" dirty="0"/>
            </a:br>
            <a:r>
              <a:rPr lang="ru-RU" sz="1600" i="1" dirty="0"/>
              <a:t>Отличие от </a:t>
            </a:r>
            <a:r>
              <a:rPr lang="ru-RU" sz="1600" i="1" dirty="0" err="1"/>
              <a:t>Woebot</a:t>
            </a:r>
            <a:r>
              <a:rPr lang="ru-RU" sz="1600" i="1" dirty="0"/>
              <a:t> и </a:t>
            </a:r>
            <a:r>
              <a:rPr lang="ru-RU" sz="1600" i="1" dirty="0" err="1"/>
              <a:t>Wysa</a:t>
            </a:r>
            <a:r>
              <a:rPr lang="ru-RU" sz="1600" i="1" dirty="0"/>
              <a:t>.</a:t>
            </a:r>
            <a:r>
              <a:rPr lang="ru-RU" sz="1600" dirty="0"/>
              <a:t> </a:t>
            </a:r>
            <a:r>
              <a:rPr lang="ru-RU" sz="1600" dirty="0" err="1"/>
              <a:t>Limbic</a:t>
            </a:r>
            <a:r>
              <a:rPr lang="ru-RU" sz="1600" dirty="0"/>
              <a:t> не общается с пациентом напрямую как терапевт. Это инструмент для специалиста — помогает быстрее сориентироваться до сессии.</a:t>
            </a:r>
            <a:endParaRPr lang="ru-KZ" sz="1800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EBFBA0B-347A-135C-1D26-27FCA5C99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Конкретные системы: что уже работает</a:t>
            </a:r>
            <a:br>
              <a:rPr lang="ru-RU" dirty="0"/>
            </a:br>
            <a:br>
              <a:rPr lang="ru-RU" dirty="0"/>
            </a:br>
            <a:endParaRPr lang="ru-KZ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05FADE-6298-9443-3805-2070E6BECB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91" t="19312" r="63386" b="17622"/>
          <a:stretch>
            <a:fillRect/>
          </a:stretch>
        </p:blipFill>
        <p:spPr>
          <a:xfrm>
            <a:off x="738388" y="902048"/>
            <a:ext cx="4895793" cy="4836451"/>
          </a:xfrm>
          <a:prstGeom prst="rect">
            <a:avLst/>
          </a:prstGeom>
        </p:spPr>
      </p:pic>
      <p:sp>
        <p:nvSpPr>
          <p:cNvPr id="2" name="Текст 5">
            <a:extLst>
              <a:ext uri="{FF2B5EF4-FFF2-40B4-BE49-F238E27FC236}">
                <a16:creationId xmlns:a16="http://schemas.microsoft.com/office/drawing/2014/main" id="{1E83426D-55A8-4B47-CBCC-F4F0D9B43177}"/>
              </a:ext>
            </a:extLst>
          </p:cNvPr>
          <p:cNvSpPr txBox="1">
            <a:spLocks/>
          </p:cNvSpPr>
          <p:nvPr/>
        </p:nvSpPr>
        <p:spPr>
          <a:xfrm>
            <a:off x="165735" y="5736972"/>
            <a:ext cx="11818620" cy="93829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ВАЖНО: Все три системы — не замена психологу, а расширение его возможностей. Они прошли клиническую валидацию и уже работают в реальной практике. </a:t>
            </a:r>
            <a:r>
              <a:rPr lang="ru-RU" dirty="0" err="1"/>
              <a:t>Woebot</a:t>
            </a:r>
            <a:r>
              <a:rPr lang="ru-RU" dirty="0"/>
              <a:t> и </a:t>
            </a:r>
            <a:r>
              <a:rPr lang="ru-RU" dirty="0" err="1"/>
              <a:t>Wysa</a:t>
            </a:r>
            <a:r>
              <a:rPr lang="ru-RU" dirty="0"/>
              <a:t> поддерживают пользователя между сессиями, </a:t>
            </a:r>
            <a:r>
              <a:rPr lang="ru-RU" dirty="0" err="1"/>
              <a:t>Limbic</a:t>
            </a:r>
            <a:r>
              <a:rPr lang="ru-RU" dirty="0"/>
              <a:t> экономит время специалиста до приёма. Ответственность всегда остаётся за человеком.</a:t>
            </a:r>
            <a:endParaRPr lang="ru-KZ" sz="1800" dirty="0"/>
          </a:p>
        </p:txBody>
      </p:sp>
    </p:spTree>
    <p:extLst>
      <p:ext uri="{BB962C8B-B14F-4D97-AF65-F5344CB8AC3E}">
        <p14:creationId xmlns:p14="http://schemas.microsoft.com/office/powerpoint/2010/main" val="3181679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5D2A94F-53BA-4683-BF70-4046D140D385}"/>
              </a:ext>
            </a:extLst>
          </p:cNvPr>
          <p:cNvSpPr/>
          <p:nvPr/>
        </p:nvSpPr>
        <p:spPr>
          <a:xfrm>
            <a:off x="278229" y="1197753"/>
            <a:ext cx="11734701" cy="1798110"/>
          </a:xfrm>
          <a:prstGeom prst="rect">
            <a:avLst/>
          </a:prstGeom>
          <a:solidFill>
            <a:srgbClr val="851515">
              <a:alpha val="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5D2A94F-53BA-4683-BF70-4046D140D385}"/>
              </a:ext>
            </a:extLst>
          </p:cNvPr>
          <p:cNvSpPr/>
          <p:nvPr/>
        </p:nvSpPr>
        <p:spPr>
          <a:xfrm>
            <a:off x="7658100" y="3271211"/>
            <a:ext cx="4307304" cy="2648326"/>
          </a:xfrm>
          <a:prstGeom prst="rect">
            <a:avLst/>
          </a:prstGeom>
          <a:solidFill>
            <a:srgbClr val="8FAADC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b="1" dirty="0"/>
              <a:t>Типы решаемых задач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58140" y="1231265"/>
            <a:ext cx="11666220" cy="1764598"/>
          </a:xfrm>
        </p:spPr>
        <p:txBody>
          <a:bodyPr/>
          <a:lstStyle/>
          <a:p>
            <a:r>
              <a:rPr lang="ru-RU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Первая — диагностика и скрининг.</a:t>
            </a:r>
            <a:br>
              <a:rPr lang="ru-RU" b="1" dirty="0">
                <a:solidFill>
                  <a:schemeClr val="tx1">
                    <a:lumMod val="90000"/>
                    <a:lumOff val="10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90000"/>
                    <a:lumOff val="10000"/>
                  </a:schemeClr>
                </a:solidFill>
              </a:rPr>
              <a:t>ИИ обучается выявлять психические расстройства по объективным данным: по текстам, по голосу, по паттернам активности мозга. Например, модели на основе трансформеров показывают точность выявления депрессии, сопоставимую с клинической оценкой.</a:t>
            </a: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443563" y="3315920"/>
            <a:ext cx="6721242" cy="276590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tx1"/>
                </a:solidFill>
              </a:rPr>
              <a:t>Преимущества ИИ-диагностики</a:t>
            </a:r>
          </a:p>
          <a:p>
            <a:r>
              <a:rPr lang="ru-RU" b="1" dirty="0"/>
              <a:t>Объективность:</a:t>
            </a:r>
            <a:r>
              <a:rPr lang="ru-RU" dirty="0"/>
              <a:t> ИИ не подвержен усталости, эмоциональному выгоранию или когнитивным искажениям.</a:t>
            </a:r>
          </a:p>
          <a:p>
            <a:r>
              <a:rPr lang="ru-RU" b="1" dirty="0"/>
              <a:t>Масштабируемость:</a:t>
            </a:r>
            <a:r>
              <a:rPr lang="ru-RU" dirty="0"/>
              <a:t> Один алгоритм может обработать тысячи пациентов одновременно.</a:t>
            </a:r>
          </a:p>
          <a:p>
            <a:r>
              <a:rPr lang="ru-RU" b="1" dirty="0"/>
              <a:t>Раннее выявление:</a:t>
            </a:r>
            <a:r>
              <a:rPr lang="ru-RU" dirty="0"/>
              <a:t> ИИ улавливает </a:t>
            </a:r>
            <a:r>
              <a:rPr lang="ru-RU" dirty="0" err="1"/>
              <a:t>микропризнаки</a:t>
            </a:r>
            <a:r>
              <a:rPr lang="ru-RU" dirty="0"/>
              <a:t> задолго до того, как симптомы становятся очевидными для клинициста.</a:t>
            </a:r>
          </a:p>
          <a:p>
            <a:r>
              <a:rPr lang="ru-RU" b="1" dirty="0"/>
              <a:t>Доступность:</a:t>
            </a:r>
            <a:r>
              <a:rPr lang="ru-RU" dirty="0"/>
              <a:t> Скрининг можно проводить удалённо, через смартфон или компьютер.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3F475C7-2A54-86DF-12F1-776AA3D17F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60" r="16149"/>
          <a:stretch>
            <a:fillRect/>
          </a:stretch>
        </p:blipFill>
        <p:spPr>
          <a:xfrm>
            <a:off x="7931797" y="3271211"/>
            <a:ext cx="3759910" cy="264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65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B3B71-9749-D971-959B-37178C67E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44F2360-2E29-640A-FABE-49D70006E245}"/>
              </a:ext>
            </a:extLst>
          </p:cNvPr>
          <p:cNvSpPr/>
          <p:nvPr/>
        </p:nvSpPr>
        <p:spPr>
          <a:xfrm>
            <a:off x="278229" y="1197753"/>
            <a:ext cx="11734701" cy="1798110"/>
          </a:xfrm>
          <a:prstGeom prst="rect">
            <a:avLst/>
          </a:prstGeom>
          <a:solidFill>
            <a:srgbClr val="851515">
              <a:alpha val="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BF07C16-574C-F61A-1F35-675E405D54C7}"/>
              </a:ext>
            </a:extLst>
          </p:cNvPr>
          <p:cNvSpPr/>
          <p:nvPr/>
        </p:nvSpPr>
        <p:spPr>
          <a:xfrm>
            <a:off x="7658100" y="3271211"/>
            <a:ext cx="4307304" cy="2648326"/>
          </a:xfrm>
          <a:prstGeom prst="rect">
            <a:avLst/>
          </a:prstGeom>
          <a:solidFill>
            <a:srgbClr val="8FAADC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36F76E-9FF8-A652-52A5-A18EF2BB3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b="1" dirty="0"/>
              <a:t>Типы решаемых задач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0A5781-17BE-C3A7-0B24-428CF8D4F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8140" y="1231265"/>
            <a:ext cx="11666220" cy="1764598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Вторая — терапевтические интервенции и поддержка.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/>
              <a:t>Это чат-боты для психотерапии, системы скрининга суицидального риска, цифровые помощники для людей с тревожными расстройствами. Здесь ИИ выступает не как замена психологу, а как инструмент первичной поддержки и масштабирования помощи.</a:t>
            </a:r>
          </a:p>
          <a:p>
            <a:br>
              <a:rPr lang="ru-RU" dirty="0"/>
            </a:br>
            <a:endParaRPr lang="ru-RU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27B4B66A-4F79-CFBC-A9F8-4F78CC4F5891}"/>
              </a:ext>
            </a:extLst>
          </p:cNvPr>
          <p:cNvSpPr txBox="1">
            <a:spLocks/>
          </p:cNvSpPr>
          <p:nvPr/>
        </p:nvSpPr>
        <p:spPr>
          <a:xfrm>
            <a:off x="278229" y="3271211"/>
            <a:ext cx="7379870" cy="364181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tx1"/>
                </a:solidFill>
              </a:rPr>
              <a:t>Преимущества ИИ в терапевтических интервенциях и поддержке</a:t>
            </a:r>
          </a:p>
          <a:p>
            <a:r>
              <a:rPr lang="ru-RU" b="1" dirty="0"/>
              <a:t>Доступность 24/7:</a:t>
            </a:r>
            <a:r>
              <a:rPr lang="ru-RU" dirty="0"/>
              <a:t> ИИ-помощники работают круглосуточно — человек может получить поддержку в любой момент, независимо от времени суток, выходных или наличия свободной записи к специалисту.</a:t>
            </a:r>
          </a:p>
          <a:p>
            <a:r>
              <a:rPr lang="ru-RU" b="1" dirty="0"/>
              <a:t>Снижение барьера входа:</a:t>
            </a:r>
            <a:r>
              <a:rPr lang="ru-RU" dirty="0"/>
              <a:t> Анонимность и отсутствие страха осуждения позволяют обратиться за помощью тем, кто стесняется личного визита к психологу, опасается стигматизации или живёт в удалённом регионе.</a:t>
            </a:r>
          </a:p>
          <a:p>
            <a:r>
              <a:rPr lang="ru-RU" b="1" dirty="0"/>
              <a:t>Масштабируемость:</a:t>
            </a:r>
            <a:r>
              <a:rPr lang="ru-RU" dirty="0"/>
              <a:t> Один чат-бот может одновременно вести диалог с миллионами пользователей, что особенно важно в условиях дефицита квалифицированных кадров в сфере психического здоровья.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CCD0BB58-7DB4-D8B4-B644-27BE32A9AF23}"/>
              </a:ext>
            </a:extLst>
          </p:cNvPr>
          <p:cNvSpPr txBox="1">
            <a:spLocks/>
          </p:cNvSpPr>
          <p:nvPr/>
        </p:nvSpPr>
        <p:spPr>
          <a:xfrm>
            <a:off x="8025063" y="3538505"/>
            <a:ext cx="3711696" cy="17005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A73AF4D-0731-88E1-B803-5047D5D9FD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61" t="6407" r="26206" b="9923"/>
          <a:stretch>
            <a:fillRect/>
          </a:stretch>
        </p:blipFill>
        <p:spPr>
          <a:xfrm>
            <a:off x="8563304" y="3271211"/>
            <a:ext cx="2635213" cy="264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64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B6BAE-5DDB-6F46-7877-BAE8D75F2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CE6A138-2B25-3B4F-37C8-D206199EEF8D}"/>
              </a:ext>
            </a:extLst>
          </p:cNvPr>
          <p:cNvSpPr/>
          <p:nvPr/>
        </p:nvSpPr>
        <p:spPr>
          <a:xfrm>
            <a:off x="278229" y="1197753"/>
            <a:ext cx="11734701" cy="1798110"/>
          </a:xfrm>
          <a:prstGeom prst="rect">
            <a:avLst/>
          </a:prstGeom>
          <a:solidFill>
            <a:srgbClr val="851515">
              <a:alpha val="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B23AB07-5D2B-7D38-1D46-E7F63384C694}"/>
              </a:ext>
            </a:extLst>
          </p:cNvPr>
          <p:cNvSpPr/>
          <p:nvPr/>
        </p:nvSpPr>
        <p:spPr>
          <a:xfrm>
            <a:off x="7658100" y="3271211"/>
            <a:ext cx="4307304" cy="2648326"/>
          </a:xfrm>
          <a:prstGeom prst="rect">
            <a:avLst/>
          </a:prstGeom>
          <a:solidFill>
            <a:srgbClr val="8FAADC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E2498D-56C8-69D8-5834-D93F8EC2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30" y="439420"/>
            <a:ext cx="11658600" cy="640715"/>
          </a:xfrm>
          <a:prstGeom prst="rect">
            <a:avLst/>
          </a:prstGeom>
        </p:spPr>
        <p:txBody>
          <a:bodyPr/>
          <a:lstStyle/>
          <a:p>
            <a:r>
              <a:rPr lang="ru-RU" b="1" dirty="0"/>
              <a:t>Типы решаемых задач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768B3B-897E-356C-80B3-D88DC3C825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8140" y="1231265"/>
            <a:ext cx="11666220" cy="1764598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Третья — фундаментальные исследования психики.</a:t>
            </a:r>
            <a:br>
              <a:rPr lang="ru-RU" b="1" dirty="0">
                <a:solidFill>
                  <a:schemeClr val="tx1"/>
                </a:solidFill>
              </a:rPr>
            </a:br>
            <a:r>
              <a:rPr lang="ru-RU" dirty="0"/>
              <a:t>Использование ИИ для когнитивного моделирования: как работает внимание, память, принятие решений. А также интерфейсы "мозг-компьютер" — восстановление коммуникации для пациентов с нарушениями речи.</a:t>
            </a:r>
            <a:endParaRPr lang="ru-RU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C1DB95AC-98AF-D99E-8442-51EEC710BF58}"/>
              </a:ext>
            </a:extLst>
          </p:cNvPr>
          <p:cNvSpPr txBox="1">
            <a:spLocks/>
          </p:cNvSpPr>
          <p:nvPr/>
        </p:nvSpPr>
        <p:spPr>
          <a:xfrm>
            <a:off x="226596" y="3113481"/>
            <a:ext cx="7431503" cy="35867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tx1"/>
                </a:solidFill>
              </a:rPr>
              <a:t>Преимущества ИИ в фундаментальных исследованиях психики</a:t>
            </a:r>
          </a:p>
          <a:p>
            <a:r>
              <a:rPr lang="ru-RU" b="1" dirty="0"/>
              <a:t>Моделирование когнитивных процессов:</a:t>
            </a:r>
            <a:r>
              <a:rPr lang="ru-RU" dirty="0"/>
              <a:t> ИИ позволяет создавать вычислительные модели внимания, памяти и принятия решений, которые работают как формализованные гипотезы о работе мозга — это даёт возможность проверять теории в контролируемой среде.</a:t>
            </a:r>
          </a:p>
          <a:p>
            <a:r>
              <a:rPr lang="ru-RU" b="1" dirty="0"/>
              <a:t>Сравнение ИИ и мозга:</a:t>
            </a:r>
            <a:r>
              <a:rPr lang="ru-RU" dirty="0"/>
              <a:t> Нейросетевые архитектуры служат эталоном для сравнения: анализируя, где поведение ИИ совпадает с человеческим, а где расходится, исследователи выдвигают новые гипотезы о механизмах мышления.</a:t>
            </a:r>
          </a:p>
          <a:p>
            <a:r>
              <a:rPr lang="ru-RU" b="1" dirty="0"/>
              <a:t>Предсказательное моделирование:</a:t>
            </a:r>
            <a:r>
              <a:rPr lang="ru-RU" dirty="0"/>
              <a:t> ИИ позволяет не просто описывать когнитивные феномены, но и предсказывать их динамику в зависимости от изменяющихся условий (нагрузка, стресс, возрастные изменения).</a:t>
            </a:r>
          </a:p>
          <a:p>
            <a:br>
              <a:rPr lang="ru-RU" dirty="0"/>
            </a:br>
            <a:endParaRPr lang="ru-RU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C65A0C6B-9BA0-C746-BB25-79C7B2C95A4B}"/>
              </a:ext>
            </a:extLst>
          </p:cNvPr>
          <p:cNvSpPr txBox="1">
            <a:spLocks/>
          </p:cNvSpPr>
          <p:nvPr/>
        </p:nvSpPr>
        <p:spPr>
          <a:xfrm>
            <a:off x="8025063" y="3538505"/>
            <a:ext cx="3711696" cy="17005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529854-564F-0112-40F4-BA72DD701A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94" r="10295"/>
          <a:stretch>
            <a:fillRect/>
          </a:stretch>
        </p:blipFill>
        <p:spPr>
          <a:xfrm>
            <a:off x="8280573" y="3271211"/>
            <a:ext cx="3062357" cy="264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34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5D2A94F-53BA-4683-BF70-4046D140D385}"/>
              </a:ext>
            </a:extLst>
          </p:cNvPr>
          <p:cNvSpPr/>
          <p:nvPr/>
        </p:nvSpPr>
        <p:spPr>
          <a:xfrm>
            <a:off x="102869" y="4560570"/>
            <a:ext cx="11972926" cy="1966562"/>
          </a:xfrm>
          <a:prstGeom prst="rect">
            <a:avLst/>
          </a:prstGeom>
          <a:solidFill>
            <a:srgbClr val="851515">
              <a:alpha val="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381E18-CAA0-2926-37CA-E6451848D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b="1" dirty="0"/>
              <a:t>Особенности и ограничения</a:t>
            </a:r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3092750124"/>
              </p:ext>
            </p:extLst>
          </p:nvPr>
        </p:nvGraphicFramePr>
        <p:xfrm>
          <a:off x="353594" y="1100890"/>
          <a:ext cx="11696031" cy="3383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Текст 8"/>
          <p:cNvSpPr txBox="1">
            <a:spLocks/>
          </p:cNvSpPr>
          <p:nvPr/>
        </p:nvSpPr>
        <p:spPr>
          <a:xfrm>
            <a:off x="2608046" y="5184605"/>
            <a:ext cx="9162049" cy="7184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sz="14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Вывод: ИИ расширяет возможности психолога, но не снимает с него ответственности. Дальнейшее развитие — в сторону объяснимых и этичных моделей.</a:t>
            </a:r>
            <a:endParaRPr lang="ru-RU" sz="1400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8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04" y="4748463"/>
            <a:ext cx="1501942" cy="150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138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2B1824E-173D-C062-AF9E-6D60E801649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1322" r="11871"/>
          <a:stretch>
            <a:fillRect/>
          </a:stretch>
        </p:blipFill>
        <p:spPr>
          <a:xfrm>
            <a:off x="6659419" y="281394"/>
            <a:ext cx="5458689" cy="6206836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141EE191-34BF-784D-FE4B-C29230A34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735" y="871221"/>
            <a:ext cx="6816956" cy="5513573"/>
          </a:xfrm>
        </p:spPr>
        <p:txBody>
          <a:bodyPr/>
          <a:lstStyle/>
          <a:p>
            <a:r>
              <a:rPr lang="ru-RU" dirty="0"/>
              <a:t>Искусственный интеллект охватывает все ключевые области психологии — от диагностики до моделирования сознания. Мы рассмотрели три поколения архитектур: свёрточные и рекуррентные сети, трансформеры и когнитивные архитектуры. Каждая решает свой класс задач. CNN и LSTM эффективны для анализа ЭЭГ и нейровизуализации, трансформеры показывают точность скрининга депрессии, сопоставимую с клинической оценкой, а когнитивные архитектуры работают в фундаментальных исследованиях.</a:t>
            </a:r>
          </a:p>
          <a:p>
            <a:r>
              <a:rPr lang="ru-RU" dirty="0"/>
              <a:t>По типам модели делятся на диагностические (классифицируют состояние), генеративные (создают эмпатичный отклик), мультимодальные (объединяют речь, мимику и физиологию) и когнитивные (моделируют психику как целостную систему). Конкретные примеры — </a:t>
            </a:r>
            <a:r>
              <a:rPr lang="ru-RU" dirty="0" err="1"/>
              <a:t>Woebot</a:t>
            </a:r>
            <a:r>
              <a:rPr lang="ru-RU" dirty="0"/>
              <a:t>, </a:t>
            </a:r>
            <a:r>
              <a:rPr lang="ru-RU" dirty="0" err="1"/>
              <a:t>Wysa</a:t>
            </a:r>
            <a:r>
              <a:rPr lang="ru-RU" dirty="0"/>
              <a:t>, </a:t>
            </a:r>
            <a:r>
              <a:rPr lang="ru-RU" dirty="0" err="1"/>
              <a:t>Limbic</a:t>
            </a:r>
            <a:r>
              <a:rPr lang="ru-RU" dirty="0"/>
              <a:t> — показывают: это не лабораторные эксперименты, а работающие инструменты, прошедшие клиническую валидацию и применяющиеся в реальной практике.</a:t>
            </a:r>
          </a:p>
          <a:p>
            <a:r>
              <a:rPr lang="ru-RU" dirty="0"/>
              <a:t>Преимущества ИИ — объективность, масштабируемость, доступность 24/7 и снижение барьера стеснения — делают его незаменимым инструментом первичной помощи, особенно при дефиците кадров.</a:t>
            </a:r>
          </a:p>
          <a:p>
            <a:r>
              <a:rPr lang="ru-RU" dirty="0"/>
              <a:t>Однако есть серьёзные ограничения: симуляция эмпатии, необъяснимость решений, риск предвзятости и отсутствие правовой ответственности. Когнитивные архитектуры пока остаются в сфере фундаментальных исследований.</a:t>
            </a:r>
          </a:p>
          <a:p>
            <a:r>
              <a:rPr lang="ru-RU" dirty="0"/>
              <a:t>ИИ не заменяет психолога, но становится его мощным помощником. Будущее — за объяснимыми, этичными и клинически валидированными моделями, где ответственность всегда остаётся за человеком.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C60DBF-8AC4-0AF4-A108-FDD7B562C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369770"/>
            <a:ext cx="4840605" cy="559986"/>
          </a:xfrm>
        </p:spPr>
        <p:txBody>
          <a:bodyPr/>
          <a:lstStyle/>
          <a:p>
            <a:r>
              <a:rPr lang="ru-RU" dirty="0"/>
              <a:t>Выводы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12538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C902BF4-FECC-C704-3D42-A1A47451C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Kolonin</a:t>
            </a:r>
            <a:r>
              <a:rPr lang="en-US" dirty="0"/>
              <a:t> A., Kryukov V. Computational Concept of the Psyche: Towards a Formal Model of Human Consciousness and Behavior // </a:t>
            </a:r>
            <a:r>
              <a:rPr lang="en-US" dirty="0" err="1"/>
              <a:t>arXiv</a:t>
            </a:r>
            <a:r>
              <a:rPr lang="en-US" dirty="0"/>
              <a:t> preprint. — 2025. — № 2509.07009.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Вем</a:t>
            </a:r>
            <a:r>
              <a:rPr lang="ru-RU" dirty="0"/>
              <a:t> Е. Психолог и искусственный интеллект: Будущее профессии и новые возможности. — М.: </a:t>
            </a:r>
            <a:r>
              <a:rPr lang="en-US" dirty="0" err="1"/>
              <a:t>Litres</a:t>
            </a:r>
            <a:r>
              <a:rPr lang="en-US" dirty="0"/>
              <a:t>, 2025. — 320 </a:t>
            </a:r>
            <a:r>
              <a:rPr lang="ru-RU" dirty="0"/>
              <a:t>с.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Томский государственный университет. Отчёт по исследованию эффективности психологических чат‑ботов. — Томск: Изд‑во ТГУ, 2025.</a:t>
            </a:r>
            <a:br>
              <a:rPr lang="en-US" dirty="0"/>
            </a:br>
            <a:endParaRPr lang="ru-KZ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C8434CC-09AE-B2E7-914F-9DEB785C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Список литературы</a:t>
            </a:r>
            <a:br>
              <a:rPr lang="ru-RU" b="1" dirty="0"/>
            </a:b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071637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Санкт-Петербург, Петергоф, Университетский пр., д. 35, ф-т Прикладной математики – Процессов управления</a:t>
            </a:r>
          </a:p>
        </p:txBody>
      </p:sp>
      <p:sp>
        <p:nvSpPr>
          <p:cNvPr id="3" name="Текст 1"/>
          <p:cNvSpPr txBox="1">
            <a:spLocks/>
          </p:cNvSpPr>
          <p:nvPr/>
        </p:nvSpPr>
        <p:spPr>
          <a:xfrm>
            <a:off x="439165" y="3183731"/>
            <a:ext cx="3017779" cy="4905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ru-RU" dirty="0">
                <a:solidFill>
                  <a:schemeClr val="bg1"/>
                </a:solidFill>
              </a:rPr>
              <a:t>автор: Арина Сазанкова</a:t>
            </a:r>
            <a:br>
              <a:rPr lang="en-US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68968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ПбГУ">
      <a:dk1>
        <a:srgbClr val="181818"/>
      </a:dk1>
      <a:lt1>
        <a:sysClr val="window" lastClr="FFFFFF"/>
      </a:lt1>
      <a:dk2>
        <a:srgbClr val="632423"/>
      </a:dk2>
      <a:lt2>
        <a:srgbClr val="FBF9F7"/>
      </a:lt2>
      <a:accent1>
        <a:srgbClr val="4F81BD"/>
      </a:accent1>
      <a:accent2>
        <a:srgbClr val="C0504D"/>
      </a:accent2>
      <a:accent3>
        <a:srgbClr val="923826"/>
      </a:accent3>
      <a:accent4>
        <a:srgbClr val="8064A2"/>
      </a:accent4>
      <a:accent5>
        <a:srgbClr val="8FAADC"/>
      </a:accent5>
      <a:accent6>
        <a:srgbClr val="AE6464"/>
      </a:accent6>
      <a:hlink>
        <a:srgbClr val="F2F2F2"/>
      </a:hlink>
      <a:folHlink>
        <a:srgbClr val="0070C0"/>
      </a:folHlink>
    </a:clrScheme>
    <a:fontScheme name="СПбГУ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D8C519613280949AA22B76DC3D9D7B2" ma:contentTypeVersion="17" ma:contentTypeDescription="Создание документа." ma:contentTypeScope="" ma:versionID="c1aee2efb7f4004aed17619c1a5733c5">
  <xsd:schema xmlns:xsd="http://www.w3.org/2001/XMLSchema" xmlns:xs="http://www.w3.org/2001/XMLSchema" xmlns:p="http://schemas.microsoft.com/office/2006/metadata/properties" xmlns:ns1="http://schemas.microsoft.com/sharepoint/v3" xmlns:ns2="9a63fdcb-41de-41b7-a29c-51f72461a67b" xmlns:ns3="02abcde4-0d41-4d92-9ad7-003839eabdeb" targetNamespace="http://schemas.microsoft.com/office/2006/metadata/properties" ma:root="true" ma:fieldsID="3d5820956cb7eaded5206240577e0de0" ns1:_="" ns2:_="" ns3:_="">
    <xsd:import namespace="http://schemas.microsoft.com/sharepoint/v3"/>
    <xsd:import namespace="9a63fdcb-41de-41b7-a29c-51f72461a67b"/>
    <xsd:import namespace="02abcde4-0d41-4d92-9ad7-003839eabd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Свойства единой политики соответствия требованиям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Действие с пользовательским интерфейсом в рамках единой политики соответствия требованиям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3fdcb-41de-41b7-a29c-51f72461a6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3dac30f7-4b6a-4d0c-a073-8dcd7cc3cb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bcde4-0d41-4d92-9ad7-003839eabde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50e6830-2c83-4f36-8696-426a14030bf5}" ma:internalName="TaxCatchAll" ma:showField="CatchAllData" ma:web="02abcde4-0d41-4d92-9ad7-003839eabd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2abcde4-0d41-4d92-9ad7-003839eabdeb" xsi:nil="true"/>
    <lcf76f155ced4ddcb4097134ff3c332f xmlns="9a63fdcb-41de-41b7-a29c-51f72461a67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AE8BD70-FE7F-4E2E-8A0C-B56C29E753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7F0394-DA30-41D1-BA79-55D90E960F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a63fdcb-41de-41b7-a29c-51f72461a67b"/>
    <ds:schemaRef ds:uri="02abcde4-0d41-4d92-9ad7-003839eabd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B233416-0D41-4853-A815-5627BA43D3C0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9a63fdcb-41de-41b7-a29c-51f72461a67b"/>
    <ds:schemaRef ds:uri="02abcde4-0d41-4d92-9ad7-003839eabdeb"/>
    <ds:schemaRef ds:uri="http://schemas.microsoft.com/sharepoint/v3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11395</TotalTime>
  <Words>2227</Words>
  <Application>Microsoft Office PowerPoint</Application>
  <PresentationFormat>Широкоэкранный</PresentationFormat>
  <Paragraphs>69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Open Sans</vt:lpstr>
      <vt:lpstr>Open Sans Extrabold</vt:lpstr>
      <vt:lpstr>Open Sans Light</vt:lpstr>
      <vt:lpstr>Тема Office</vt:lpstr>
      <vt:lpstr>Презентация PowerPoint</vt:lpstr>
      <vt:lpstr>Модели для диагностики и классификации  Это самый массовый класс моделей в клинической психологии. Их задача — по входным данным сказать, есть ли у человека признаки расстройства. </vt:lpstr>
      <vt:lpstr>Генеративные модели и диалоговые системы  Это модели, которые не ставят диагноз, а взаимодействуют с человеком. Их задача — дать отклик, поддержать, помочь сформулировать переживание. </vt:lpstr>
      <vt:lpstr>Мультимодальные и когнитивные модели: целостный подход  </vt:lpstr>
      <vt:lpstr>Конкретные системы: что уже работает  </vt:lpstr>
      <vt:lpstr>Конкретные системы: что уже работает</vt:lpstr>
      <vt:lpstr>Конкретные системы: что уже работает  </vt:lpstr>
      <vt:lpstr>Типы решаемых задач</vt:lpstr>
      <vt:lpstr>Типы решаемых задач</vt:lpstr>
      <vt:lpstr>Типы решаемых задач</vt:lpstr>
      <vt:lpstr>Особенности и ограничения</vt:lpstr>
      <vt:lpstr>Выводы</vt:lpstr>
      <vt:lpstr>Список литературы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Надежда Лапшина</dc:creator>
  <cp:lastModifiedBy>Сазанкова Арина</cp:lastModifiedBy>
  <cp:revision>616</cp:revision>
  <dcterms:created xsi:type="dcterms:W3CDTF">2020-09-23T09:03:25Z</dcterms:created>
  <dcterms:modified xsi:type="dcterms:W3CDTF">2026-05-03T20:38:07Z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0x010100CD8C519613280949AA22B76DC3D9D7B2</vt:lpwstr>
  </property>
  <property fmtid="{D5CDD505-2E9C-101B-9397-08002B2CF9AE}" pid="3" name="MediaServiceImageTags">
    <vt:lpwstr/>
  </property>
</Properties>
</file>