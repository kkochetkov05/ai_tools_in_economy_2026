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16"/>
  </p:handoutMasterIdLst>
  <p:sldIdLst>
    <p:sldId id="257" r:id="rId3"/>
    <p:sldId id="258" r:id="rId4"/>
    <p:sldId id="259" r:id="rId5"/>
    <p:sldId id="266" r:id="rId6"/>
    <p:sldId id="267" r:id="rId7"/>
    <p:sldId id="260" r:id="rId9"/>
    <p:sldId id="261" r:id="rId10"/>
    <p:sldId id="262" r:id="rId11"/>
    <p:sldId id="263" r:id="rId12"/>
    <p:sldId id="264" r:id="rId13"/>
    <p:sldId id="268" r:id="rId14"/>
    <p:sldId id="265" r:id="rId15"/>
  </p:sldIdLst>
  <p:sldSz cx="12192000" cy="68580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93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923826"/>
    <a:srgbClr val="8FAADC"/>
    <a:srgbClr val="66A0D0"/>
    <a:srgbClr val="8C6E8E"/>
    <a:srgbClr val="AE6464"/>
    <a:srgbClr val="F8F1F1"/>
    <a:srgbClr val="D3B25F"/>
    <a:srgbClr val="C2AA46"/>
    <a:srgbClr val="990000"/>
    <a:srgbClr val="C2A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43" autoAdjust="0"/>
    <p:restoredTop sz="94652" autoAdjust="0"/>
  </p:normalViewPr>
  <p:slideViewPr>
    <p:cSldViewPr snapToGrid="0">
      <p:cViewPr>
        <p:scale>
          <a:sx n="75" d="100"/>
          <a:sy n="75" d="100"/>
        </p:scale>
        <p:origin x="1482" y="906"/>
      </p:cViewPr>
      <p:guideLst>
        <p:guide orient="horz" pos="2393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-490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672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93DD-A479-4F6C-AF5E-6152D069177D}" type="datetimeFigureOut">
              <a:rPr lang="ru-RU" smtClean="0"/>
            </a:fld>
            <a:endParaRPr lang="ru-RU"/>
          </a:p>
        </p:txBody>
      </p:sp>
      <p:sp>
        <p:nvSpPr>
          <p:cNvPr id="1048673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674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27F79-BC16-4DE0-8BA2-D3AF1D768C7A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666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DAC6F-BB1F-4063-BD4A-C26C60CE3AD6}" type="datetimeFigureOut">
              <a:rPr lang="ru-RU" smtClean="0"/>
            </a:fld>
            <a:endParaRPr lang="ru-RU"/>
          </a:p>
        </p:txBody>
      </p:sp>
      <p:sp>
        <p:nvSpPr>
          <p:cNvPr id="1048667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ru-RU"/>
          </a:p>
        </p:txBody>
      </p:sp>
      <p:sp>
        <p:nvSpPr>
          <p:cNvPr id="1048668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1048669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670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60B39-B557-40BF-9ECA-089F8F8977C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Титульный слайд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Прямоугольник 4"/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pic>
        <p:nvPicPr>
          <p:cNvPr id="2097157" name="Рисунок 7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" y="0"/>
            <a:ext cx="8204200" cy="6858000"/>
          </a:xfrm>
          <a:prstGeom prst="rect">
            <a:avLst/>
          </a:prstGeom>
        </p:spPr>
      </p:pic>
      <p:sp>
        <p:nvSpPr>
          <p:cNvPr id="1048596" name="Прямоугольник 5"/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597" name="Прямоугольник 6"/>
          <p:cNvSpPr/>
          <p:nvPr userDrawn="1"/>
        </p:nvSpPr>
        <p:spPr>
          <a:xfrm>
            <a:off x="8204202" y="396784"/>
            <a:ext cx="3987797" cy="114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598" name="Прямоугольник 9"/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599" name="Прямоугольник 8"/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pic>
        <p:nvPicPr>
          <p:cNvPr id="2097158" name="Рисунок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912011" y="-267304"/>
            <a:ext cx="4572180" cy="2468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Титульный слайд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Прямоугольник 4"/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pic>
        <p:nvPicPr>
          <p:cNvPr id="2097177" name="Рисунок 7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" y="0"/>
            <a:ext cx="8204200" cy="6857999"/>
          </a:xfrm>
          <a:prstGeom prst="rect">
            <a:avLst/>
          </a:prstGeom>
        </p:spPr>
      </p:pic>
      <p:sp>
        <p:nvSpPr>
          <p:cNvPr id="1048644" name="Прямоугольник 5"/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45" name="Прямоугольник 9"/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46" name="Прямоугольник 8"/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pic>
        <p:nvPicPr>
          <p:cNvPr id="2097178" name="Рисунок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912011" y="-646868"/>
            <a:ext cx="4572180" cy="2468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Прямоугольник 9"/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26" name="Прямоугольник 12"/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27" name="Прямоугольник 13"/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pic>
        <p:nvPicPr>
          <p:cNvPr id="2097170" name="Рисунок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2097171" name="Рисунок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Заголовок раздела">
    <p:bg>
      <p:bgPr>
        <a:solidFill>
          <a:schemeClr val="bg1"/>
        </a:solid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Прямоугольник 9"/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55" name="Прямоугольник 12"/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56" name="Прямоугольник 13"/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pic>
        <p:nvPicPr>
          <p:cNvPr id="2097179" name="Рисунок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2097180" name="Рисунок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Заголовок раздела"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Прямоугольник 9"/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29" name="Прямоугольник 12"/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30" name="Прямоугольник 13"/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pic>
        <p:nvPicPr>
          <p:cNvPr id="2097172" name="Рисунок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2097173" name="Рисунок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Заголовок раздела">
    <p:bg>
      <p:bgPr>
        <a:solidFill>
          <a:schemeClr val="bg1"/>
        </a:solidFill>
        <a:effectLst/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Прямоугольник 9"/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13" name="Прямоугольник 12"/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14" name="Прямоугольник 13"/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pic>
        <p:nvPicPr>
          <p:cNvPr id="2097167" name="Рисунок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2097168" name="Рисунок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Прямоугольник 9"/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35" name="Прямоугольник 12"/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36" name="Прямоугольник 13"/>
          <p:cNvSpPr/>
          <p:nvPr userDrawn="1"/>
        </p:nvSpPr>
        <p:spPr>
          <a:xfrm>
            <a:off x="0" y="5359878"/>
            <a:ext cx="12192000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pic>
        <p:nvPicPr>
          <p:cNvPr id="2097174" name="Рисунок 14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2097175" name="Рисунок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7_Заголовок раздела">
    <p:bg>
      <p:bgPr>
        <a:solidFill>
          <a:schemeClr val="bg1"/>
        </a:solid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Прямоугольник 9"/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60" name="Прямоугольник 12"/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61" name="Прямоугольник 13"/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grpSp>
        <p:nvGrpSpPr>
          <p:cNvPr id="63" name="Группа 52"/>
          <p:cNvGrpSpPr/>
          <p:nvPr userDrawn="1"/>
        </p:nvGrpSpPr>
        <p:grpSpPr>
          <a:xfrm>
            <a:off x="9143115" y="0"/>
            <a:ext cx="2527884" cy="1474000"/>
            <a:chOff x="9225933" y="44624"/>
            <a:chExt cx="2527884" cy="1474000"/>
          </a:xfrm>
        </p:grpSpPr>
        <p:cxnSp>
          <p:nvCxnSpPr>
            <p:cNvPr id="3145730" name="Прямая соединительная линия 54"/>
            <p:cNvCxnSpPr/>
            <p:nvPr userDrawn="1"/>
          </p:nvCxnSpPr>
          <p:spPr>
            <a:xfrm flipV="1">
              <a:off x="922593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Прямая соединительная линия 56"/>
            <p:cNvCxnSpPr/>
            <p:nvPr userDrawn="1"/>
          </p:nvCxnSpPr>
          <p:spPr>
            <a:xfrm flipV="1">
              <a:off x="934050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2" name="Прямая соединительная линия 57"/>
            <p:cNvCxnSpPr/>
            <p:nvPr userDrawn="1"/>
          </p:nvCxnSpPr>
          <p:spPr>
            <a:xfrm flipV="1">
              <a:off x="944770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3" name="Прямая соединительная линия 58"/>
            <p:cNvCxnSpPr/>
            <p:nvPr userDrawn="1"/>
          </p:nvCxnSpPr>
          <p:spPr>
            <a:xfrm flipV="1">
              <a:off x="956227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4" name="Прямая соединительная линия 59"/>
            <p:cNvCxnSpPr/>
            <p:nvPr userDrawn="1"/>
          </p:nvCxnSpPr>
          <p:spPr>
            <a:xfrm flipV="1">
              <a:off x="967753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5" name="Прямая соединительная линия 60"/>
            <p:cNvCxnSpPr/>
            <p:nvPr userDrawn="1"/>
          </p:nvCxnSpPr>
          <p:spPr>
            <a:xfrm flipV="1">
              <a:off x="9792105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6" name="Прямая соединительная линия 61"/>
            <p:cNvCxnSpPr/>
            <p:nvPr userDrawn="1"/>
          </p:nvCxnSpPr>
          <p:spPr>
            <a:xfrm flipV="1">
              <a:off x="989931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7" name="Прямая соединительная линия 62"/>
            <p:cNvCxnSpPr/>
            <p:nvPr userDrawn="1"/>
          </p:nvCxnSpPr>
          <p:spPr>
            <a:xfrm flipV="1">
              <a:off x="10013880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8" name="Прямая соединительная линия 63"/>
            <p:cNvCxnSpPr/>
            <p:nvPr userDrawn="1"/>
          </p:nvCxnSpPr>
          <p:spPr>
            <a:xfrm flipV="1">
              <a:off x="10132589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9" name="Прямая соединительная линия 64"/>
            <p:cNvCxnSpPr/>
            <p:nvPr userDrawn="1"/>
          </p:nvCxnSpPr>
          <p:spPr>
            <a:xfrm flipV="1">
              <a:off x="1024715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0" name="Прямая соединительная линия 65"/>
            <p:cNvCxnSpPr/>
            <p:nvPr userDrawn="1"/>
          </p:nvCxnSpPr>
          <p:spPr>
            <a:xfrm flipV="1">
              <a:off x="10354364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1" name="Прямая соединительная линия 66"/>
            <p:cNvCxnSpPr/>
            <p:nvPr userDrawn="1"/>
          </p:nvCxnSpPr>
          <p:spPr>
            <a:xfrm flipV="1">
              <a:off x="1046893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2" name="Прямая соединительная линия 67"/>
            <p:cNvCxnSpPr/>
            <p:nvPr userDrawn="1"/>
          </p:nvCxnSpPr>
          <p:spPr>
            <a:xfrm flipV="1">
              <a:off x="1058419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3" name="Прямая соединительная линия 68"/>
            <p:cNvCxnSpPr/>
            <p:nvPr userDrawn="1"/>
          </p:nvCxnSpPr>
          <p:spPr>
            <a:xfrm flipV="1">
              <a:off x="1069876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4" name="Прямая соединительная линия 69"/>
            <p:cNvCxnSpPr/>
            <p:nvPr userDrawn="1"/>
          </p:nvCxnSpPr>
          <p:spPr>
            <a:xfrm flipV="1">
              <a:off x="1080596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5" name="Прямая соединительная линия 70"/>
            <p:cNvCxnSpPr/>
            <p:nvPr userDrawn="1"/>
          </p:nvCxnSpPr>
          <p:spPr>
            <a:xfrm flipV="1">
              <a:off x="1092053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97181" name="Рисунок 14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2097182" name="Рисунок 2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Объект 2"/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1048577" name="Заголовок 1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+ ненумер. список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Объект 2"/>
          <p:cNvSpPr>
            <a:spLocks noGrp="1"/>
          </p:cNvSpPr>
          <p:nvPr>
            <p:ph sz="half" idx="1"/>
          </p:nvPr>
        </p:nvSpPr>
        <p:spPr>
          <a:xfrm>
            <a:off x="165735" y="1188720"/>
            <a:ext cx="6086475" cy="54863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1048583" name="Объект 2"/>
          <p:cNvSpPr>
            <a:spLocks noGrp="1"/>
          </p:cNvSpPr>
          <p:nvPr>
            <p:ph sz="half" idx="10"/>
          </p:nvPr>
        </p:nvSpPr>
        <p:spPr>
          <a:xfrm>
            <a:off x="6426329" y="1183006"/>
            <a:ext cx="5580886" cy="549211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1048584" name="Заголовок 1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нумерованный список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Объект 2"/>
          <p:cNvSpPr>
            <a:spLocks noGrp="1"/>
          </p:cNvSpPr>
          <p:nvPr>
            <p:ph sz="half" idx="1"/>
          </p:nvPr>
        </p:nvSpPr>
        <p:spPr>
          <a:xfrm>
            <a:off x="165735" y="1148715"/>
            <a:ext cx="11835765" cy="54864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lnSpc>
                <a:spcPct val="100000"/>
              </a:lnSpc>
              <a:buFont typeface="+mj-lt"/>
              <a:buAutoNum type="arabicPeriod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7145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1717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048616" name="Заголовок 1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стой текст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Текст 3"/>
          <p:cNvSpPr>
            <a:spLocks noGrp="1"/>
          </p:cNvSpPr>
          <p:nvPr>
            <p:ph type="body" sz="half" idx="2"/>
          </p:nvPr>
        </p:nvSpPr>
        <p:spPr>
          <a:xfrm>
            <a:off x="171450" y="1177290"/>
            <a:ext cx="11812905" cy="5486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1048642" name="Заголовок 1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Заголовок + текст + рисунок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Рисунок 2"/>
          <p:cNvSpPr>
            <a:spLocks noGrp="1"/>
          </p:cNvSpPr>
          <p:nvPr>
            <p:ph type="pic" idx="1"/>
          </p:nvPr>
        </p:nvSpPr>
        <p:spPr>
          <a:xfrm>
            <a:off x="5183187" y="0"/>
            <a:ext cx="7008813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048591" name="Текст 3"/>
          <p:cNvSpPr>
            <a:spLocks noGrp="1"/>
          </p:cNvSpPr>
          <p:nvPr>
            <p:ph type="body" sz="half" idx="2"/>
          </p:nvPr>
        </p:nvSpPr>
        <p:spPr>
          <a:xfrm>
            <a:off x="171450" y="1138687"/>
            <a:ext cx="4831871" cy="55135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1048592" name="Заголовок 1"/>
          <p:cNvSpPr>
            <a:spLocks noGrp="1"/>
          </p:cNvSpPr>
          <p:nvPr>
            <p:ph type="title"/>
          </p:nvPr>
        </p:nvSpPr>
        <p:spPr>
          <a:xfrm>
            <a:off x="165735" y="434425"/>
            <a:ext cx="4840605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Рисунок + подпись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Рисунок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703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048658" name="Текст 3"/>
          <p:cNvSpPr>
            <a:spLocks noGrp="1"/>
          </p:cNvSpPr>
          <p:nvPr>
            <p:ph type="body" sz="half" idx="2"/>
          </p:nvPr>
        </p:nvSpPr>
        <p:spPr>
          <a:xfrm>
            <a:off x="178279" y="5852160"/>
            <a:ext cx="11886086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лева + текст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048623" name="Текст 3"/>
          <p:cNvSpPr>
            <a:spLocks noGrp="1"/>
          </p:cNvSpPr>
          <p:nvPr>
            <p:ph type="body" sz="half" idx="2"/>
          </p:nvPr>
        </p:nvSpPr>
        <p:spPr>
          <a:xfrm>
            <a:off x="6466072" y="1786243"/>
            <a:ext cx="5242849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24" name="Заголовок 1"/>
          <p:cNvSpPr>
            <a:spLocks noGrp="1"/>
          </p:cNvSpPr>
          <p:nvPr>
            <p:ph type="title"/>
          </p:nvPr>
        </p:nvSpPr>
        <p:spPr>
          <a:xfrm>
            <a:off x="6461831" y="554439"/>
            <a:ext cx="526434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048663" name="Текст 3"/>
          <p:cNvSpPr>
            <a:spLocks noGrp="1"/>
          </p:cNvSpPr>
          <p:nvPr>
            <p:ph type="body" sz="half" idx="2"/>
          </p:nvPr>
        </p:nvSpPr>
        <p:spPr>
          <a:xfrm>
            <a:off x="6291532" y="1786243"/>
            <a:ext cx="5681932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64" name="Заголовок 1"/>
          <p:cNvSpPr>
            <a:spLocks noGrp="1"/>
          </p:cNvSpPr>
          <p:nvPr>
            <p:ph type="title"/>
          </p:nvPr>
        </p:nvSpPr>
        <p:spPr>
          <a:xfrm>
            <a:off x="6296531" y="554439"/>
            <a:ext cx="499832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в центре + врезка + текст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Рисунок 3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1213339"/>
            <a:ext cx="12203466" cy="2017541"/>
          </a:xfrm>
          <a:prstGeom prst="rect">
            <a:avLst/>
          </a:prstGeom>
        </p:spPr>
      </p:pic>
      <p:sp>
        <p:nvSpPr>
          <p:cNvPr id="1048637" name="Прямоугольник: один усеченный угол 11"/>
          <p:cNvSpPr/>
          <p:nvPr userDrawn="1"/>
        </p:nvSpPr>
        <p:spPr>
          <a:xfrm>
            <a:off x="7833360" y="2560320"/>
            <a:ext cx="3933287" cy="4000499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1048638" name="Текст 3"/>
          <p:cNvSpPr>
            <a:spLocks noGrp="1"/>
          </p:cNvSpPr>
          <p:nvPr>
            <p:ph type="body" sz="half" idx="11"/>
          </p:nvPr>
        </p:nvSpPr>
        <p:spPr>
          <a:xfrm>
            <a:off x="8161522" y="2830182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39" name="Заголовок 1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48640" name="Текст 3"/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в центре + врезка + текст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Рисунок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" y="1213339"/>
            <a:ext cx="7622546" cy="2017541"/>
          </a:xfrm>
          <a:prstGeom prst="rect">
            <a:avLst/>
          </a:prstGeom>
        </p:spPr>
      </p:pic>
      <p:sp>
        <p:nvSpPr>
          <p:cNvPr id="1048608" name="Прямоугольник: один усеченный угол 11"/>
          <p:cNvSpPr/>
          <p:nvPr userDrawn="1"/>
        </p:nvSpPr>
        <p:spPr>
          <a:xfrm>
            <a:off x="7833360" y="1213338"/>
            <a:ext cx="3933287" cy="5331235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1048609" name="Текст 3"/>
          <p:cNvSpPr>
            <a:spLocks noGrp="1"/>
          </p:cNvSpPr>
          <p:nvPr>
            <p:ph type="body" sz="half" idx="11"/>
          </p:nvPr>
        </p:nvSpPr>
        <p:spPr>
          <a:xfrm>
            <a:off x="8161522" y="1483200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10" name="Текст 3"/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11" name="Заголовок 1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+ текст справа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Текст 3"/>
          <p:cNvSpPr>
            <a:spLocks noGrp="1"/>
          </p:cNvSpPr>
          <p:nvPr>
            <p:ph type="body" sz="half" idx="2"/>
          </p:nvPr>
        </p:nvSpPr>
        <p:spPr>
          <a:xfrm>
            <a:off x="6408922" y="1223010"/>
            <a:ext cx="5575433" cy="5372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32" name="Диаграмма 7"/>
          <p:cNvSpPr>
            <a:spLocks noGrp="1"/>
          </p:cNvSpPr>
          <p:nvPr>
            <p:ph type="chart" sz="quarter" idx="11"/>
          </p:nvPr>
        </p:nvSpPr>
        <p:spPr>
          <a:xfrm>
            <a:off x="171451" y="1229042"/>
            <a:ext cx="6052184" cy="535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ru-RU"/>
          </a:p>
        </p:txBody>
      </p:sp>
      <p:sp>
        <p:nvSpPr>
          <p:cNvPr id="1048633" name="Заголовок 1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961370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quot;Дорожная карта&quot;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9" name="Соединительная линия уступом 5"/>
          <p:cNvCxnSpPr/>
          <p:nvPr userDrawn="1"/>
        </p:nvCxnSpPr>
        <p:spPr>
          <a:xfrm>
            <a:off x="165735" y="1417320"/>
            <a:ext cx="11755755" cy="1194435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7" name="Текст 3"/>
          <p:cNvSpPr>
            <a:spLocks noGrp="1"/>
          </p:cNvSpPr>
          <p:nvPr>
            <p:ph type="body" sz="half" idx="2"/>
          </p:nvPr>
        </p:nvSpPr>
        <p:spPr>
          <a:xfrm>
            <a:off x="348579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48" name="Текст 3"/>
          <p:cNvSpPr>
            <a:spLocks noGrp="1"/>
          </p:cNvSpPr>
          <p:nvPr>
            <p:ph type="body" sz="half" idx="11"/>
          </p:nvPr>
        </p:nvSpPr>
        <p:spPr>
          <a:xfrm>
            <a:off x="2711624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49" name="Текст 3"/>
          <p:cNvSpPr>
            <a:spLocks noGrp="1"/>
          </p:cNvSpPr>
          <p:nvPr>
            <p:ph type="body" sz="half" idx="12"/>
          </p:nvPr>
        </p:nvSpPr>
        <p:spPr>
          <a:xfrm>
            <a:off x="6308600" y="1277607"/>
            <a:ext cx="5612889" cy="5626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50" name="Текст 3"/>
          <p:cNvSpPr>
            <a:spLocks noGrp="1"/>
          </p:cNvSpPr>
          <p:nvPr>
            <p:ph type="body" sz="half" idx="13"/>
          </p:nvPr>
        </p:nvSpPr>
        <p:spPr>
          <a:xfrm>
            <a:off x="5879975" y="2780929"/>
            <a:ext cx="3418329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51" name="Текст 3"/>
          <p:cNvSpPr>
            <a:spLocks noGrp="1"/>
          </p:cNvSpPr>
          <p:nvPr>
            <p:ph type="body" sz="half" idx="15"/>
          </p:nvPr>
        </p:nvSpPr>
        <p:spPr>
          <a:xfrm>
            <a:off x="9479220" y="2780929"/>
            <a:ext cx="2442270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52" name="Текст 3"/>
          <p:cNvSpPr>
            <a:spLocks noGrp="1"/>
          </p:cNvSpPr>
          <p:nvPr>
            <p:ph type="body" sz="half" idx="16"/>
          </p:nvPr>
        </p:nvSpPr>
        <p:spPr>
          <a:xfrm>
            <a:off x="348577" y="4821687"/>
            <a:ext cx="11612917" cy="14939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48653" name="Заголовок 1"/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Заголовок раздела">
    <p:bg>
      <p:bgPr>
        <a:solidFill>
          <a:schemeClr val="bg1"/>
        </a:solid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Прямоугольник 12"/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18" name="Прямоугольник 13"/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19" name="Прямоугольник 9"/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dirty="0"/>
          </a:p>
        </p:txBody>
      </p:sp>
      <p:sp>
        <p:nvSpPr>
          <p:cNvPr id="1048620" name="Текст 2"/>
          <p:cNvSpPr>
            <a:spLocks noGrp="1"/>
          </p:cNvSpPr>
          <p:nvPr>
            <p:ph type="body" sz="quarter" idx="10"/>
          </p:nvPr>
        </p:nvSpPr>
        <p:spPr>
          <a:xfrm>
            <a:off x="439165" y="2249512"/>
            <a:ext cx="5108575" cy="490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048621" name="Прямоугольник 3"/>
          <p:cNvSpPr/>
          <p:nvPr userDrawn="1"/>
        </p:nvSpPr>
        <p:spPr>
          <a:xfrm>
            <a:off x="439165" y="1354812"/>
            <a:ext cx="1801039" cy="51054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ru-RU" sz="28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Контакты</a:t>
            </a:r>
            <a:endParaRPr lang="ru-RU" sz="2800" dirty="0">
              <a:solidFill>
                <a:schemeClr val="bg1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2097169" name="Рисунок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10.pn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8" name="Прямая соединительная линия 4"/>
          <p:cNvCxnSpPr/>
          <p:nvPr userDrawn="1"/>
        </p:nvCxnSpPr>
        <p:spPr>
          <a:xfrm>
            <a:off x="0" y="163887"/>
            <a:ext cx="10548046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2" name="Рисунок 3"/>
          <p:cNvPicPr>
            <a:picLocks noChangeAspect="1"/>
          </p:cNvPicPr>
          <p:nvPr userDrawn="1"/>
        </p:nvPicPr>
        <p:blipFill>
          <a:blip r:embed="rId23" cstate="print"/>
          <a:stretch>
            <a:fillRect/>
          </a:stretch>
        </p:blipFill>
        <p:spPr>
          <a:xfrm>
            <a:off x="10343813" y="-309257"/>
            <a:ext cx="2044945" cy="110418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Прямоугольник 4"/>
          <p:cNvSpPr/>
          <p:nvPr/>
        </p:nvSpPr>
        <p:spPr>
          <a:xfrm>
            <a:off x="1712804" y="4212406"/>
            <a:ext cx="9058870" cy="3581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048601" name="Прямоугольник 4"/>
          <p:cNvSpPr/>
          <p:nvPr/>
        </p:nvSpPr>
        <p:spPr>
          <a:xfrm>
            <a:off x="1712804" y="4212405"/>
            <a:ext cx="9528636" cy="12852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З</a:t>
            </a:r>
            <a:r>
              <a:rPr 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</a:t>
            </a:r>
            <a:r>
              <a:rPr 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д</a:t>
            </a:r>
            <a:r>
              <a:rPr 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</a:t>
            </a:r>
            <a:r>
              <a:rPr 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ч</a:t>
            </a:r>
            <a:r>
              <a:rPr 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</a:t>
            </a:r>
            <a:r>
              <a:rPr lang="en-US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л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с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с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ф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ц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</a:t>
            </a:r>
            <a:r>
              <a:rPr lang="en-US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</a:t>
            </a:r>
            <a:r>
              <a:rPr lang="en-US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т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р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е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б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о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в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н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я</a:t>
            </a:r>
            <a:r>
              <a:rPr lang="en-US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</a:t>
            </a:r>
            <a:r>
              <a:rPr lang="en-US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о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б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у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ч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ю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щ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е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й</a:t>
            </a:r>
            <a:r>
              <a:rPr lang="en-US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в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ы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б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о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р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</a:t>
            </a:r>
            <a:r>
              <a:rPr lang="ru-RU" altLang="ru-RU" sz="40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е</a:t>
            </a:r>
            <a:endParaRPr lang="zh-CN" altLang="en-US" sz="4000"/>
          </a:p>
        </p:txBody>
      </p:sp>
      <p:sp>
        <p:nvSpPr>
          <p:cNvPr id="1048602" name="Прямоугольник 4"/>
          <p:cNvSpPr/>
          <p:nvPr/>
        </p:nvSpPr>
        <p:spPr>
          <a:xfrm>
            <a:off x="8457057" y="6262495"/>
            <a:ext cx="4398569" cy="4470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181818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Н</a:t>
            </a:r>
            <a:r>
              <a:rPr 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о</a:t>
            </a:r>
            <a:r>
              <a:rPr 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в</a:t>
            </a:r>
            <a:r>
              <a:rPr 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</a:t>
            </a:r>
            <a:r>
              <a:rPr 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</a:t>
            </a:r>
            <a:r>
              <a:rPr 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о</a:t>
            </a:r>
            <a:r>
              <a:rPr 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в</a:t>
            </a:r>
            <a:r>
              <a:rPr 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</a:t>
            </a:r>
            <a:r>
              <a:rPr lang="en-US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lang="ru-RU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Ж</a:t>
            </a:r>
            <a:r>
              <a:rPr lang="ru-RU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</a:t>
            </a:r>
            <a:r>
              <a:rPr lang="ru-RU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н</a:t>
            </a:r>
            <a:r>
              <a:rPr lang="ru-RU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н</a:t>
            </a:r>
            <a:r>
              <a:rPr lang="ru-RU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</a:t>
            </a:r>
            <a:r>
              <a:rPr lang="en-US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,</a:t>
            </a:r>
            <a:r>
              <a:rPr lang="en-US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lang="en-US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2</a:t>
            </a:r>
            <a:r>
              <a:rPr lang="en-US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3</a:t>
            </a:r>
            <a:r>
              <a:rPr lang="en-US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.</a:t>
            </a:r>
            <a:r>
              <a:rPr lang="ru-RU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Б</a:t>
            </a:r>
            <a:r>
              <a:rPr lang="en-US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</a:t>
            </a:r>
            <a:r>
              <a:rPr lang="en-US" altLang="ru-RU" sz="2400" dirty="0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6</a:t>
            </a:r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Замещающий текст 1048602"/>
          <p:cNvSpPr>
            <a:spLocks noGrp="1"/>
          </p:cNvSpPr>
          <p:nvPr>
            <p:ph type="body" sz="half" idx="2"/>
          </p:nvPr>
        </p:nvSpPr>
        <p:spPr>
          <a:xfrm rot="21596006">
            <a:off x="304855" y="1490763"/>
            <a:ext cx="6430685" cy="5044226"/>
          </a:xfrm>
        </p:spPr>
        <p:txBody>
          <a:bodyPr/>
          <a:p>
            <a:r>
              <a:rPr lang="ru-RU" sz="2400" b="1" u="none">
                <a:effectLst/>
              </a:rPr>
              <a:t>Классификация</a:t>
            </a:r>
            <a:r>
              <a:rPr lang="ru-RU" sz="2400" u="none">
                <a:effectLst/>
              </a:rPr>
              <a:t> — это одна из основных задач машинного обучения. Она заключается в том, чтобы по набору признаков определить, к какому классу относится объект. </a:t>
            </a:r>
            <a:endParaRPr lang="ru-RU" sz="2400" u="none">
              <a:effectLst/>
            </a:endParaRPr>
          </a:p>
          <a:p>
            <a:endParaRPr lang="ru-RU" sz="2400" u="none">
              <a:effectLst/>
            </a:endParaRPr>
          </a:p>
          <a:p>
            <a:r>
              <a:rPr lang="ru-RU" sz="2400" u="none">
                <a:effectLst/>
              </a:rPr>
              <a:t>В результате классификации алгоритм должен отнести объект к одному из заранее известных классов</a:t>
            </a:r>
            <a:r>
              <a:rPr lang="ru-RU" sz="2400" u="none">
                <a:effectLst/>
              </a:rPr>
              <a:t>.</a:t>
            </a:r>
            <a:endParaRPr lang="ru-RU" sz="2400" u="none">
              <a:effectLst/>
            </a:endParaRPr>
          </a:p>
        </p:txBody>
      </p:sp>
      <p:sp>
        <p:nvSpPr>
          <p:cNvPr id="1048604" name="Заголовок 1048603"/>
          <p:cNvSpPr>
            <a:spLocks noGrp="1"/>
          </p:cNvSpPr>
          <p:nvPr>
            <p:ph type="title"/>
          </p:nvPr>
        </p:nvSpPr>
        <p:spPr>
          <a:xfrm>
            <a:off x="302329" y="587944"/>
            <a:ext cx="6063713" cy="879651"/>
          </a:xfrm>
        </p:spPr>
        <p:txBody>
          <a:bodyPr/>
          <a:p>
            <a:r>
              <a:rPr lang="ru-RU" sz="3600"/>
              <a:t>Задача</a:t>
            </a:r>
            <a:r>
              <a:rPr lang="en-US" altLang="ru-RU" sz="3600"/>
              <a:t> </a:t>
            </a:r>
            <a:r>
              <a:rPr lang="ru-RU" altLang="ru-RU" sz="3600"/>
              <a:t>классификаци</a:t>
            </a:r>
            <a:r>
              <a:rPr lang="ru-RU" altLang="ru-RU" sz="3600"/>
              <a:t>и</a:t>
            </a:r>
            <a:endParaRPr lang="ru-RU" altLang="ru-RU" sz="3600"/>
          </a:p>
        </p:txBody>
      </p:sp>
      <p:pic>
        <p:nvPicPr>
          <p:cNvPr id="2097159" name="Изображение 2097158"/>
          <p:cNvPicPr/>
          <p:nvPr/>
        </p:nvPicPr>
        <p:blipFill>
          <a:blip r:embed="rId1"/>
          <a:srcRect l="4417" t="2460" r="4916" b="397"/>
          <a:stretch>
            <a:fillRect/>
          </a:stretch>
        </p:blipFill>
        <p:spPr>
          <a:xfrm>
            <a:off x="8061879" y="3424268"/>
            <a:ext cx="3065570" cy="3114464"/>
          </a:xfrm>
          <a:prstGeom prst="rect">
            <a:avLst/>
          </a:prstGeom>
        </p:spPr>
      </p:pic>
      <p:pic>
        <p:nvPicPr>
          <p:cNvPr id="2097160" name="Изображение 2097159"/>
          <p:cNvPicPr/>
          <p:nvPr/>
        </p:nvPicPr>
        <p:blipFill>
          <a:blip r:embed="rId2"/>
          <a:srcRect l="5650" t="8927" r="4344" b="888"/>
          <a:stretch>
            <a:fillRect/>
          </a:stretch>
        </p:blipFill>
        <p:spPr>
          <a:xfrm>
            <a:off x="8061879" y="318099"/>
            <a:ext cx="2796556" cy="30236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Заголовок 1048604"/>
          <p:cNvSpPr>
            <a:spLocks noGrp="1"/>
          </p:cNvSpPr>
          <p:nvPr>
            <p:ph type="title"/>
          </p:nvPr>
        </p:nvSpPr>
        <p:spPr>
          <a:xfrm>
            <a:off x="165735" y="349970"/>
            <a:ext cx="10860334" cy="807509"/>
          </a:xfrm>
        </p:spPr>
        <p:txBody>
          <a:bodyPr/>
          <a:p>
            <a:r>
              <a:rPr lang="ru-RU" sz="3600"/>
              <a:t>Постановка задачи классификации</a:t>
            </a:r>
            <a:endParaRPr lang="ru-RU" sz="3600"/>
          </a:p>
        </p:txBody>
      </p:sp>
      <p:pic>
        <p:nvPicPr>
          <p:cNvPr id="2097161" name="Изображение 2097160"/>
          <p:cNvPicPr/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438386" y="1053210"/>
            <a:ext cx="9398790" cy="2740261"/>
          </a:xfrm>
          <a:prstGeom prst="rect">
            <a:avLst/>
          </a:prstGeom>
        </p:spPr>
      </p:pic>
      <p:pic>
        <p:nvPicPr>
          <p:cNvPr id="2097162" name="Изображение 2097161"/>
          <p:cNvPicPr/>
          <p:nvPr/>
        </p:nvPicPr>
        <p:blipFill>
          <a:blip r:embed="rId2">
            <a:alphaModFix amt="80000"/>
          </a:blip>
          <a:srcRect b="66076"/>
          <a:stretch>
            <a:fillRect/>
          </a:stretch>
        </p:blipFill>
        <p:spPr>
          <a:xfrm>
            <a:off x="1652101" y="3793776"/>
            <a:ext cx="8887796" cy="934974"/>
          </a:xfrm>
          <a:prstGeom prst="rect">
            <a:avLst/>
          </a:prstGeom>
        </p:spPr>
      </p:pic>
      <p:pic>
        <p:nvPicPr>
          <p:cNvPr id="2097163" name="Изображение 2097162"/>
          <p:cNvPicPr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38386" y="5791032"/>
            <a:ext cx="7489692" cy="962312"/>
          </a:xfrm>
          <a:prstGeom prst="rect">
            <a:avLst/>
          </a:prstGeom>
        </p:spPr>
      </p:pic>
      <p:pic>
        <p:nvPicPr>
          <p:cNvPr id="2097164" name="Изображение 2097163"/>
          <p:cNvPicPr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3377464" y="4840044"/>
            <a:ext cx="5437071" cy="8397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165735" y="833755"/>
            <a:ext cx="11852910" cy="5930265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en-US" sz="2400"/>
              <a:t>Ключевая задача: диагностика / прогноз по данным пациента</a:t>
            </a:r>
            <a:endParaRPr lang="en-US" altLang="ru-RU" sz="2400"/>
          </a:p>
          <a:p>
            <a:pPr>
              <a:lnSpc>
                <a:spcPct val="150000"/>
              </a:lnSpc>
            </a:pPr>
            <a:r>
              <a:rPr lang="en-US" altLang="en-US" sz="2200"/>
              <a:t>Пример — диагностика заболевания:</a:t>
            </a:r>
            <a:endParaRPr lang="en-US" altLang="ru-RU" sz="2200"/>
          </a:p>
          <a:p>
            <a:pPr>
              <a:lnSpc>
                <a:spcPct val="100000"/>
              </a:lnSpc>
            </a:pPr>
            <a:r>
              <a:rPr lang="en-US" altLang="en-US" sz="2200"/>
              <a:t>Признаки </a:t>
            </a:r>
            <a:endParaRPr lang="en-US" altLang="en-US" sz="2200"/>
          </a:p>
          <a:p>
            <a:pPr>
              <a:lnSpc>
                <a:spcPct val="100000"/>
              </a:lnSpc>
            </a:pPr>
            <a:r>
              <a:rPr lang="en-US" altLang="ru-RU" sz="2200"/>
              <a:t>x</a:t>
            </a:r>
            <a:r>
              <a:rPr lang="ru-RU" altLang="en-US" sz="2200"/>
              <a:t> </a:t>
            </a:r>
            <a:r>
              <a:rPr lang="en-US" altLang="ru-RU" sz="2200"/>
              <a:t>∈</a:t>
            </a:r>
            <a:r>
              <a:rPr lang="ru-RU" altLang="en-US" sz="2200"/>
              <a:t> </a:t>
            </a:r>
            <a:r>
              <a:rPr lang="en-US" altLang="ru-RU" sz="2200"/>
              <a:t>X: </a:t>
            </a:r>
            <a:r>
              <a:rPr lang="en-US" altLang="en-US" sz="2200"/>
              <a:t>возраст, давление, уровень глюкозы, результаты МРТ и т.д.</a:t>
            </a:r>
            <a:endParaRPr lang="en-US" altLang="en-US" sz="2200"/>
          </a:p>
          <a:p>
            <a:pPr>
              <a:lnSpc>
                <a:spcPct val="100000"/>
              </a:lnSpc>
            </a:pPr>
            <a:r>
              <a:rPr lang="en-US" altLang="en-US" sz="2200"/>
              <a:t>Классы </a:t>
            </a:r>
            <a:endParaRPr lang="en-US" altLang="en-US" sz="2200"/>
          </a:p>
          <a:p>
            <a:pPr>
              <a:lnSpc>
                <a:spcPct val="100000"/>
              </a:lnSpc>
            </a:pPr>
            <a:r>
              <a:rPr lang="en-US" altLang="ru-RU" sz="2200"/>
              <a:t>Y</a:t>
            </a:r>
            <a:r>
              <a:rPr lang="ru-RU" altLang="en-US" sz="2200"/>
              <a:t> </a:t>
            </a:r>
            <a:r>
              <a:rPr lang="en-US" altLang="ru-RU" sz="2200"/>
              <a:t>=</a:t>
            </a:r>
            <a:r>
              <a:rPr lang="ru-RU" altLang="en-US" sz="2200"/>
              <a:t> </a:t>
            </a:r>
            <a:r>
              <a:rPr lang="en-US" altLang="ru-RU" sz="2200"/>
              <a:t>{</a:t>
            </a:r>
            <a:r>
              <a:rPr lang="ru-RU" altLang="en-US" sz="2200"/>
              <a:t>0</a:t>
            </a:r>
            <a:r>
              <a:rPr lang="en-US" altLang="ru-RU" sz="2200"/>
              <a:t>,1}</a:t>
            </a:r>
            <a:r>
              <a:rPr lang="ru-RU" altLang="en-US" sz="2200"/>
              <a:t> </a:t>
            </a:r>
            <a:r>
              <a:rPr lang="en-US" altLang="ru-RU" sz="2200"/>
              <a:t>: </a:t>
            </a:r>
            <a:r>
              <a:rPr lang="en-US" altLang="en-US" sz="2200"/>
              <a:t>здоров / болен (бинарная классификация)</a:t>
            </a:r>
            <a:endParaRPr lang="en-US" altLang="ru-RU" sz="2200"/>
          </a:p>
          <a:p>
            <a:pPr>
              <a:lnSpc>
                <a:spcPct val="150000"/>
              </a:lnSpc>
            </a:pPr>
            <a:r>
              <a:rPr lang="en-US" altLang="en-US" sz="2200"/>
              <a:t>Требования к выборке в медицине (дополнительные):</a:t>
            </a:r>
            <a:endParaRPr lang="en-US" altLang="ru-RU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/>
              <a:t>Интерпретируемость — врач должен понимать, почему модель приняла решение</a:t>
            </a:r>
            <a:endParaRPr lang="en-US" altLang="ru-RU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/>
              <a:t>Высокая точность — цена ошибки велика (</a:t>
            </a:r>
            <a:r>
              <a:rPr lang="en-US" altLang="ru-RU" sz="2200"/>
              <a:t>False Negative </a:t>
            </a:r>
            <a:r>
              <a:rPr lang="en-US" altLang="en-US" sz="2200"/>
              <a:t>опаснее </a:t>
            </a:r>
            <a:r>
              <a:rPr lang="en-US" altLang="ru-RU" sz="2200"/>
              <a:t>False Positive </a:t>
            </a:r>
            <a:r>
              <a:rPr lang="en-US" altLang="en-US" sz="2200"/>
              <a:t>при скрининге)</a:t>
            </a:r>
            <a:endParaRPr lang="en-US" altLang="ru-RU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/>
              <a:t>Сбалансированность редких заболеваний — </a:t>
            </a:r>
            <a:r>
              <a:rPr lang="en-US" altLang="ru-RU" sz="2200"/>
              <a:t>oversampling / SMOTE</a:t>
            </a:r>
            <a:endParaRPr lang="en-US" altLang="ru-RU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/>
              <a:t>Учёт зависимости в данных одного пациента (многократные измерения)</a:t>
            </a:r>
            <a:endParaRPr lang="en-US" alt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 sz="200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65735" y="273770"/>
            <a:ext cx="10860334" cy="559986"/>
          </a:xfrm>
        </p:spPr>
        <p:txBody>
          <a:bodyPr/>
          <a:p>
            <a:r>
              <a:rPr lang="en-US" altLang="en-US" sz="3600"/>
              <a:t>Применение классификации в медицине</a:t>
            </a:r>
            <a:endParaRPr lang="en-US" altLang="en-US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171450" y="910590"/>
            <a:ext cx="11852910" cy="5770245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en-US" sz="2400"/>
              <a:t>Жесткая классификация:</a:t>
            </a:r>
            <a:r>
              <a:rPr lang="ru-RU" altLang="en-US" sz="2400"/>
              <a:t> </a:t>
            </a:r>
            <a:r>
              <a:rPr lang="en-US" altLang="en-US" sz="2400"/>
              <a:t>просто выбирает класс, но не даёт уверенности.</a:t>
            </a:r>
            <a:endParaRPr lang="en-US" altLang="en-US" sz="2400"/>
          </a:p>
          <a:p>
            <a:pPr>
              <a:lnSpc>
                <a:spcPct val="150000"/>
              </a:lnSpc>
            </a:pPr>
            <a:endParaRPr lang="en-US" altLang="ru-RU" sz="2400"/>
          </a:p>
          <a:p>
            <a:pPr>
              <a:lnSpc>
                <a:spcPct val="150000"/>
              </a:lnSpc>
            </a:pPr>
            <a:r>
              <a:rPr lang="en-US" altLang="en-US" sz="2400"/>
              <a:t>Вероятностная классификация:</a:t>
            </a:r>
            <a:r>
              <a:rPr lang="ru-RU" altLang="en-US" sz="2400"/>
              <a:t> о</a:t>
            </a:r>
            <a:r>
              <a:rPr lang="en-US" altLang="en-US" sz="2400"/>
              <a:t>ценивает вероятность класса:</a:t>
            </a:r>
            <a:endParaRPr lang="en-US" altLang="ru-RU" sz="2400"/>
          </a:p>
          <a:p>
            <a:r>
              <a:rPr lang="en-US" altLang="en-US" sz="2400"/>
              <a:t>Решение принимается с порогом </a:t>
            </a:r>
            <a:r>
              <a:rPr lang="en-US" altLang="ru-RU" sz="2400"/>
              <a:t>θ: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 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Медицина: «вероятность болезни 97%» вместо «болен».</a:t>
            </a:r>
            <a:endParaRPr lang="en-US" altLang="ru-RU" sz="2400"/>
          </a:p>
          <a:p>
            <a:r>
              <a:rPr lang="en-US" altLang="en-US" sz="2400"/>
              <a:t>Доверие модели можно оценить через энтропию:</a:t>
            </a:r>
            <a:endParaRPr lang="en-US" altLang="en-US" sz="2400"/>
          </a:p>
          <a:p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(низкая энтропия → модель уверена)</a:t>
            </a:r>
            <a:endParaRPr lang="en-US" altLang="en-US" sz="2400"/>
          </a:p>
          <a:p>
            <a:endParaRPr lang="en-US" altLang="ru-RU" sz="240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65735" y="235670"/>
            <a:ext cx="10860334" cy="559986"/>
          </a:xfrm>
        </p:spPr>
        <p:txBody>
          <a:bodyPr/>
          <a:p>
            <a:r>
              <a:rPr lang="en-US" altLang="en-US" sz="3600"/>
              <a:t>Вероятностная классификация</a:t>
            </a:r>
            <a:endParaRPr lang="en-US" altLang="en-US" sz="3600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>
            <a:alphaModFix amt="70000"/>
          </a:blip>
          <a:srcRect l="19973" t="28788"/>
          <a:stretch>
            <a:fillRect/>
          </a:stretch>
        </p:blipFill>
        <p:spPr>
          <a:xfrm>
            <a:off x="4858385" y="1633220"/>
            <a:ext cx="2475230" cy="588645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>
            <a:alphaModFix amt="70000"/>
          </a:blip>
          <a:srcRect l="4269" t="4821" r="3521" b="6971"/>
          <a:stretch>
            <a:fillRect/>
          </a:stretch>
        </p:blipFill>
        <p:spPr>
          <a:xfrm>
            <a:off x="3295650" y="3181985"/>
            <a:ext cx="5600700" cy="991870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>
            <a:alphaModFix amt="70000"/>
          </a:blip>
          <a:srcRect t="11776" b="20093"/>
          <a:stretch>
            <a:fillRect/>
          </a:stretch>
        </p:blipFill>
        <p:spPr>
          <a:xfrm>
            <a:off x="227965" y="4098290"/>
            <a:ext cx="8374380" cy="466725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757930" y="5414010"/>
            <a:ext cx="4680585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Замещающее содержимое 1048605"/>
          <p:cNvSpPr>
            <a:spLocks noGrp="1"/>
          </p:cNvSpPr>
          <p:nvPr>
            <p:ph sz="half" idx="1"/>
          </p:nvPr>
        </p:nvSpPr>
        <p:spPr>
          <a:xfrm>
            <a:off x="169545" y="994410"/>
            <a:ext cx="11837035" cy="1299210"/>
          </a:xfrm>
        </p:spPr>
        <p:txBody>
          <a:bodyPr/>
          <a:p>
            <a:r>
              <a:rPr lang="ru-RU" sz="2400" b="1"/>
              <a:t>Обучение с учителем </a:t>
            </a:r>
            <a:r>
              <a:rPr lang="ru-RU" sz="2400"/>
              <a:t>— это такой вид машинного обучения, при котором для каждого объекта из обучающей выборки известен правильный ответ, то есть известен класс</a:t>
            </a:r>
            <a:r>
              <a:rPr lang="en-US" altLang="ru-RU" sz="2400"/>
              <a:t>.</a:t>
            </a:r>
            <a:endParaRPr lang="ru-RU" sz="2400"/>
          </a:p>
          <a:p>
            <a:endParaRPr lang="ru-RU" sz="2800"/>
          </a:p>
          <a:p>
            <a:endParaRPr lang="ru-RU" sz="2800"/>
          </a:p>
        </p:txBody>
      </p:sp>
      <p:sp>
        <p:nvSpPr>
          <p:cNvPr id="1048607" name="Заголовок 104860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z="3600"/>
              <a:t>Обучение с</a:t>
            </a:r>
            <a:r>
              <a:rPr lang="en-US" altLang="ru-RU" sz="3600"/>
              <a:t> </a:t>
            </a:r>
            <a:r>
              <a:rPr lang="ru-RU" altLang="ru-RU" sz="3600"/>
              <a:t>учит</a:t>
            </a:r>
            <a:r>
              <a:rPr lang="ru-RU" altLang="ru-RU" sz="3600"/>
              <a:t>елем </a:t>
            </a:r>
            <a:endParaRPr lang="ru-RU" altLang="ru-RU" sz="3600"/>
          </a:p>
        </p:txBody>
      </p:sp>
      <p:pic>
        <p:nvPicPr>
          <p:cNvPr id="2097165" name="Изображение 2097164"/>
          <p:cNvPicPr/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 rot="21591320">
            <a:off x="1988820" y="2240915"/>
            <a:ext cx="8214360" cy="43078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Замещающий текст 1048592"/>
          <p:cNvSpPr>
            <a:spLocks noGrp="1"/>
          </p:cNvSpPr>
          <p:nvPr>
            <p:ph type="body" sz="half" idx="2"/>
          </p:nvPr>
        </p:nvSpPr>
        <p:spPr>
          <a:xfrm>
            <a:off x="165735" y="1420957"/>
            <a:ext cx="5609824" cy="5513573"/>
          </a:xfrm>
        </p:spPr>
        <p:txBody>
          <a:bodyPr/>
          <a:p>
            <a:r>
              <a:rPr lang="ru-RU" sz="2400" b="1"/>
              <a:t>Обучающая выборка </a:t>
            </a:r>
            <a:r>
              <a:rPr lang="ru-RU" sz="2400"/>
              <a:t>— это набор данных, на которых обучается модель.</a:t>
            </a:r>
            <a:r>
              <a:rPr lang="en-US" altLang="ru-RU" sz="2400"/>
              <a:t> </a:t>
            </a:r>
            <a:r>
              <a:rPr lang="ru-RU" sz="2400"/>
              <a:t>Она состоит из объектов, их признаков и правильных классов.</a:t>
            </a:r>
            <a:endParaRPr lang="ru-RU" sz="2400"/>
          </a:p>
          <a:p>
            <a:endParaRPr lang="ru-RU" sz="2400"/>
          </a:p>
          <a:p>
            <a:pPr marL="0" indent="0">
              <a:buNone/>
            </a:pPr>
            <a:r>
              <a:rPr 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Сначала алгоритм обучается на размеченных данных. </a:t>
            </a:r>
            <a:endParaRPr lang="ru-RU" sz="2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Затем, когда обучение завершено, алгоритм можно использовать для классификации новых объектов, для которых класс заранее неизвестен.</a:t>
            </a:r>
            <a:endParaRPr lang="ru-RU" sz="2400"/>
          </a:p>
        </p:txBody>
      </p:sp>
      <p:sp>
        <p:nvSpPr>
          <p:cNvPr id="1048594" name="Заголовок 1048593"/>
          <p:cNvSpPr>
            <a:spLocks noGrp="1"/>
          </p:cNvSpPr>
          <p:nvPr>
            <p:ph type="title"/>
          </p:nvPr>
        </p:nvSpPr>
        <p:spPr>
          <a:xfrm>
            <a:off x="165734" y="511441"/>
            <a:ext cx="6457145" cy="788885"/>
          </a:xfrm>
        </p:spPr>
        <p:txBody>
          <a:bodyPr/>
          <a:p>
            <a:r>
              <a:rPr lang="ru-RU" sz="3600"/>
              <a:t>Обучающая</a:t>
            </a:r>
            <a:r>
              <a:rPr lang="en-US" altLang="ru-RU" sz="3600"/>
              <a:t> </a:t>
            </a:r>
            <a:r>
              <a:rPr lang="ru-RU" altLang="ru-RU" sz="3600"/>
              <a:t>выборка</a:t>
            </a:r>
            <a:br>
              <a:rPr lang="en-US" altLang="ru-RU" sz="3600"/>
            </a:br>
            <a:endParaRPr lang="ru-RU" sz="3600"/>
          </a:p>
        </p:txBody>
      </p:sp>
      <p:pic>
        <p:nvPicPr>
          <p:cNvPr id="2097156" name="Изображение 2097155"/>
          <p:cNvPicPr/>
          <p:nvPr/>
        </p:nvPicPr>
        <p:blipFill>
          <a:blip r:embed="rId1"/>
          <a:srcRect l="1104" t="933" r="29971" b="38"/>
          <a:stretch>
            <a:fillRect/>
          </a:stretch>
        </p:blipFill>
        <p:spPr>
          <a:xfrm>
            <a:off x="5785303" y="1565085"/>
            <a:ext cx="6283451" cy="39217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Замещающее содержимое 1048587"/>
          <p:cNvSpPr>
            <a:spLocks noGrp="1"/>
          </p:cNvSpPr>
          <p:nvPr>
            <p:ph sz="half" idx="1"/>
          </p:nvPr>
        </p:nvSpPr>
        <p:spPr>
          <a:xfrm>
            <a:off x="370840" y="1642745"/>
            <a:ext cx="11648440" cy="2710815"/>
          </a:xfrm>
        </p:spPr>
        <p:txBody>
          <a:bodyPr/>
          <a:p>
            <a:pPr marL="0" indent="0">
              <a:buNone/>
            </a:pPr>
            <a:r>
              <a:rPr lang="en-US" altLang="ru-RU" sz="2400" b="1"/>
              <a:t>Репрезентативность</a:t>
            </a:r>
            <a:r>
              <a:rPr lang="ru-RU" altLang="en-US" sz="2400" b="1"/>
              <a:t> и сбалансированность</a:t>
            </a:r>
            <a:endParaRPr lang="ru-RU" sz="2400"/>
          </a:p>
          <a:p>
            <a:pPr marL="0" indent="0">
              <a:buNone/>
            </a:pPr>
            <a:r>
              <a:rPr lang="en-US" altLang="ru-RU" sz="2400"/>
              <a:t>Обучающая выборка должна представлять реальные данные, на которых модель будет работать.</a:t>
            </a:r>
            <a:endParaRPr lang="ru-RU" sz="2400"/>
          </a:p>
          <a:p>
            <a:r>
              <a:rPr lang="en-US" altLang="ru-RU" sz="2400"/>
              <a:t>должны быть представлены все классы;</a:t>
            </a:r>
            <a:endParaRPr lang="ru-RU" sz="2400"/>
          </a:p>
          <a:p>
            <a:r>
              <a:rPr lang="en-US" altLang="ru-RU" sz="2400"/>
              <a:t>данные должны быть похожи на реальные;</a:t>
            </a:r>
            <a:endParaRPr lang="ru-RU" sz="2400"/>
          </a:p>
          <a:p>
            <a:r>
              <a:rPr lang="en-US" altLang="ru-RU" sz="2400"/>
              <a:t>не должно быть перекоса (например, 95% одного класса и 5% другого).</a:t>
            </a:r>
            <a:endParaRPr lang="ru-RU" sz="2400"/>
          </a:p>
        </p:txBody>
      </p:sp>
      <p:sp>
        <p:nvSpPr>
          <p:cNvPr id="1048589" name="Заголовок 1048588"/>
          <p:cNvSpPr>
            <a:spLocks noGrp="1"/>
          </p:cNvSpPr>
          <p:nvPr>
            <p:ph type="title"/>
          </p:nvPr>
        </p:nvSpPr>
        <p:spPr>
          <a:xfrm>
            <a:off x="165735" y="237266"/>
            <a:ext cx="10860334" cy="757145"/>
          </a:xfrm>
        </p:spPr>
        <p:txBody>
          <a:bodyPr/>
          <a:p>
            <a:r>
              <a:rPr lang="ru-RU" sz="3600"/>
              <a:t>Требования к обучающей выборке. </a:t>
            </a:r>
            <a:br>
              <a:rPr lang="en-US" altLang="ru-RU" sz="3600"/>
            </a:br>
            <a:r>
              <a:rPr lang="ru-RU" sz="3600"/>
              <a:t>Репрезентативность и сбалансированность</a:t>
            </a:r>
            <a:endParaRPr lang="ru-RU" sz="3600"/>
          </a:p>
        </p:txBody>
      </p:sp>
      <p:pic>
        <p:nvPicPr>
          <p:cNvPr id="2097155" name="Изображение 2097154"/>
          <p:cNvPicPr/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492125" y="4353560"/>
            <a:ext cx="8298180" cy="16389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Замещающее содержимое 1048584"/>
          <p:cNvSpPr>
            <a:spLocks noGrp="1"/>
          </p:cNvSpPr>
          <p:nvPr>
            <p:ph sz="half" idx="10"/>
          </p:nvPr>
        </p:nvSpPr>
        <p:spPr>
          <a:xfrm>
            <a:off x="320032" y="3587195"/>
            <a:ext cx="4621303" cy="3479495"/>
          </a:xfrm>
        </p:spPr>
        <p:txBody>
          <a:bodyPr/>
          <a:p>
            <a:pPr marL="0" indent="0">
              <a:buNone/>
            </a:pPr>
            <a:r>
              <a:rPr lang="ru-RU" sz="2400" b="1"/>
              <a:t>Качество данных</a:t>
            </a:r>
            <a:endParaRPr lang="ru-RU" sz="2400" b="1"/>
          </a:p>
          <a:p>
            <a:r>
              <a:rPr lang="ru-RU" sz="2400"/>
              <a:t>Б</a:t>
            </a:r>
            <a:r>
              <a:rPr lang="ru-RU" sz="2400"/>
              <a:t>о</a:t>
            </a:r>
            <a:r>
              <a:rPr lang="ru-RU" sz="2400"/>
              <a:t>л</a:t>
            </a:r>
            <a:r>
              <a:rPr lang="ru-RU" sz="2400"/>
              <a:t>ь</a:t>
            </a:r>
            <a:r>
              <a:rPr lang="ru-RU" sz="2400"/>
              <a:t>ш</a:t>
            </a:r>
            <a:r>
              <a:rPr lang="ru-RU" sz="2400"/>
              <a:t>о</a:t>
            </a:r>
            <a:r>
              <a:rPr lang="ru-RU" sz="2400"/>
              <a:t>е</a:t>
            </a:r>
            <a:r>
              <a:rPr lang="en-US" altLang="ru-RU" sz="2400"/>
              <a:t> </a:t>
            </a:r>
            <a:r>
              <a:rPr lang="ru-RU" altLang="ru-RU" sz="2400"/>
              <a:t>з</a:t>
            </a:r>
            <a:r>
              <a:rPr lang="ru-RU" altLang="ru-RU" sz="2400"/>
              <a:t>н</a:t>
            </a:r>
            <a:r>
              <a:rPr lang="ru-RU" altLang="ru-RU" sz="2400"/>
              <a:t>а</a:t>
            </a:r>
            <a:r>
              <a:rPr lang="ru-RU" altLang="ru-RU" sz="2400"/>
              <a:t>ч</a:t>
            </a:r>
            <a:r>
              <a:rPr lang="ru-RU" altLang="ru-RU" sz="2400"/>
              <a:t>е</a:t>
            </a:r>
            <a:r>
              <a:rPr lang="ru-RU" altLang="ru-RU" sz="2400"/>
              <a:t>н</a:t>
            </a:r>
            <a:r>
              <a:rPr lang="ru-RU" altLang="ru-RU" sz="2400"/>
              <a:t>и</a:t>
            </a:r>
            <a:r>
              <a:rPr lang="ru-RU" altLang="ru-RU" sz="2400"/>
              <a:t>е</a:t>
            </a:r>
            <a:r>
              <a:rPr lang="en-US" altLang="ru-RU" sz="2400"/>
              <a:t> </a:t>
            </a:r>
            <a:r>
              <a:rPr lang="ru-RU" altLang="ru-RU" sz="2400"/>
              <a:t>и</a:t>
            </a:r>
            <a:r>
              <a:rPr lang="ru-RU" altLang="ru-RU" sz="2400"/>
              <a:t>м</a:t>
            </a:r>
            <a:r>
              <a:rPr lang="ru-RU" altLang="ru-RU" sz="2400"/>
              <a:t>е</a:t>
            </a:r>
            <a:r>
              <a:rPr lang="ru-RU" altLang="ru-RU" sz="2400"/>
              <a:t>е</a:t>
            </a:r>
            <a:r>
              <a:rPr lang="ru-RU" altLang="ru-RU" sz="2400"/>
              <a:t>т</a:t>
            </a:r>
            <a:r>
              <a:rPr lang="en-US" altLang="ru-RU" sz="2400"/>
              <a:t> </a:t>
            </a:r>
            <a:r>
              <a:rPr lang="ru-RU" altLang="ru-RU" sz="2400"/>
              <a:t>п</a:t>
            </a:r>
            <a:r>
              <a:rPr lang="ru-RU" altLang="ru-RU" sz="2400"/>
              <a:t>р</a:t>
            </a:r>
            <a:r>
              <a:rPr lang="ru-RU" altLang="ru-RU" sz="2400"/>
              <a:t>е</a:t>
            </a:r>
            <a:r>
              <a:rPr lang="ru-RU" altLang="ru-RU" sz="2400"/>
              <a:t>д</a:t>
            </a:r>
            <a:r>
              <a:rPr lang="ru-RU" altLang="ru-RU" sz="2400"/>
              <a:t>о</a:t>
            </a:r>
            <a:r>
              <a:rPr lang="ru-RU" altLang="ru-RU" sz="2400"/>
              <a:t>б</a:t>
            </a:r>
            <a:r>
              <a:rPr lang="ru-RU" altLang="ru-RU" sz="2400"/>
              <a:t>р</a:t>
            </a:r>
            <a:r>
              <a:rPr lang="ru-RU" altLang="ru-RU" sz="2400"/>
              <a:t>а</a:t>
            </a:r>
            <a:r>
              <a:rPr lang="ru-RU" altLang="ru-RU" sz="2400"/>
              <a:t>б</a:t>
            </a:r>
            <a:r>
              <a:rPr lang="ru-RU" altLang="ru-RU" sz="2400"/>
              <a:t>о</a:t>
            </a:r>
            <a:r>
              <a:rPr lang="ru-RU" altLang="ru-RU" sz="2400"/>
              <a:t>т</a:t>
            </a:r>
            <a:r>
              <a:rPr lang="ru-RU" altLang="ru-RU" sz="2400"/>
              <a:t>к</a:t>
            </a:r>
            <a:r>
              <a:rPr lang="ru-RU" altLang="ru-RU" sz="2400"/>
              <a:t>а</a:t>
            </a:r>
            <a:r>
              <a:rPr lang="en-US" altLang="ru-RU" sz="2400"/>
              <a:t> </a:t>
            </a:r>
            <a:r>
              <a:rPr lang="ru-RU" altLang="ru-RU" sz="2400"/>
              <a:t>д</a:t>
            </a:r>
            <a:r>
              <a:rPr lang="ru-RU" altLang="ru-RU" sz="2400"/>
              <a:t>а</a:t>
            </a:r>
            <a:r>
              <a:rPr lang="ru-RU" altLang="ru-RU" sz="2400"/>
              <a:t>н</a:t>
            </a:r>
            <a:r>
              <a:rPr lang="ru-RU" altLang="ru-RU" sz="2400"/>
              <a:t>н</a:t>
            </a:r>
            <a:r>
              <a:rPr lang="ru-RU" altLang="ru-RU" sz="2400"/>
              <a:t>ы</a:t>
            </a:r>
            <a:r>
              <a:rPr lang="ru-RU" altLang="ru-RU" sz="2400"/>
              <a:t>х</a:t>
            </a:r>
            <a:r>
              <a:rPr lang="en-US" altLang="ru-RU" sz="2400"/>
              <a:t>.</a:t>
            </a:r>
            <a:r>
              <a:rPr lang="en-US" altLang="ru-RU" sz="2400"/>
              <a:t> </a:t>
            </a:r>
            <a:r>
              <a:rPr lang="ru-RU" altLang="ru-RU" sz="2400"/>
              <a:t>В</a:t>
            </a:r>
            <a:r>
              <a:rPr lang="en-US" altLang="ru-RU" sz="2400"/>
              <a:t> </a:t>
            </a:r>
            <a:r>
              <a:rPr lang="ru-RU" altLang="ru-RU" sz="2400"/>
              <a:t>д</a:t>
            </a:r>
            <a:r>
              <a:rPr lang="ru-RU" altLang="ru-RU" sz="2400"/>
              <a:t>а</a:t>
            </a:r>
            <a:r>
              <a:rPr lang="ru-RU" altLang="ru-RU" sz="2400"/>
              <a:t>н</a:t>
            </a:r>
            <a:r>
              <a:rPr lang="ru-RU" altLang="ru-RU" sz="2400"/>
              <a:t>н</a:t>
            </a:r>
            <a:r>
              <a:rPr lang="ru-RU" altLang="ru-RU" sz="2400"/>
              <a:t>ы</a:t>
            </a:r>
            <a:r>
              <a:rPr lang="ru-RU" altLang="ru-RU" sz="2400"/>
              <a:t>х</a:t>
            </a:r>
            <a:r>
              <a:rPr lang="en-US" altLang="ru-RU" sz="2400"/>
              <a:t> </a:t>
            </a:r>
            <a:r>
              <a:rPr lang="ru-RU" altLang="ru-RU" sz="2400"/>
              <a:t>д</a:t>
            </a:r>
            <a:r>
              <a:rPr lang="ru-RU" altLang="ru-RU" sz="2400"/>
              <a:t>о</a:t>
            </a:r>
            <a:r>
              <a:rPr lang="ru-RU" altLang="ru-RU" sz="2400"/>
              <a:t>л</a:t>
            </a:r>
            <a:r>
              <a:rPr lang="ru-RU" altLang="ru-RU" sz="2400"/>
              <a:t>ж</a:t>
            </a:r>
            <a:r>
              <a:rPr lang="ru-RU" altLang="ru-RU" sz="2400"/>
              <a:t>н</a:t>
            </a:r>
            <a:r>
              <a:rPr lang="ru-RU" altLang="ru-RU" sz="2400"/>
              <a:t>ы</a:t>
            </a:r>
            <a:r>
              <a:rPr lang="en-US" altLang="ru-RU" sz="2400"/>
              <a:t> </a:t>
            </a:r>
            <a:r>
              <a:rPr lang="ru-RU" altLang="ru-RU" sz="2400"/>
              <a:t>о</a:t>
            </a:r>
            <a:r>
              <a:rPr lang="ru-RU" altLang="ru-RU" sz="2400"/>
              <a:t>т</a:t>
            </a:r>
            <a:r>
              <a:rPr lang="ru-RU" altLang="ru-RU" sz="2400"/>
              <a:t>с</a:t>
            </a:r>
            <a:r>
              <a:rPr lang="ru-RU" altLang="ru-RU" sz="2400"/>
              <a:t>у</a:t>
            </a:r>
            <a:r>
              <a:rPr lang="ru-RU" altLang="ru-RU" sz="2400"/>
              <a:t>т</a:t>
            </a:r>
            <a:r>
              <a:rPr lang="ru-RU" altLang="ru-RU" sz="2400"/>
              <a:t>с</a:t>
            </a:r>
            <a:r>
              <a:rPr lang="ru-RU" altLang="ru-RU" sz="2400"/>
              <a:t>твовать </a:t>
            </a:r>
            <a:r>
              <a:rPr lang="ru-RU" altLang="ru-RU" sz="2400"/>
              <a:t>п</a:t>
            </a:r>
            <a:r>
              <a:rPr lang="ru-RU" altLang="ru-RU" sz="2400"/>
              <a:t>р</a:t>
            </a:r>
            <a:r>
              <a:rPr lang="ru-RU" altLang="ru-RU" sz="2400"/>
              <a:t>о</a:t>
            </a:r>
            <a:r>
              <a:rPr lang="ru-RU" altLang="ru-RU" sz="2400"/>
              <a:t>п</a:t>
            </a:r>
            <a:r>
              <a:rPr lang="ru-RU" altLang="ru-RU" sz="2400"/>
              <a:t>у</a:t>
            </a:r>
            <a:r>
              <a:rPr lang="ru-RU" altLang="ru-RU" sz="2400"/>
              <a:t>с</a:t>
            </a:r>
            <a:r>
              <a:rPr lang="ru-RU" altLang="ru-RU" sz="2400"/>
              <a:t>к</a:t>
            </a:r>
            <a:r>
              <a:rPr lang="ru-RU" altLang="ru-RU" sz="2400"/>
              <a:t>и</a:t>
            </a:r>
            <a:r>
              <a:rPr lang="en-US" altLang="ru-RU" sz="2400"/>
              <a:t>,</a:t>
            </a:r>
            <a:r>
              <a:rPr lang="en-US" altLang="ru-RU" sz="2400"/>
              <a:t> </a:t>
            </a:r>
            <a:r>
              <a:rPr lang="ru-RU" altLang="ru-RU" sz="2400"/>
              <a:t>ш</a:t>
            </a:r>
            <a:r>
              <a:rPr lang="ru-RU" altLang="ru-RU" sz="2400"/>
              <a:t>у</a:t>
            </a:r>
            <a:r>
              <a:rPr lang="ru-RU" altLang="ru-RU" sz="2400"/>
              <a:t>м</a:t>
            </a:r>
            <a:r>
              <a:rPr lang="en-US" altLang="ru-RU" sz="2400"/>
              <a:t>,</a:t>
            </a:r>
            <a:r>
              <a:rPr lang="en-US" altLang="ru-RU" sz="2400"/>
              <a:t> </a:t>
            </a:r>
            <a:r>
              <a:rPr lang="ru-RU" altLang="ru-RU" sz="2400"/>
              <a:t>в</a:t>
            </a:r>
            <a:r>
              <a:rPr lang="ru-RU" altLang="ru-RU" sz="2400"/>
              <a:t>ы</a:t>
            </a:r>
            <a:r>
              <a:rPr lang="ru-RU" altLang="ru-RU" sz="2400"/>
              <a:t>б</a:t>
            </a:r>
            <a:r>
              <a:rPr lang="ru-RU" altLang="ru-RU" sz="2400"/>
              <a:t>р</a:t>
            </a:r>
            <a:r>
              <a:rPr lang="ru-RU" altLang="ru-RU" sz="2400"/>
              <a:t>о</a:t>
            </a:r>
            <a:r>
              <a:rPr lang="ru-RU" altLang="ru-RU" sz="2400"/>
              <a:t>с</a:t>
            </a:r>
            <a:r>
              <a:rPr lang="ru-RU" altLang="ru-RU" sz="2400"/>
              <a:t>ы</a:t>
            </a:r>
            <a:r>
              <a:rPr lang="en-US" altLang="ru-RU" sz="2400"/>
              <a:t>,</a:t>
            </a:r>
            <a:r>
              <a:rPr lang="en-US" altLang="ru-RU" sz="2400"/>
              <a:t> </a:t>
            </a:r>
            <a:r>
              <a:rPr lang="ru-RU" altLang="ru-RU" sz="2400"/>
              <a:t>д</a:t>
            </a:r>
            <a:r>
              <a:rPr lang="ru-RU" altLang="ru-RU" sz="2400"/>
              <a:t>у</a:t>
            </a:r>
            <a:r>
              <a:rPr lang="ru-RU" altLang="ru-RU" sz="2400"/>
              <a:t>б</a:t>
            </a:r>
            <a:r>
              <a:rPr lang="ru-RU" altLang="ru-RU" sz="2400"/>
              <a:t>л</a:t>
            </a:r>
            <a:r>
              <a:rPr lang="ru-RU" altLang="ru-RU" sz="2400"/>
              <a:t>и</a:t>
            </a:r>
            <a:r>
              <a:rPr lang="ru-RU" altLang="ru-RU" sz="2400"/>
              <a:t>к</a:t>
            </a:r>
            <a:r>
              <a:rPr lang="ru-RU" altLang="ru-RU" sz="2400"/>
              <a:t>а</a:t>
            </a:r>
            <a:r>
              <a:rPr lang="ru-RU" altLang="ru-RU" sz="2400"/>
              <a:t>т</a:t>
            </a:r>
            <a:r>
              <a:rPr lang="ru-RU" altLang="ru-RU" sz="2400"/>
              <a:t>ы</a:t>
            </a:r>
            <a:r>
              <a:rPr lang="en-US" altLang="ru-RU" sz="2400"/>
              <a:t>.</a:t>
            </a:r>
            <a:endParaRPr lang="ru-RU" sz="2400"/>
          </a:p>
        </p:txBody>
      </p:sp>
      <p:sp>
        <p:nvSpPr>
          <p:cNvPr id="1048586" name="Замещающее содержимое 1048585"/>
          <p:cNvSpPr>
            <a:spLocks noGrp="1"/>
          </p:cNvSpPr>
          <p:nvPr>
            <p:ph sz="half" idx="1"/>
          </p:nvPr>
        </p:nvSpPr>
        <p:spPr>
          <a:xfrm>
            <a:off x="320040" y="1525905"/>
            <a:ext cx="11975465" cy="1760855"/>
          </a:xfrm>
        </p:spPr>
        <p:txBody>
          <a:bodyPr/>
          <a:p>
            <a:pPr marL="0" indent="0">
              <a:buNone/>
            </a:pPr>
            <a:r>
              <a:rPr lang="ru-RU" sz="2400" b="1"/>
              <a:t>Объем выборки </a:t>
            </a:r>
            <a:endParaRPr lang="ru-RU" sz="2400" b="1"/>
          </a:p>
          <a:p>
            <a:r>
              <a:rPr lang="ru-RU" sz="2400"/>
              <a:t>К</a:t>
            </a:r>
            <a:r>
              <a:rPr lang="ru-RU" sz="2400"/>
              <a:t>оличество объектов в выборке должно быть значительно больше количества признаков:</a:t>
            </a:r>
            <a:endParaRPr lang="ru-RU" sz="2400"/>
          </a:p>
          <a:p>
            <a:pPr marL="0" indent="0">
              <a:buNone/>
            </a:pPr>
            <a:r>
              <a:rPr lang="ru-RU" altLang="en-US" sz="2400"/>
              <a:t>   </a:t>
            </a:r>
            <a:r>
              <a:rPr lang="en-US" altLang="ru-RU" sz="2400"/>
              <a:t>n &gt;&gt; d, </a:t>
            </a:r>
            <a:r>
              <a:rPr lang="ru-RU" altLang="ru-RU" sz="2400"/>
              <a:t>где </a:t>
            </a:r>
            <a:r>
              <a:rPr lang="en-US" altLang="ru-RU" sz="2400"/>
              <a:t>d - </a:t>
            </a:r>
            <a:r>
              <a:rPr lang="ru-RU" altLang="en-US" sz="2400"/>
              <a:t>размерность признакового пространства </a:t>
            </a:r>
            <a:r>
              <a:rPr lang="en-US" altLang="ru-RU" sz="2400"/>
              <a:t>(d = dim(X))</a:t>
            </a:r>
            <a:endParaRPr lang="ru-RU" sz="2400"/>
          </a:p>
          <a:p>
            <a:pPr marL="0" indent="0">
              <a:buNone/>
            </a:pPr>
            <a:endParaRPr lang="ru-RU" sz="2400"/>
          </a:p>
          <a:p>
            <a:endParaRPr lang="ru-RU" sz="2400"/>
          </a:p>
        </p:txBody>
      </p:sp>
      <p:sp>
        <p:nvSpPr>
          <p:cNvPr id="1048587" name="Заголовок 1048586"/>
          <p:cNvSpPr>
            <a:spLocks noGrp="1"/>
          </p:cNvSpPr>
          <p:nvPr>
            <p:ph type="title"/>
          </p:nvPr>
        </p:nvSpPr>
        <p:spPr>
          <a:xfrm>
            <a:off x="320031" y="316656"/>
            <a:ext cx="10860334" cy="972628"/>
          </a:xfrm>
        </p:spPr>
        <p:txBody>
          <a:bodyPr/>
          <a:p>
            <a:r>
              <a:rPr lang="ru-RU" sz="3600"/>
              <a:t>Требования к обучающей выборке. Достаточный объем и качество  данных</a:t>
            </a:r>
            <a:endParaRPr lang="ru-RU" sz="3600"/>
          </a:p>
        </p:txBody>
      </p:sp>
      <p:pic>
        <p:nvPicPr>
          <p:cNvPr id="2097153" name="Изображение 2097152"/>
          <p:cNvPicPr/>
          <p:nvPr/>
        </p:nvPicPr>
        <p:blipFill>
          <a:blip r:embed="rId1"/>
          <a:srcRect t="-262"/>
          <a:stretch>
            <a:fillRect/>
          </a:stretch>
        </p:blipFill>
        <p:spPr>
          <a:xfrm>
            <a:off x="5243195" y="3286125"/>
            <a:ext cx="6741795" cy="3359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Замещающее содержимое 1048577"/>
          <p:cNvSpPr>
            <a:spLocks noGrp="1"/>
          </p:cNvSpPr>
          <p:nvPr>
            <p:ph sz="half" idx="1"/>
          </p:nvPr>
        </p:nvSpPr>
        <p:spPr>
          <a:xfrm>
            <a:off x="165735" y="1769477"/>
            <a:ext cx="11852910" cy="5514975"/>
          </a:xfrm>
        </p:spPr>
        <p:txBody>
          <a:bodyPr/>
          <a:p>
            <a:r>
              <a:rPr lang="ru-RU" sz="24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Разметка</a:t>
            </a:r>
            <a:endParaRPr lang="ru-RU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Метки классов должны быть абсолютно достоверными. Наличие ошибок в разметке (Label Noise) действует на модель классификации губительно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sz="24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Независимость</a:t>
            </a:r>
            <a:endParaRPr lang="ru-RU" sz="2400" b="1" i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Большинство алгоритмов классификации предполагают, что объекты в выборке независимы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выборке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не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должно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быть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дубликатов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очень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похожих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объектов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train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test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Иначе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модель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просто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запомнит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данные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а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не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научится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классифицировать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 sz="2400"/>
          </a:p>
        </p:txBody>
      </p:sp>
      <p:sp>
        <p:nvSpPr>
          <p:cNvPr id="1048579" name="Заголовок 1048578"/>
          <p:cNvSpPr>
            <a:spLocks noGrp="1"/>
          </p:cNvSpPr>
          <p:nvPr>
            <p:ph type="title"/>
          </p:nvPr>
        </p:nvSpPr>
        <p:spPr>
          <a:xfrm>
            <a:off x="165735" y="377910"/>
            <a:ext cx="11936982" cy="1005373"/>
          </a:xfrm>
        </p:spPr>
        <p:txBody>
          <a:bodyPr/>
          <a:p>
            <a:r>
              <a:rPr lang="ru-RU" sz="3600"/>
              <a:t>Требования к обучающей выборке.</a:t>
            </a:r>
            <a:r>
              <a:rPr lang="en-US" altLang="ru-RU" sz="3600"/>
              <a:t> </a:t>
            </a:r>
            <a:r>
              <a:rPr lang="ru-RU" altLang="ru-RU" sz="3600"/>
              <a:t>Т</a:t>
            </a:r>
            <a:r>
              <a:rPr lang="ru-RU" altLang="ru-RU" sz="3600"/>
              <a:t>о</a:t>
            </a:r>
            <a:r>
              <a:rPr lang="ru-RU" altLang="ru-RU" sz="3600"/>
              <a:t>ч</a:t>
            </a:r>
            <a:r>
              <a:rPr lang="ru-RU" altLang="ru-RU" sz="3600"/>
              <a:t>н</a:t>
            </a:r>
            <a:r>
              <a:rPr lang="ru-RU" altLang="ru-RU" sz="3600"/>
              <a:t>о</a:t>
            </a:r>
            <a:r>
              <a:rPr lang="ru-RU" altLang="ru-RU" sz="3600"/>
              <a:t>с</a:t>
            </a:r>
            <a:r>
              <a:rPr lang="ru-RU" altLang="ru-RU" sz="3600"/>
              <a:t>т</a:t>
            </a:r>
            <a:r>
              <a:rPr lang="ru-RU" altLang="ru-RU" sz="3600"/>
              <a:t>ь</a:t>
            </a:r>
            <a:r>
              <a:rPr lang="en-US" altLang="ru-RU" sz="3600"/>
              <a:t> </a:t>
            </a:r>
            <a:r>
              <a:rPr lang="ru-RU" altLang="ru-RU" sz="3600"/>
              <a:t>и</a:t>
            </a:r>
            <a:r>
              <a:rPr lang="en-US" altLang="ru-RU" sz="3600"/>
              <a:t> </a:t>
            </a:r>
            <a:r>
              <a:rPr lang="ru-RU" altLang="ru-RU" sz="3600"/>
              <a:t>н</a:t>
            </a:r>
            <a:r>
              <a:rPr lang="ru-RU" altLang="ru-RU" sz="3600"/>
              <a:t>е</a:t>
            </a:r>
            <a:r>
              <a:rPr lang="ru-RU" altLang="ru-RU" sz="3600"/>
              <a:t>з</a:t>
            </a:r>
            <a:r>
              <a:rPr lang="ru-RU" altLang="ru-RU" sz="3600"/>
              <a:t>а</a:t>
            </a:r>
            <a:r>
              <a:rPr lang="ru-RU" altLang="ru-RU" sz="3600"/>
              <a:t>в</a:t>
            </a:r>
            <a:r>
              <a:rPr lang="ru-RU" altLang="ru-RU" sz="3600"/>
              <a:t>и</a:t>
            </a:r>
            <a:r>
              <a:rPr lang="ru-RU" altLang="ru-RU" sz="3600"/>
              <a:t>с</a:t>
            </a:r>
            <a:r>
              <a:rPr lang="ru-RU" altLang="ru-RU" sz="3600"/>
              <a:t>и</a:t>
            </a:r>
            <a:r>
              <a:rPr lang="ru-RU" altLang="ru-RU" sz="3600"/>
              <a:t>м</a:t>
            </a:r>
            <a:r>
              <a:rPr lang="ru-RU" altLang="ru-RU" sz="3600"/>
              <a:t>о</a:t>
            </a:r>
            <a:r>
              <a:rPr lang="ru-RU" altLang="ru-RU" sz="3600"/>
              <a:t>с</a:t>
            </a:r>
            <a:r>
              <a:rPr lang="ru-RU" altLang="ru-RU" sz="3600"/>
              <a:t>т</a:t>
            </a:r>
            <a:r>
              <a:rPr lang="ru-RU" altLang="ru-RU" sz="3600"/>
              <a:t>ь</a:t>
            </a:r>
            <a:endParaRPr lang="ru-RU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165735" y="1838325"/>
            <a:ext cx="11835765" cy="5486400"/>
          </a:xfrm>
        </p:spPr>
        <p:txBody>
          <a:bodyPr/>
          <a:p>
            <a:pPr marL="0" indent="0">
              <a:buNone/>
            </a:pPr>
            <a:r>
              <a:rPr lang="ru-RU" altLang="en-US" sz="2400" b="1">
                <a:sym typeface="+mn-ea"/>
              </a:rPr>
              <a:t>Информативность</a:t>
            </a:r>
            <a:endParaRPr lang="ru-RU" altLang="en-US" sz="2400" b="1"/>
          </a:p>
          <a:p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Признаки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должны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содержать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достаточно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информации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для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разделения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классов</a:t>
            </a:r>
            <a:r>
              <a:rPr lang="en-US" altLang="ru-RU" sz="2400">
                <a:sym typeface="+mn-ea"/>
              </a:rPr>
              <a:t>.</a:t>
            </a:r>
            <a:endParaRPr lang="en-US" altLang="ru-RU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Проблемы</a:t>
            </a:r>
            <a:r>
              <a:rPr lang="en-US" altLang="ru-RU" sz="2400">
                <a:sym typeface="+mn-ea"/>
              </a:rPr>
              <a:t>:</a:t>
            </a:r>
            <a:endParaRPr lang="en-US" altLang="ru-RU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Неинформативные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признаки</a:t>
            </a:r>
            <a:r>
              <a:rPr lang="en-US" altLang="ru-RU" sz="2400">
                <a:sym typeface="+mn-ea"/>
              </a:rPr>
              <a:t> (</a:t>
            </a:r>
            <a:r>
              <a:rPr lang="en-US" altLang="en-US" sz="2400">
                <a:sym typeface="+mn-ea"/>
              </a:rPr>
              <a:t>шум</a:t>
            </a:r>
            <a:r>
              <a:rPr lang="en-US" altLang="ru-RU" sz="2400">
                <a:sym typeface="+mn-ea"/>
              </a:rPr>
              <a:t>).</a:t>
            </a:r>
            <a:endParaRPr lang="en-US" altLang="ru-RU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Мультиколлинеарность</a:t>
            </a:r>
            <a:r>
              <a:rPr lang="en-US" altLang="ru-RU" sz="2400">
                <a:sym typeface="+mn-ea"/>
              </a:rPr>
              <a:t> (</a:t>
            </a:r>
            <a:r>
              <a:rPr lang="en-US" altLang="en-US" sz="2400">
                <a:sym typeface="+mn-ea"/>
              </a:rPr>
              <a:t>сильная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корреляция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признаков</a:t>
            </a:r>
            <a:r>
              <a:rPr lang="en-US" altLang="ru-RU" sz="2400">
                <a:sym typeface="+mn-ea"/>
              </a:rPr>
              <a:t>).</a:t>
            </a:r>
            <a:endParaRPr lang="en-US" altLang="ru-RU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Несбалансированность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признаков</a:t>
            </a:r>
            <a:r>
              <a:rPr lang="en-US" altLang="ru-RU" sz="2400">
                <a:sym typeface="+mn-ea"/>
              </a:rPr>
              <a:t> (</a:t>
            </a:r>
            <a:r>
              <a:rPr lang="en-US" altLang="en-US" sz="2400">
                <a:sym typeface="+mn-ea"/>
              </a:rPr>
              <a:t>разный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масштаб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требует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нормализации</a:t>
            </a:r>
            <a:r>
              <a:rPr lang="en-US" altLang="ru-RU" sz="2400">
                <a:sym typeface="+mn-ea"/>
              </a:rPr>
              <a:t>).</a:t>
            </a:r>
            <a:endParaRPr lang="en-US" altLang="ru-RU" sz="2400"/>
          </a:p>
          <a:p>
            <a:endParaRPr lang="ru-RU" altLang="en-US" sz="240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65735" y="434340"/>
            <a:ext cx="11835765" cy="560070"/>
          </a:xfrm>
        </p:spPr>
        <p:txBody>
          <a:bodyPr/>
          <a:p>
            <a:r>
              <a:rPr lang="ru-RU" sz="3600">
                <a:sym typeface="+mn-ea"/>
              </a:rPr>
              <a:t>Требования к обучающей выборке. </a:t>
            </a:r>
            <a:r>
              <a:rPr lang="en-US" altLang="en-US" sz="3600">
                <a:sym typeface="+mn-ea"/>
              </a:rPr>
              <a:t>Информативность</a:t>
            </a:r>
            <a:r>
              <a:rPr lang="en-US" altLang="ru-RU" sz="3600">
                <a:sym typeface="+mn-ea"/>
              </a:rPr>
              <a:t> </a:t>
            </a:r>
            <a:r>
              <a:rPr lang="en-US" altLang="en-US" sz="3600">
                <a:sym typeface="+mn-ea"/>
              </a:rPr>
              <a:t>признаков</a:t>
            </a:r>
            <a:endParaRPr lang="ru-RU" altLang="en-US" sz="36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Замещающее содержимое 1048579"/>
          <p:cNvSpPr>
            <a:spLocks noGrp="1"/>
          </p:cNvSpPr>
          <p:nvPr>
            <p:ph sz="half" idx="1"/>
          </p:nvPr>
        </p:nvSpPr>
        <p:spPr>
          <a:xfrm>
            <a:off x="169544" y="1343025"/>
            <a:ext cx="11852910" cy="5514975"/>
          </a:xfrm>
        </p:spPr>
        <p:txBody>
          <a:bodyPr/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Классификация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—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предсказание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метки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класса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Ключевые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требования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выборке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Репрезентативность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Сбалансированность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Достаточный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объем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Чистота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данных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Информативность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признаков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48581" name="Заголовок 1048580"/>
          <p:cNvSpPr>
            <a:spLocks noGrp="1"/>
          </p:cNvSpPr>
          <p:nvPr>
            <p:ph type="title"/>
          </p:nvPr>
        </p:nvSpPr>
        <p:spPr>
          <a:xfrm>
            <a:off x="169543" y="467398"/>
            <a:ext cx="10860334" cy="559986"/>
          </a:xfrm>
        </p:spPr>
        <p:txBody>
          <a:bodyPr/>
          <a:p>
            <a:r>
              <a:rPr lang="ru-RU" sz="3600"/>
              <a:t>Вывод</a:t>
            </a:r>
            <a:r>
              <a:rPr lang="ru-RU" sz="3600"/>
              <a:t>ы</a:t>
            </a:r>
            <a:endParaRPr lang="ru-RU"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3408</Words>
  <Application>WPS Presentation</Application>
  <PresentationFormat/>
  <Paragraphs>111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Open Sans</vt:lpstr>
      <vt:lpstr>Open Sans Extrabold</vt:lpstr>
      <vt:lpstr>Open Sans Light</vt:lpstr>
      <vt:lpstr>Microsoft YaHei</vt:lpstr>
      <vt:lpstr>Arial Unicode MS</vt:lpstr>
      <vt:lpstr>Calibri</vt:lpstr>
      <vt:lpstr>MS PGothic</vt:lpstr>
      <vt:lpstr>Тема Office</vt:lpstr>
      <vt:lpstr>PowerPoint 演示文稿</vt:lpstr>
      <vt:lpstr>Задача классификации</vt:lpstr>
      <vt:lpstr>Постановка задачи классификации</vt:lpstr>
      <vt:lpstr>PowerPoint 演示文稿</vt:lpstr>
      <vt:lpstr>PowerPoint 演示文稿</vt:lpstr>
      <vt:lpstr>Обучение с учителем </vt:lpstr>
      <vt:lpstr>Обучающая выборка </vt:lpstr>
      <vt:lpstr>Требования к обучающей выборке.  Репрезентативность и сбалансированность</vt:lpstr>
      <vt:lpstr>Требования к обучающей выборке. Достаточный объем и качество  данных</vt:lpstr>
      <vt:lpstr>Требования к обучающей выборке. Точность и независимость</vt:lpstr>
      <vt:lpstr>PowerPoint 演示文稿</vt:lpstr>
      <vt:lpstr>Выводы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Лапшина</dc:creator>
  <cp:lastModifiedBy>Жанна Новикова</cp:lastModifiedBy>
  <cp:revision>1</cp:revision>
  <dcterms:created xsi:type="dcterms:W3CDTF">2026-04-16T21:26:58Z</dcterms:created>
  <dcterms:modified xsi:type="dcterms:W3CDTF">2026-04-16T21:26:58Z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  <property fmtid="{D5CDD505-2E9C-101B-9397-08002B2CF9AE}" pid="4" name="ICV">
    <vt:lpwstr>EC582BD2EE504E739BB388EBA1496CC3_13</vt:lpwstr>
  </property>
  <property fmtid="{D5CDD505-2E9C-101B-9397-08002B2CF9AE}" pid="5" name="KSOProductBuildVer">
    <vt:lpwstr>1049-12.1.0.25830</vt:lpwstr>
  </property>
</Properties>
</file>