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355" r:id="rId6"/>
    <p:sldId id="356" r:id="rId7"/>
    <p:sldId id="375" r:id="rId8"/>
    <p:sldId id="357" r:id="rId9"/>
    <p:sldId id="358" r:id="rId10"/>
    <p:sldId id="359" r:id="rId11"/>
    <p:sldId id="374" r:id="rId12"/>
    <p:sldId id="376" r:id="rId13"/>
    <p:sldId id="370" r:id="rId14"/>
    <p:sldId id="369" r:id="rId15"/>
    <p:sldId id="377" r:id="rId16"/>
    <p:sldId id="380" r:id="rId17"/>
    <p:sldId id="381" r:id="rId18"/>
    <p:sldId id="382" r:id="rId19"/>
    <p:sldId id="385" r:id="rId20"/>
    <p:sldId id="383" r:id="rId21"/>
    <p:sldId id="384" r:id="rId22"/>
    <p:sldId id="386" r:id="rId23"/>
    <p:sldId id="387" r:id="rId24"/>
    <p:sldId id="378" r:id="rId25"/>
    <p:sldId id="379" r:id="rId26"/>
    <p:sldId id="368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826"/>
    <a:srgbClr val="F8F1F1"/>
    <a:srgbClr val="8FAADC"/>
    <a:srgbClr val="66A0D0"/>
    <a:srgbClr val="8C6E8E"/>
    <a:srgbClr val="AE6464"/>
    <a:srgbClr val="D3B25F"/>
    <a:srgbClr val="C2AA46"/>
    <a:srgbClr val="990000"/>
    <a:srgbClr val="C2A1C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43" autoAdjust="0"/>
    <p:restoredTop sz="94648" autoAdjust="0"/>
  </p:normalViewPr>
  <p:slideViewPr>
    <p:cSldViewPr snapToGrid="0">
      <p:cViewPr varScale="1">
        <p:scale>
          <a:sx n="101" d="100"/>
          <a:sy n="101" d="100"/>
        </p:scale>
        <p:origin x="48" y="224"/>
      </p:cViewPr>
      <p:guideLst>
        <p:guide orient="horz" pos="2409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-490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93DD-A479-4F6C-AF5E-6152D069177D}" type="datetimeFigureOut">
              <a:rPr lang="ru-RU" smtClean="0"/>
              <a:pPr/>
              <a:t>29.04.2026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27F79-BC16-4DE0-8BA2-D3AF1D768C7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71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AC6F-BB1F-4063-BD4A-C26C60CE3AD6}" type="datetimeFigureOut">
              <a:rPr lang="ru-RU" smtClean="0"/>
              <a:pPr/>
              <a:t>29.04.2026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0B39-B557-40BF-9ECA-089F8F8977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45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267304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799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64686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2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4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3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2000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1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3" name="Группа 52"/>
          <p:cNvGrpSpPr/>
          <p:nvPr userDrawn="1"/>
        </p:nvGrpSpPr>
        <p:grpSpPr>
          <a:xfrm>
            <a:off x="9143115" y="0"/>
            <a:ext cx="2527884" cy="1474000"/>
            <a:chOff x="9225933" y="44624"/>
            <a:chExt cx="2527884" cy="1474000"/>
          </a:xfrm>
        </p:grpSpPr>
        <p:cxnSp>
          <p:nvCxnSpPr>
            <p:cNvPr id="55" name="Прямая соединительная линия 54"/>
            <p:cNvCxnSpPr/>
            <p:nvPr userDrawn="1"/>
          </p:nvCxnSpPr>
          <p:spPr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 userDrawn="1"/>
          </p:nvCxnSpPr>
          <p:spPr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 userDrawn="1"/>
          </p:nvCxnSpPr>
          <p:spPr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 userDrawn="1"/>
          </p:nvCxnSpPr>
          <p:spPr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 userDrawn="1"/>
          </p:nvCxnSpPr>
          <p:spPr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 userDrawn="1"/>
          </p:nvCxnSpPr>
          <p:spPr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 userDrawn="1"/>
          </p:nvCxnSpPr>
          <p:spPr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 userDrawn="1"/>
          </p:nvCxnSpPr>
          <p:spPr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 userDrawn="1"/>
          </p:nvCxnSpPr>
          <p:spPr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/>
            <p:nvPr userDrawn="1"/>
          </p:nvCxnSpPr>
          <p:spPr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 userDrawn="1"/>
          </p:nvCxnSpPr>
          <p:spPr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 userDrawn="1"/>
          </p:nvCxnSpPr>
          <p:spPr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 userDrawn="1"/>
          </p:nvCxnSpPr>
          <p:spPr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/>
            <p:cNvCxnSpPr/>
            <p:nvPr userDrawn="1"/>
          </p:nvCxnSpPr>
          <p:spPr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 userDrawn="1"/>
          </p:nvCxnSpPr>
          <p:spPr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 userDrawn="1"/>
          </p:nvCxnSpPr>
          <p:spPr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6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299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ненумер.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88720"/>
            <a:ext cx="6086475" cy="54863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426329" y="1183006"/>
            <a:ext cx="5580886" cy="549211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3228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48715"/>
            <a:ext cx="11835765" cy="5486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789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сто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77290"/>
            <a:ext cx="11812905" cy="5486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9282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текст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0"/>
            <a:ext cx="7008813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38687"/>
            <a:ext cx="4831871" cy="55135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4840605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9188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исунок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70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279" y="5852160"/>
            <a:ext cx="11886086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8429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лев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6072" y="1786243"/>
            <a:ext cx="5242849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831" y="554439"/>
            <a:ext cx="526434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07976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1532" y="1786243"/>
            <a:ext cx="5681932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31" y="554439"/>
            <a:ext cx="499832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1101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13339"/>
            <a:ext cx="1220346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2560320"/>
            <a:ext cx="3933287" cy="4000499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2830182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96789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213339"/>
            <a:ext cx="762254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1213338"/>
            <a:ext cx="3933287" cy="5331235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1483200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99547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+ текс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8922" y="1223010"/>
            <a:ext cx="5575433" cy="5372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Диаграмма 7"/>
          <p:cNvSpPr>
            <a:spLocks noGrp="1"/>
          </p:cNvSpPr>
          <p:nvPr>
            <p:ph type="chart" sz="quarter" idx="11"/>
          </p:nvPr>
        </p:nvSpPr>
        <p:spPr>
          <a:xfrm>
            <a:off x="171451" y="1229042"/>
            <a:ext cx="6052184" cy="535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961370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9544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quot;Дорожная карта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ная линия уступом 5"/>
          <p:cNvCxnSpPr/>
          <p:nvPr userDrawn="1"/>
        </p:nvCxnSpPr>
        <p:spPr>
          <a:xfrm>
            <a:off x="165735" y="1417320"/>
            <a:ext cx="11755755" cy="119443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579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711624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308600" y="1277607"/>
            <a:ext cx="5612889" cy="5626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879975" y="2780929"/>
            <a:ext cx="3418329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79220" y="2780929"/>
            <a:ext cx="2442270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48577" y="4821687"/>
            <a:ext cx="11612917" cy="14939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3146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439165" y="1354812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Контакты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12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2330EA-6E84-458F-A2B3-74FCAF2442F2}" type="datetimeFigureOut">
              <a:rPr lang="ru-RU" smtClean="0"/>
              <a:pPr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792E41-49DC-46AA-A271-9F56352991B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45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3705242-639C-4816-B6E8-01005FE983B9}"/>
              </a:ext>
            </a:extLst>
          </p:cNvPr>
          <p:cNvCxnSpPr>
            <a:cxnSpLocks/>
          </p:cNvCxnSpPr>
          <p:nvPr userDrawn="1"/>
        </p:nvCxnSpPr>
        <p:spPr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813" y="-309257"/>
            <a:ext cx="2044945" cy="11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73" r:id="rId4"/>
    <p:sldLayoutId id="2147483661" r:id="rId5"/>
    <p:sldLayoutId id="2147483674" r:id="rId6"/>
    <p:sldLayoutId id="2147483660" r:id="rId7"/>
    <p:sldLayoutId id="2147483675" r:id="rId8"/>
    <p:sldLayoutId id="2147483654" r:id="rId9"/>
    <p:sldLayoutId id="2147483664" r:id="rId10"/>
    <p:sldLayoutId id="2147483658" r:id="rId11"/>
    <p:sldLayoutId id="2147483655" r:id="rId12"/>
    <p:sldLayoutId id="2147483657" r:id="rId13"/>
    <p:sldLayoutId id="2147483663" r:id="rId14"/>
    <p:sldLayoutId id="2147483665" r:id="rId15"/>
    <p:sldLayoutId id="2147483670" r:id="rId16"/>
    <p:sldLayoutId id="2147483667" r:id="rId17"/>
    <p:sldLayoutId id="2147483677" r:id="rId18"/>
    <p:sldLayoutId id="2147483668" r:id="rId19"/>
    <p:sldLayoutId id="2147483669" r:id="rId20"/>
    <p:sldLayoutId id="2147483671" r:id="rId21"/>
    <p:sldLayoutId id="2147483678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305344-D381-4977-A435-C8740BF079CE}"/>
              </a:ext>
            </a:extLst>
          </p:cNvPr>
          <p:cNvSpPr/>
          <p:nvPr/>
        </p:nvSpPr>
        <p:spPr>
          <a:xfrm>
            <a:off x="1712804" y="4212406"/>
            <a:ext cx="90588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Инструментарий</a:t>
            </a: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sz="3600" dirty="0" err="1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для</a:t>
            </a: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sz="3600" dirty="0" err="1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анализа</a:t>
            </a: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sz="3600" dirty="0" err="1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данных</a:t>
            </a:r>
            <a:endParaRPr lang="en-US" sz="3600" dirty="0"/>
          </a:p>
          <a:p>
            <a:r>
              <a:rPr lang="ru-RU" sz="3600" dirty="0" smtClean="0">
                <a:solidFill>
                  <a:srgbClr val="F8F1F1"/>
                </a:solidFill>
                <a:latin typeface="Open Sans Extrabold" panose="020B0906030804020204" pitchFamily="34" charset="0"/>
                <a:ea typeface="DM Sans Medium"/>
                <a:cs typeface="Open Sans Extrabold" panose="020B0906030804020204" pitchFamily="34" charset="0"/>
              </a:rPr>
              <a:t>Иванец С.С.</a:t>
            </a:r>
            <a:endParaRPr lang="ru-RU" sz="3600" dirty="0">
              <a:solidFill>
                <a:srgbClr val="F8F1F1"/>
              </a:solidFill>
              <a:latin typeface="Open Sans Extrabold" panose="020B0906030804020204" pitchFamily="34" charset="0"/>
              <a:ea typeface="DM Sans Medium"/>
              <a:cs typeface="Open Sans Extrabold" panose="020B09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67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923826"/>
                </a:solidFill>
              </a:rPr>
              <a:t>Критерии выбора подходящего инструмента</a:t>
            </a:r>
            <a:endParaRPr lang="ru-RU" b="1" dirty="0">
              <a:solidFill>
                <a:srgbClr val="923826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>
                <a:ea typeface="DM Sans Medium" pitchFamily="34" charset="-122"/>
                <a:cs typeface="DM Sans Medium" pitchFamily="34" charset="-120"/>
              </a:rPr>
              <a:t>1)</a:t>
            </a:r>
            <a:r>
              <a:rPr lang="en-US" b="1" dirty="0" err="1" smtClean="0">
                <a:ea typeface="DM Sans Medium" pitchFamily="34" charset="-122"/>
                <a:cs typeface="DM Sans Medium" pitchFamily="34" charset="-120"/>
              </a:rPr>
              <a:t>Объем</a:t>
            </a:r>
            <a:r>
              <a:rPr lang="en-US" b="1" dirty="0" smtClean="0"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b="1" dirty="0">
                <a:ea typeface="DM Sans Medium" pitchFamily="34" charset="-122"/>
                <a:cs typeface="DM Sans Medium" pitchFamily="34" charset="-120"/>
              </a:rPr>
              <a:t>и </a:t>
            </a:r>
            <a:r>
              <a:rPr lang="en-US" b="1" dirty="0" err="1">
                <a:ea typeface="DM Sans Medium" pitchFamily="34" charset="-122"/>
                <a:cs typeface="DM Sans Medium" pitchFamily="34" charset="-120"/>
              </a:rPr>
              <a:t>структура</a:t>
            </a:r>
            <a:r>
              <a:rPr lang="en-US" b="1" dirty="0"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b="1" dirty="0" err="1" smtClean="0">
                <a:ea typeface="DM Sans Medium" pitchFamily="34" charset="-122"/>
                <a:cs typeface="DM Sans Medium" pitchFamily="34" charset="-120"/>
              </a:rPr>
              <a:t>данных</a:t>
            </a:r>
            <a:r>
              <a:rPr lang="ru-RU" b="1" dirty="0" smtClean="0">
                <a:ea typeface="DM Sans Medium" pitchFamily="34" charset="-122"/>
                <a:cs typeface="DM Sans Medium" pitchFamily="34" charset="-120"/>
              </a:rPr>
              <a:t>.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От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нескольких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десятков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строк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до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петабайтов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информации</a:t>
            </a:r>
            <a:r>
              <a:rPr lang="en-US" dirty="0"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  <a:p>
            <a:r>
              <a:rPr lang="ru-RU" b="1" dirty="0" smtClean="0"/>
              <a:t>2)</a:t>
            </a:r>
            <a:r>
              <a:rPr lang="en-US" b="1" dirty="0"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b="1" dirty="0" err="1">
                <a:ea typeface="DM Sans Medium" pitchFamily="34" charset="-122"/>
                <a:cs typeface="DM Sans Medium" pitchFamily="34" charset="-120"/>
              </a:rPr>
              <a:t>Необходимость</a:t>
            </a:r>
            <a:r>
              <a:rPr lang="en-US" b="1" dirty="0"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b="1" dirty="0" err="1" smtClean="0">
                <a:ea typeface="DM Sans Medium" pitchFamily="34" charset="-122"/>
                <a:cs typeface="DM Sans Medium" pitchFamily="34" charset="-120"/>
              </a:rPr>
              <a:t>программирования</a:t>
            </a:r>
            <a:r>
              <a:rPr lang="ru-RU" b="1" dirty="0" smtClean="0">
                <a:ea typeface="DM Sans Medium" pitchFamily="34" charset="-122"/>
                <a:cs typeface="DM Sans Medium" pitchFamily="34" charset="-120"/>
              </a:rPr>
              <a:t>.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Требуется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ли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написание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кода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или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достаточно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готовых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решений</a:t>
            </a:r>
            <a:r>
              <a:rPr lang="en-US" dirty="0"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  <a:p>
            <a:r>
              <a:rPr lang="ru-RU" b="1" dirty="0" smtClean="0"/>
              <a:t>3)</a:t>
            </a:r>
            <a:r>
              <a:rPr lang="en-US" b="1" dirty="0"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b="1" dirty="0" err="1">
                <a:ea typeface="DM Sans Medium" pitchFamily="34" charset="-122"/>
                <a:cs typeface="DM Sans Medium" pitchFamily="34" charset="-120"/>
              </a:rPr>
              <a:t>Требования</a:t>
            </a:r>
            <a:r>
              <a:rPr lang="en-US" b="1" dirty="0">
                <a:ea typeface="DM Sans Medium" pitchFamily="34" charset="-122"/>
                <a:cs typeface="DM Sans Medium" pitchFamily="34" charset="-120"/>
              </a:rPr>
              <a:t> к </a:t>
            </a:r>
            <a:r>
              <a:rPr lang="en-US" b="1" dirty="0" err="1" smtClean="0">
                <a:ea typeface="DM Sans Medium" pitchFamily="34" charset="-122"/>
                <a:cs typeface="DM Sans Medium" pitchFamily="34" charset="-120"/>
              </a:rPr>
              <a:t>визуализации</a:t>
            </a:r>
            <a:r>
              <a:rPr lang="ru-RU" b="1" dirty="0" smtClean="0">
                <a:ea typeface="DM Sans Medium" pitchFamily="34" charset="-122"/>
                <a:cs typeface="DM Sans Medium" pitchFamily="34" charset="-120"/>
              </a:rPr>
              <a:t>.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От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простых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таблиц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до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интерактивных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дашбордов</a:t>
            </a:r>
            <a:r>
              <a:rPr lang="en-US" dirty="0">
                <a:solidFill>
                  <a:srgbClr val="D6D9D7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  <a:p>
            <a:r>
              <a:rPr lang="ru-RU" b="1" dirty="0" smtClean="0"/>
              <a:t>4)</a:t>
            </a:r>
            <a:r>
              <a:rPr lang="en-US" b="1" dirty="0"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b="1" dirty="0" err="1">
                <a:ea typeface="DM Sans Medium" pitchFamily="34" charset="-122"/>
                <a:cs typeface="DM Sans Medium" pitchFamily="34" charset="-120"/>
              </a:rPr>
              <a:t>Скорость</a:t>
            </a:r>
            <a:r>
              <a:rPr lang="en-US" b="1" dirty="0"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b="1" dirty="0" err="1">
                <a:ea typeface="DM Sans Medium" pitchFamily="34" charset="-122"/>
                <a:cs typeface="DM Sans Medium" pitchFamily="34" charset="-120"/>
              </a:rPr>
              <a:t>получения</a:t>
            </a:r>
            <a:r>
              <a:rPr lang="en-US" b="1" dirty="0"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b="1" dirty="0" err="1" smtClean="0">
                <a:ea typeface="DM Sans Medium" pitchFamily="34" charset="-122"/>
                <a:cs typeface="DM Sans Medium" pitchFamily="34" charset="-120"/>
              </a:rPr>
              <a:t>результата</a:t>
            </a:r>
            <a:r>
              <a:rPr lang="ru-RU" b="1" dirty="0" smtClean="0">
                <a:ea typeface="DM Sans Medium" pitchFamily="34" charset="-122"/>
                <a:cs typeface="DM Sans Medium" pitchFamily="34" charset="-120"/>
              </a:rPr>
              <a:t>.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Оперативность</a:t>
            </a:r>
            <a:r>
              <a:rPr lang="en-US" dirty="0">
                <a:solidFill>
                  <a:srgbClr val="D6D9D7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анализа</a:t>
            </a:r>
            <a:r>
              <a:rPr lang="en-US" dirty="0">
                <a:ea typeface="Inter" pitchFamily="34" charset="-122"/>
                <a:cs typeface="Inter" pitchFamily="34" charset="-120"/>
              </a:rPr>
              <a:t> и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принятия</a:t>
            </a:r>
            <a:r>
              <a:rPr lang="en-US" dirty="0"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ea typeface="Inter" pitchFamily="34" charset="-122"/>
                <a:cs typeface="Inter" pitchFamily="34" charset="-120"/>
              </a:rPr>
              <a:t>решений</a:t>
            </a:r>
            <a:r>
              <a:rPr lang="en-US" dirty="0">
                <a:solidFill>
                  <a:srgbClr val="D6D9D7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ru-RU" dirty="0"/>
          </a:p>
        </p:txBody>
      </p:sp>
      <p:sp>
        <p:nvSpPr>
          <p:cNvPr id="16" name="Text 1"/>
          <p:cNvSpPr/>
          <p:nvPr/>
        </p:nvSpPr>
        <p:spPr>
          <a:xfrm>
            <a:off x="819983" y="2643357"/>
            <a:ext cx="37303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b="1" dirty="0"/>
          </a:p>
        </p:txBody>
      </p:sp>
      <p:sp>
        <p:nvSpPr>
          <p:cNvPr id="17" name="Text 2"/>
          <p:cNvSpPr/>
          <p:nvPr/>
        </p:nvSpPr>
        <p:spPr>
          <a:xfrm>
            <a:off x="819984" y="3193534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8" name="Text 3"/>
          <p:cNvSpPr/>
          <p:nvPr/>
        </p:nvSpPr>
        <p:spPr>
          <a:xfrm>
            <a:off x="7239124" y="2677214"/>
            <a:ext cx="50046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b="1" dirty="0"/>
          </a:p>
        </p:txBody>
      </p:sp>
      <p:sp>
        <p:nvSpPr>
          <p:cNvPr id="19" name="Text 4"/>
          <p:cNvSpPr/>
          <p:nvPr/>
        </p:nvSpPr>
        <p:spPr>
          <a:xfrm>
            <a:off x="7239124" y="3160269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Text 5"/>
          <p:cNvSpPr/>
          <p:nvPr/>
        </p:nvSpPr>
        <p:spPr>
          <a:xfrm>
            <a:off x="838200" y="4374118"/>
            <a:ext cx="39092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b="1" dirty="0"/>
          </a:p>
        </p:txBody>
      </p:sp>
      <p:sp>
        <p:nvSpPr>
          <p:cNvPr id="21" name="Text 6"/>
          <p:cNvSpPr/>
          <p:nvPr/>
        </p:nvSpPr>
        <p:spPr>
          <a:xfrm>
            <a:off x="819983" y="492434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2" name="Text 7"/>
          <p:cNvSpPr/>
          <p:nvPr/>
        </p:nvSpPr>
        <p:spPr>
          <a:xfrm>
            <a:off x="7340023" y="4374118"/>
            <a:ext cx="44407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b="1" dirty="0"/>
          </a:p>
        </p:txBody>
      </p:sp>
      <p:sp>
        <p:nvSpPr>
          <p:cNvPr id="23" name="Text 8"/>
          <p:cNvSpPr/>
          <p:nvPr/>
        </p:nvSpPr>
        <p:spPr>
          <a:xfrm>
            <a:off x="7340022" y="4864536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7660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923826"/>
                </a:solidFill>
              </a:rPr>
              <a:t>Базовый уровень</a:t>
            </a:r>
            <a:r>
              <a:rPr lang="en-US" b="1" dirty="0" smtClean="0">
                <a:solidFill>
                  <a:srgbClr val="923826"/>
                </a:solidFill>
              </a:rPr>
              <a:t>: Excel, Google Sheets</a:t>
            </a:r>
            <a:endParaRPr lang="ru-RU" b="1" dirty="0">
              <a:solidFill>
                <a:srgbClr val="923826"/>
              </a:solidFill>
            </a:endParaRPr>
          </a:p>
        </p:txBody>
      </p:sp>
      <p:sp>
        <p:nvSpPr>
          <p:cNvPr id="16" name="Text 2"/>
          <p:cNvSpPr/>
          <p:nvPr/>
        </p:nvSpPr>
        <p:spPr>
          <a:xfrm>
            <a:off x="7155560" y="2264428"/>
            <a:ext cx="4748567" cy="430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Ad-hoc анализ и быстрые расчеты.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Ограничение по объему данных (до ~1 млн строк в Excel).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Широкие возможности для создания сводных таблиц.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Простой интерфейс, доступный для большинства пользователей.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Inter" pitchFamily="34" charset="0"/>
                <a:ea typeface="Inter" pitchFamily="34" charset="-122"/>
                <a:cs typeface="Inter" pitchFamily="34" charset="-120"/>
              </a:rPr>
              <a:t>Идеально для небольших наборов данных и ручных отчетов.</a:t>
            </a:r>
            <a:endParaRPr lang="en-US" sz="1750" dirty="0"/>
          </a:p>
        </p:txBody>
      </p:sp>
      <p:sp>
        <p:nvSpPr>
          <p:cNvPr id="17" name="Text 1"/>
          <p:cNvSpPr/>
          <p:nvPr/>
        </p:nvSpPr>
        <p:spPr>
          <a:xfrm>
            <a:off x="7526364" y="1775161"/>
            <a:ext cx="37179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Ключевые характеристики</a:t>
            </a:r>
            <a:endParaRPr lang="en-US" sz="2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u="sng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24" y="1825625"/>
            <a:ext cx="636781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9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3826"/>
                </a:solidFill>
              </a:rPr>
              <a:t>Возможности </a:t>
            </a:r>
            <a:r>
              <a:rPr lang="en-US" b="1" dirty="0" smtClean="0">
                <a:solidFill>
                  <a:srgbClr val="923826"/>
                </a:solidFill>
              </a:rPr>
              <a:t>Excel: Power </a:t>
            </a:r>
            <a:r>
              <a:rPr lang="en-US" b="1" dirty="0">
                <a:solidFill>
                  <a:srgbClr val="923826"/>
                </a:solidFill>
              </a:rPr>
              <a:t>Query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1026" name="Picture 2" descr="https://peltiertech.com/wp-content/uploads/2018/06/Power-Query-Editor-2.png?is-pending-load=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72" y="1690688"/>
            <a:ext cx="735723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264106" y="1880558"/>
            <a:ext cx="36489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Позволяет автоматически подтягивать и очищать данные из 1С, CSV-файлов, папок и баз данных без написания кода. Например, можно один раз настроить алгоритм обработки ежемесячного прайс-листа от поставщика и в дальнейшем просто нажимать кнопку «Обновить».</a:t>
            </a:r>
          </a:p>
        </p:txBody>
      </p:sp>
    </p:spTree>
    <p:extLst>
      <p:ext uri="{BB962C8B-B14F-4D97-AF65-F5344CB8AC3E}">
        <p14:creationId xmlns:p14="http://schemas.microsoft.com/office/powerpoint/2010/main" val="36101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923826"/>
                </a:solidFill>
              </a:rPr>
              <a:t>Доступ к данным</a:t>
            </a:r>
            <a:r>
              <a:rPr lang="en-US" b="1" dirty="0" smtClean="0">
                <a:solidFill>
                  <a:srgbClr val="923826"/>
                </a:solidFill>
              </a:rPr>
              <a:t>: SQL</a:t>
            </a:r>
            <a:endParaRPr lang="ru-RU" b="1" dirty="0">
              <a:solidFill>
                <a:srgbClr val="923826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8272618" y="2027572"/>
            <a:ext cx="3835961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ea typeface="Inter" pitchFamily="34" charset="-122"/>
                <a:cs typeface="Inter" pitchFamily="34" charset="-120"/>
              </a:rPr>
              <a:t>Извлечение, фильтрация и агрегация данных из баз.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ea typeface="Inter" pitchFamily="34" charset="-122"/>
                <a:cs typeface="Inter" pitchFamily="34" charset="-120"/>
              </a:rPr>
              <a:t>Стандартизированный язык для работы с реляционными СУБД.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 smtClean="0">
                <a:ea typeface="Inter" pitchFamily="34" charset="-122"/>
                <a:cs typeface="Inter" pitchFamily="34" charset="-120"/>
              </a:rPr>
              <a:t>Позволяет</a:t>
            </a:r>
            <a:r>
              <a:rPr lang="en-US" sz="1750" dirty="0" smtClean="0"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>
                <a:ea typeface="Inter" pitchFamily="34" charset="-122"/>
                <a:cs typeface="Inter" pitchFamily="34" charset="-120"/>
              </a:rPr>
              <a:t>работать с большими объемами структурированных данных.</a:t>
            </a:r>
            <a:endParaRPr lang="en-US" sz="1750" dirty="0"/>
          </a:p>
        </p:txBody>
      </p:sp>
      <p:sp>
        <p:nvSpPr>
          <p:cNvPr id="6" name="Text 1"/>
          <p:cNvSpPr/>
          <p:nvPr/>
        </p:nvSpPr>
        <p:spPr>
          <a:xfrm>
            <a:off x="8772980" y="16698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ea typeface="DM Sans Medium" pitchFamily="34" charset="-122"/>
                <a:cs typeface="DM Sans Medium" pitchFamily="34" charset="-120"/>
              </a:rPr>
              <a:t>Суть SQL</a:t>
            </a:r>
            <a:endParaRPr lang="en-US" sz="2200" b="1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311" y="1692846"/>
            <a:ext cx="7794472" cy="426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2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 smtClean="0">
                <a:solidFill>
                  <a:srgbClr val="923826"/>
                </a:solidFill>
              </a:rPr>
              <a:t>Визуализация и </a:t>
            </a:r>
            <a:r>
              <a:rPr lang="ru-RU" b="1" dirty="0" err="1" smtClean="0">
                <a:solidFill>
                  <a:srgbClr val="923826"/>
                </a:solidFill>
              </a:rPr>
              <a:t>дашборды</a:t>
            </a:r>
            <a:r>
              <a:rPr lang="en-US" b="1" dirty="0" smtClean="0">
                <a:solidFill>
                  <a:srgbClr val="923826"/>
                </a:solidFill>
              </a:rPr>
              <a:t>: Power Bi, Tableau</a:t>
            </a:r>
            <a:endParaRPr lang="ru-RU" b="1" dirty="0">
              <a:solidFill>
                <a:srgbClr val="923826"/>
              </a:solidFill>
            </a:endParaRPr>
          </a:p>
        </p:txBody>
      </p:sp>
      <p:sp>
        <p:nvSpPr>
          <p:cNvPr id="6" name="Text 1"/>
          <p:cNvSpPr/>
          <p:nvPr/>
        </p:nvSpPr>
        <p:spPr>
          <a:xfrm>
            <a:off x="6085490" y="2680799"/>
            <a:ext cx="6022427" cy="317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ea typeface="Inter" pitchFamily="34" charset="-122"/>
                <a:cs typeface="Inter" pitchFamily="34" charset="-120"/>
              </a:rPr>
              <a:t>Эти инструменты позволяют трансформировать сырые данные в наглядные, интерактивные отчеты и дашборды. Они поддерживают принятие решений и обеспечивают мониторинг ключевых показателей бизнеса в режиме реального времени, предлагая глубокие аналитические возможности без необходимости написания кода.</a:t>
            </a:r>
            <a:endParaRPr lang="en-US" sz="1750" dirty="0"/>
          </a:p>
        </p:txBody>
      </p:sp>
      <p:pic>
        <p:nvPicPr>
          <p:cNvPr id="2050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1" y="2071568"/>
            <a:ext cx="5837662" cy="405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06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923826"/>
                </a:solidFill>
              </a:rPr>
              <a:t>Продвинутый анализ</a:t>
            </a:r>
            <a:r>
              <a:rPr lang="en-US" b="1" dirty="0" smtClean="0">
                <a:solidFill>
                  <a:srgbClr val="923826"/>
                </a:solidFill>
              </a:rPr>
              <a:t>: Python, R</a:t>
            </a:r>
            <a:endParaRPr lang="ru-RU" b="1" dirty="0">
              <a:solidFill>
                <a:srgbClr val="923826"/>
              </a:solidFill>
            </a:endParaRPr>
          </a:p>
        </p:txBody>
      </p:sp>
      <p:sp>
        <p:nvSpPr>
          <p:cNvPr id="7" name="Text 2"/>
          <p:cNvSpPr/>
          <p:nvPr/>
        </p:nvSpPr>
        <p:spPr>
          <a:xfrm>
            <a:off x="7151164" y="2045018"/>
            <a:ext cx="4205168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ea typeface="Inter" pitchFamily="34" charset="-122"/>
                <a:cs typeface="Inter" pitchFamily="34" charset="-120"/>
              </a:rPr>
              <a:t>Прогнозирование и построение сложных моделей.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ea typeface="Inter" pitchFamily="34" charset="-122"/>
                <a:cs typeface="Inter" pitchFamily="34" charset="-120"/>
              </a:rPr>
              <a:t>Кластеризация и сегментация данных.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ea typeface="Inter" pitchFamily="34" charset="-122"/>
                <a:cs typeface="Inter" pitchFamily="34" charset="-120"/>
              </a:rPr>
              <a:t>Машинное обучение и искусственный интеллект.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ea typeface="Inter" pitchFamily="34" charset="-122"/>
                <a:cs typeface="Inter" pitchFamily="34" charset="-120"/>
              </a:rPr>
              <a:t>Работа с большими и неструктурированными данными.</a:t>
            </a:r>
            <a:endParaRPr lang="en-US" sz="1750" dirty="0"/>
          </a:p>
        </p:txBody>
      </p:sp>
      <p:sp>
        <p:nvSpPr>
          <p:cNvPr id="8" name="Text 1"/>
          <p:cNvSpPr/>
          <p:nvPr/>
        </p:nvSpPr>
        <p:spPr>
          <a:xfrm>
            <a:off x="7760494" y="1690688"/>
            <a:ext cx="2981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ea typeface="DM Sans Medium" pitchFamily="34" charset="-122"/>
                <a:cs typeface="DM Sans Medium" pitchFamily="34" charset="-120"/>
              </a:rPr>
              <a:t>Области применения</a:t>
            </a:r>
            <a:endParaRPr lang="en-US" sz="2200" b="1" dirty="0"/>
          </a:p>
        </p:txBody>
      </p:sp>
      <p:sp>
        <p:nvSpPr>
          <p:cNvPr id="11" name="Text 3"/>
          <p:cNvSpPr/>
          <p:nvPr/>
        </p:nvSpPr>
        <p:spPr>
          <a:xfrm>
            <a:off x="7405882" y="5186125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ea typeface="Inter" pitchFamily="34" charset="-122"/>
                <a:cs typeface="Inter" pitchFamily="34" charset="-120"/>
              </a:rPr>
              <a:t>Основные библиотеки: Pandas для работы с данными, Scikit-learn для машинного обучения.</a:t>
            </a:r>
            <a:endParaRPr lang="en-US" sz="1750" dirty="0"/>
          </a:p>
        </p:txBody>
      </p:sp>
      <p:pic>
        <p:nvPicPr>
          <p:cNvPr id="3074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72" y="2151041"/>
            <a:ext cx="6234294" cy="349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56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3826"/>
                </a:solidFill>
              </a:rPr>
              <a:t>Продвинутый анализ</a:t>
            </a:r>
            <a:r>
              <a:rPr lang="en-US" b="1" dirty="0">
                <a:solidFill>
                  <a:srgbClr val="923826"/>
                </a:solidFill>
              </a:rPr>
              <a:t>: </a:t>
            </a:r>
            <a:r>
              <a:rPr lang="en-US" b="1" dirty="0" smtClean="0">
                <a:solidFill>
                  <a:srgbClr val="923826"/>
                </a:solidFill>
              </a:rPr>
              <a:t>Pandas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2050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14" y="1690688"/>
            <a:ext cx="7766461" cy="466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065698" y="1690688"/>
            <a:ext cx="41263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Группировка </a:t>
            </a:r>
            <a:r>
              <a:rPr lang="ru-RU" b="1" dirty="0"/>
              <a:t>данных</a:t>
            </a:r>
            <a:r>
              <a:rPr lang="ru-RU" dirty="0"/>
              <a:t> по определённым признакам.</a:t>
            </a:r>
          </a:p>
          <a:p>
            <a:r>
              <a:rPr lang="ru-RU" b="1" dirty="0"/>
              <a:t>Создание сводных таблиц</a:t>
            </a:r>
            <a:r>
              <a:rPr lang="ru-RU" dirty="0"/>
              <a:t> из нескольких.</a:t>
            </a:r>
          </a:p>
          <a:p>
            <a:r>
              <a:rPr lang="ru-RU" b="1" dirty="0"/>
              <a:t>Очистка данных</a:t>
            </a:r>
            <a:r>
              <a:rPr lang="ru-RU" dirty="0"/>
              <a:t> от дубликатов и </a:t>
            </a:r>
            <a:r>
              <a:rPr lang="ru-RU" dirty="0" err="1"/>
              <a:t>невалидных</a:t>
            </a:r>
            <a:r>
              <a:rPr lang="ru-RU" dirty="0"/>
              <a:t> строк или столбцов.</a:t>
            </a:r>
          </a:p>
          <a:p>
            <a:r>
              <a:rPr lang="ru-RU" b="1" dirty="0"/>
              <a:t>Вывод определённых значений</a:t>
            </a:r>
            <a:r>
              <a:rPr lang="ru-RU" dirty="0"/>
              <a:t> по фильтрам или уникальности.</a:t>
            </a:r>
          </a:p>
          <a:p>
            <a:r>
              <a:rPr lang="ru-RU" b="1" dirty="0"/>
              <a:t>Использование агрегирующих функций</a:t>
            </a:r>
            <a:r>
              <a:rPr lang="ru-RU" dirty="0"/>
              <a:t> — подсчёта значений, суммы элементов, среднего значения.</a:t>
            </a:r>
          </a:p>
          <a:p>
            <a:r>
              <a:rPr lang="ru-RU" b="1" dirty="0"/>
              <a:t>Визуализация собранных данных</a:t>
            </a:r>
            <a:r>
              <a:rPr lang="ru-RU" dirty="0"/>
              <a:t>.</a:t>
            </a:r>
          </a:p>
          <a:p>
            <a:r>
              <a:rPr lang="ru-RU" b="1" dirty="0"/>
              <a:t>Работа с временными рядами</a:t>
            </a:r>
            <a:r>
              <a:rPr lang="ru-RU" dirty="0"/>
              <a:t>: формирование временных периодов и изменение интервалов.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336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923826"/>
                </a:solidFill>
              </a:rPr>
              <a:t>Продвинутый </a:t>
            </a:r>
            <a:r>
              <a:rPr lang="ru-RU" b="1" dirty="0" smtClean="0">
                <a:solidFill>
                  <a:srgbClr val="923826"/>
                </a:solidFill>
              </a:rPr>
              <a:t>анализ</a:t>
            </a:r>
            <a:r>
              <a:rPr lang="en-US" b="1" dirty="0" smtClean="0">
                <a:solidFill>
                  <a:srgbClr val="923826"/>
                </a:solidFill>
              </a:rPr>
              <a:t>:</a:t>
            </a:r>
            <a:r>
              <a:rPr lang="ru-RU" b="1" dirty="0" smtClean="0">
                <a:solidFill>
                  <a:srgbClr val="923826"/>
                </a:solidFill>
              </a:rPr>
              <a:t> </a:t>
            </a:r>
            <a:r>
              <a:rPr lang="en-US" b="1" dirty="0" err="1" smtClean="0">
                <a:solidFill>
                  <a:schemeClr val="accent3"/>
                </a:solidFill>
              </a:rPr>
              <a:t>Scikit</a:t>
            </a:r>
            <a:r>
              <a:rPr lang="en-US" b="1" dirty="0" smtClean="0">
                <a:solidFill>
                  <a:schemeClr val="accent3"/>
                </a:solidFill>
              </a:rPr>
              <a:t>-learn</a:t>
            </a:r>
            <a:r>
              <a:rPr lang="en-US" b="1" dirty="0" smtClean="0">
                <a:solidFill>
                  <a:srgbClr val="923826"/>
                </a:solidFill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3074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39" y="1489194"/>
            <a:ext cx="6675406" cy="486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280694" y="1489194"/>
            <a:ext cx="46582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Предварительная обработка данных</a:t>
            </a:r>
            <a:r>
              <a:rPr lang="ru-RU" dirty="0"/>
              <a:t> — нормализация, стандартизация, кодирование категориальных переменных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b="1" dirty="0"/>
              <a:t>Выбор модели</a:t>
            </a:r>
            <a:r>
              <a:rPr lang="ru-RU" dirty="0"/>
              <a:t> — инструменты для настройки параметров алгоритмов и оценки их качества. </a:t>
            </a:r>
            <a:endParaRPr lang="ru-RU" dirty="0" smtClean="0"/>
          </a:p>
          <a:p>
            <a:r>
              <a:rPr lang="ru-RU" b="1" dirty="0" smtClean="0"/>
              <a:t>Готовые </a:t>
            </a:r>
            <a:r>
              <a:rPr lang="ru-RU" b="1" dirty="0" err="1" smtClean="0"/>
              <a:t>датасеты</a:t>
            </a:r>
            <a:r>
              <a:rPr lang="ru-RU" dirty="0" smtClean="0"/>
              <a:t> — встроенные наборы данных для тестирования и обучения. </a:t>
            </a:r>
          </a:p>
          <a:p>
            <a:r>
              <a:rPr lang="ru-RU" b="1" dirty="0" smtClean="0"/>
              <a:t>Инструменты </a:t>
            </a:r>
            <a:r>
              <a:rPr lang="ru-RU" b="1" dirty="0"/>
              <a:t>для автоматического поиска наилучших комбинаций параметров</a:t>
            </a:r>
            <a:r>
              <a:rPr lang="ru-RU" dirty="0"/>
              <a:t> (через перекрёстную проверку).</a:t>
            </a:r>
          </a:p>
        </p:txBody>
      </p:sp>
    </p:spTree>
    <p:extLst>
      <p:ext uri="{BB962C8B-B14F-4D97-AF65-F5344CB8AC3E}">
        <p14:creationId xmlns:p14="http://schemas.microsoft.com/office/powerpoint/2010/main" val="366524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923826"/>
                </a:solidFill>
              </a:rPr>
              <a:t>Статистические пакеты</a:t>
            </a:r>
            <a:r>
              <a:rPr lang="en-US" b="1" dirty="0" smtClean="0">
                <a:solidFill>
                  <a:schemeClr val="accent3"/>
                </a:solidFill>
              </a:rPr>
              <a:t>:</a:t>
            </a:r>
            <a:r>
              <a:rPr lang="en-US" b="1" dirty="0">
                <a:solidFill>
                  <a:schemeClr val="accent3"/>
                </a:solidFill>
              </a:rPr>
              <a:t>SPSS, SAS, Stata</a:t>
            </a:r>
            <a:endParaRPr lang="ru-RU" dirty="0">
              <a:solidFill>
                <a:schemeClr val="accent3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4098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20" y="1789262"/>
            <a:ext cx="732239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77510" y="1789262"/>
            <a:ext cx="43477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Работа с данными.</a:t>
            </a:r>
            <a:r>
              <a:rPr lang="ru-RU" dirty="0"/>
              <a:t> Возможность доступа к данным в различных форматах (таблицы SAS, </a:t>
            </a:r>
            <a:r>
              <a:rPr lang="ru-RU" dirty="0" err="1"/>
              <a:t>Microsoft</a:t>
            </a:r>
            <a:r>
              <a:rPr lang="ru-RU" dirty="0"/>
              <a:t> </a:t>
            </a:r>
            <a:r>
              <a:rPr lang="ru-RU" dirty="0" err="1"/>
              <a:t>Excel</a:t>
            </a:r>
            <a:r>
              <a:rPr lang="ru-RU" dirty="0"/>
              <a:t>, базы данных), их ввода, редактирования, модификации, объединения и создания новых столбцов. </a:t>
            </a:r>
            <a:endParaRPr lang="en-US" dirty="0"/>
          </a:p>
          <a:p>
            <a:r>
              <a:rPr lang="ru-RU" b="1" dirty="0" smtClean="0"/>
              <a:t>Статистический </a:t>
            </a:r>
            <a:r>
              <a:rPr lang="ru-RU" b="1" dirty="0"/>
              <a:t>анализ.</a:t>
            </a:r>
            <a:r>
              <a:rPr lang="ru-RU" dirty="0"/>
              <a:t> Широкий спектр методов: описательная статистика, дисперсионный и корреляционный анализ, линейная и логистическая регрессия, байесовский анализ, многомерный анализ, анализ выживаемости, психометрический анализ, анализ пропущенных значений. </a:t>
            </a:r>
          </a:p>
        </p:txBody>
      </p:sp>
    </p:spTree>
    <p:extLst>
      <p:ext uri="{BB962C8B-B14F-4D97-AF65-F5344CB8AC3E}">
        <p14:creationId xmlns:p14="http://schemas.microsoft.com/office/powerpoint/2010/main" val="165643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923826"/>
                </a:solidFill>
              </a:rPr>
              <a:t>AI-</a:t>
            </a:r>
            <a:r>
              <a:rPr lang="ru-RU" b="1" dirty="0" smtClean="0">
                <a:solidFill>
                  <a:srgbClr val="923826"/>
                </a:solidFill>
              </a:rPr>
              <a:t>агенты</a:t>
            </a:r>
            <a:r>
              <a:rPr lang="en-US" b="1" dirty="0" smtClean="0">
                <a:solidFill>
                  <a:srgbClr val="923826"/>
                </a:solidFill>
              </a:rPr>
              <a:t>: </a:t>
            </a:r>
            <a:r>
              <a:rPr lang="ru-RU" b="1" dirty="0" smtClean="0">
                <a:solidFill>
                  <a:schemeClr val="accent3"/>
                </a:solidFill>
              </a:rPr>
              <a:t>Что </a:t>
            </a:r>
            <a:r>
              <a:rPr lang="ru-RU" b="1" dirty="0">
                <a:solidFill>
                  <a:schemeClr val="accent3"/>
                </a:solidFill>
              </a:rPr>
              <a:t>такое </a:t>
            </a:r>
            <a:r>
              <a:rPr lang="ru-RU" b="1" dirty="0" smtClean="0">
                <a:solidFill>
                  <a:schemeClr val="accent3"/>
                </a:solidFill>
              </a:rPr>
              <a:t>AI-агент?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31975"/>
            <a:ext cx="10515600" cy="4351338"/>
          </a:xfrm>
        </p:spPr>
        <p:txBody>
          <a:bodyPr/>
          <a:lstStyle/>
          <a:p>
            <a:r>
              <a:rPr lang="ru-RU" sz="2000" dirty="0" smtClean="0"/>
              <a:t>Агент </a:t>
            </a:r>
            <a:r>
              <a:rPr lang="ru-RU" sz="2000" dirty="0"/>
              <a:t>— </a:t>
            </a:r>
            <a:r>
              <a:rPr lang="ru-RU" sz="2000" b="1" dirty="0" smtClean="0"/>
              <a:t>автономный </a:t>
            </a:r>
            <a:r>
              <a:rPr lang="ru-RU" sz="2000" b="1" dirty="0"/>
              <a:t>сотрудник с доступом к инструментам</a:t>
            </a:r>
            <a:r>
              <a:rPr lang="ru-RU" sz="2000" dirty="0"/>
              <a:t> </a:t>
            </a:r>
            <a:r>
              <a:rPr lang="ru-RU" sz="2000" dirty="0" smtClean="0"/>
              <a:t>.</a:t>
            </a:r>
            <a:br>
              <a:rPr lang="ru-RU" sz="2000" dirty="0" smtClean="0"/>
            </a:b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Picture backgroun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t="3009"/>
          <a:stretch/>
        </p:blipFill>
        <p:spPr>
          <a:xfrm>
            <a:off x="1616016" y="2547607"/>
            <a:ext cx="8071449" cy="399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4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923826"/>
                </a:solidFill>
              </a:rPr>
              <a:t>AI-</a:t>
            </a:r>
            <a:r>
              <a:rPr lang="ru-RU" b="1" dirty="0" smtClean="0">
                <a:solidFill>
                  <a:srgbClr val="923826"/>
                </a:solidFill>
              </a:rPr>
              <a:t>агенты</a:t>
            </a:r>
            <a:r>
              <a:rPr lang="en-US" b="1" dirty="0" smtClean="0">
                <a:solidFill>
                  <a:srgbClr val="923826"/>
                </a:solidFill>
              </a:rPr>
              <a:t>: </a:t>
            </a:r>
            <a:r>
              <a:rPr lang="ru-RU" b="1" dirty="0" smtClean="0">
                <a:solidFill>
                  <a:schemeClr val="accent3"/>
                </a:solidFill>
              </a:rPr>
              <a:t>Архитектура</a:t>
            </a:r>
            <a:r>
              <a:rPr lang="en-US" b="1" dirty="0" smtClean="0">
                <a:solidFill>
                  <a:schemeClr val="accent3"/>
                </a:solidFill>
              </a:rPr>
              <a:t>  </a:t>
            </a:r>
            <a:r>
              <a:rPr lang="ru-RU" b="1" dirty="0" smtClean="0">
                <a:solidFill>
                  <a:schemeClr val="accent3"/>
                </a:solidFill>
              </a:rPr>
              <a:t>современного агента - аналитика</a:t>
            </a:r>
            <a:r>
              <a:rPr lang="ru-RU" b="1" dirty="0">
                <a:solidFill>
                  <a:schemeClr val="accent3"/>
                </a:solidFill>
              </a:rPr>
              <a:t/>
            </a:r>
            <a:br>
              <a:rPr lang="ru-RU" b="1" dirty="0">
                <a:solidFill>
                  <a:schemeClr val="accent3"/>
                </a:solidFill>
              </a:rPr>
            </a:b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600" dirty="0"/>
              <a:t>Современные BI-платформы (</a:t>
            </a:r>
            <a:r>
              <a:rPr lang="ru-RU" sz="1600" dirty="0" err="1"/>
              <a:t>Looker</a:t>
            </a:r>
            <a:r>
              <a:rPr lang="ru-RU" sz="1600" dirty="0"/>
              <a:t>, </a:t>
            </a:r>
            <a:r>
              <a:rPr lang="ru-RU" sz="1600" dirty="0" err="1"/>
              <a:t>Power</a:t>
            </a:r>
            <a:r>
              <a:rPr lang="ru-RU" sz="1600" dirty="0"/>
              <a:t> BI, </a:t>
            </a:r>
            <a:r>
              <a:rPr lang="ru-RU" sz="1600" dirty="0" err="1"/>
              <a:t>Tableau</a:t>
            </a:r>
            <a:r>
              <a:rPr lang="ru-RU" sz="1600" dirty="0"/>
              <a:t>) и облачные экосистемы уже начали встраивать </a:t>
            </a:r>
            <a:r>
              <a:rPr lang="ru-RU" sz="1600" dirty="0" err="1"/>
              <a:t>агентные</a:t>
            </a:r>
            <a:r>
              <a:rPr lang="ru-RU" sz="1600" dirty="0"/>
              <a:t> функции на четырех </a:t>
            </a:r>
            <a:r>
              <a:rPr lang="ru-RU" sz="1600" dirty="0" smtClean="0"/>
              <a:t>уровнях</a:t>
            </a:r>
            <a:r>
              <a:rPr lang="en-US" sz="1600" dirty="0"/>
              <a:t>:</a:t>
            </a:r>
            <a:endParaRPr lang="ru-RU" sz="1600" b="1" dirty="0" smtClean="0"/>
          </a:p>
          <a:p>
            <a:r>
              <a:rPr lang="ru-RU" sz="1600" b="1" dirty="0" err="1" smtClean="0"/>
              <a:t>Conversational</a:t>
            </a:r>
            <a:r>
              <a:rPr lang="ru-RU" sz="1600" b="1" dirty="0" smtClean="0"/>
              <a:t> </a:t>
            </a:r>
            <a:r>
              <a:rPr lang="ru-RU" sz="1600" b="1" dirty="0" err="1"/>
              <a:t>Layer</a:t>
            </a:r>
            <a:r>
              <a:rPr lang="ru-RU" sz="1600" b="1" dirty="0"/>
              <a:t> (Разговорный </a:t>
            </a:r>
            <a:r>
              <a:rPr lang="ru-RU" sz="1600" b="1" dirty="0" smtClean="0"/>
              <a:t>слой)</a:t>
            </a:r>
          </a:p>
          <a:p>
            <a:r>
              <a:rPr lang="ru-RU" sz="1600" b="1" dirty="0" smtClean="0"/>
              <a:t>Code </a:t>
            </a:r>
            <a:r>
              <a:rPr lang="ru-RU" sz="1600" b="1" dirty="0"/>
              <a:t>&amp; </a:t>
            </a:r>
            <a:r>
              <a:rPr lang="ru-RU" sz="1600" b="1" dirty="0" err="1"/>
              <a:t>Expression</a:t>
            </a:r>
            <a:r>
              <a:rPr lang="ru-RU" sz="1600" b="1" dirty="0"/>
              <a:t> </a:t>
            </a:r>
            <a:r>
              <a:rPr lang="ru-RU" sz="1600" b="1" dirty="0" err="1"/>
              <a:t>Assistant</a:t>
            </a:r>
            <a:r>
              <a:rPr lang="ru-RU" sz="1600" b="1" dirty="0"/>
              <a:t> (Помощник в написании кода</a:t>
            </a:r>
            <a:r>
              <a:rPr lang="ru-RU" sz="1600" b="1" dirty="0" smtClean="0"/>
              <a:t>)</a:t>
            </a:r>
            <a:endParaRPr lang="ru-RU" sz="1600" dirty="0" smtClean="0"/>
          </a:p>
          <a:p>
            <a:r>
              <a:rPr lang="ru-RU" sz="1600" b="1" dirty="0" err="1" smtClean="0"/>
              <a:t>Insight</a:t>
            </a:r>
            <a:r>
              <a:rPr lang="ru-RU" sz="1600" b="1" dirty="0" smtClean="0"/>
              <a:t> </a:t>
            </a:r>
            <a:r>
              <a:rPr lang="ru-RU" sz="1600" b="1" dirty="0" err="1"/>
              <a:t>Agent</a:t>
            </a:r>
            <a:r>
              <a:rPr lang="ru-RU" sz="1600" b="1" dirty="0"/>
              <a:t> (</a:t>
            </a:r>
            <a:r>
              <a:rPr lang="ru-RU" sz="1600" b="1" dirty="0" smtClean="0"/>
              <a:t>Агент-аналитик)</a:t>
            </a:r>
          </a:p>
          <a:p>
            <a:r>
              <a:rPr lang="ru-RU" sz="1600" b="1" dirty="0" err="1" smtClean="0"/>
              <a:t>Execution</a:t>
            </a:r>
            <a:r>
              <a:rPr lang="ru-RU" sz="1600" b="1" dirty="0" smtClean="0"/>
              <a:t> </a:t>
            </a:r>
            <a:r>
              <a:rPr lang="ru-RU" sz="1600" b="1" dirty="0" err="1"/>
              <a:t>Agent</a:t>
            </a:r>
            <a:r>
              <a:rPr lang="ru-RU" sz="1600" b="1" dirty="0"/>
              <a:t> (Агент-исполнитель</a:t>
            </a:r>
            <a:r>
              <a:rPr lang="ru-RU" sz="1600" b="1" dirty="0" smtClean="0"/>
              <a:t>)</a:t>
            </a:r>
            <a:br>
              <a:rPr lang="ru-RU" sz="1600" b="1" dirty="0" smtClean="0"/>
            </a:br>
            <a:endParaRPr lang="ru-RU" sz="1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6148" name="Picture 4" descr="Picture background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789" y="3738163"/>
            <a:ext cx="7028200" cy="305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77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solidFill>
                  <a:schemeClr val="accent3"/>
                </a:solidFill>
              </a:rPr>
              <a:t>Conversational</a:t>
            </a:r>
            <a:r>
              <a:rPr lang="ru-RU" b="1" dirty="0">
                <a:solidFill>
                  <a:schemeClr val="accent3"/>
                </a:solidFill>
              </a:rPr>
              <a:t> </a:t>
            </a:r>
            <a:r>
              <a:rPr lang="ru-RU" b="1" dirty="0" err="1">
                <a:solidFill>
                  <a:schemeClr val="accent3"/>
                </a:solidFill>
              </a:rPr>
              <a:t>Layer</a:t>
            </a:r>
            <a:r>
              <a:rPr lang="ru-RU" b="1" dirty="0">
                <a:solidFill>
                  <a:schemeClr val="accent3"/>
                </a:solidFill>
              </a:rPr>
              <a:t> (Разговорный слой)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/>
              <a:t>Как работает:</a:t>
            </a:r>
            <a:r>
              <a:rPr lang="ru-RU" sz="2000" dirty="0"/>
              <a:t> Вы задаете вопрос о данных на естественном языке прямо в интерфейсе BI-системы, и агент сам генерирует ответ — график, таблицу или текстовое резюме. Техническая сложность (SQL, связи таблиц) скрыта от </a:t>
            </a:r>
            <a:r>
              <a:rPr lang="ru-RU" sz="2000" dirty="0" smtClean="0"/>
              <a:t>пользователя</a:t>
            </a:r>
            <a:endParaRPr lang="en-US" sz="2000" dirty="0" smtClean="0"/>
          </a:p>
          <a:p>
            <a:r>
              <a:rPr lang="ru-RU" sz="2000" dirty="0"/>
              <a:t>Менеджер по продажам спрашивает: </a:t>
            </a:r>
            <a:r>
              <a:rPr lang="ru-RU" sz="2000" i="1" dirty="0"/>
              <a:t>«Какие сделки зависли в </a:t>
            </a:r>
            <a:r>
              <a:rPr lang="ru-RU" sz="2000" i="1" dirty="0" err="1"/>
              <a:t>пайплайне</a:t>
            </a:r>
            <a:r>
              <a:rPr lang="ru-RU" sz="2000" i="1" dirty="0"/>
              <a:t> более 30 дней?»</a:t>
            </a:r>
            <a:r>
              <a:rPr lang="ru-RU" sz="2000" dirty="0"/>
              <a:t> </a:t>
            </a:r>
            <a:r>
              <a:rPr lang="ru-RU" sz="2000" dirty="0" err="1"/>
              <a:t>Conversational</a:t>
            </a:r>
            <a:r>
              <a:rPr lang="ru-RU" sz="2000" dirty="0"/>
              <a:t> </a:t>
            </a:r>
            <a:r>
              <a:rPr lang="ru-RU" sz="2000" dirty="0" err="1"/>
              <a:t>Analytics</a:t>
            </a:r>
            <a:r>
              <a:rPr lang="ru-RU" sz="2000" dirty="0"/>
              <a:t> в </a:t>
            </a:r>
            <a:r>
              <a:rPr lang="ru-RU" sz="2000" dirty="0" err="1"/>
              <a:t>Looker</a:t>
            </a:r>
            <a:r>
              <a:rPr lang="ru-RU" sz="2000" dirty="0"/>
              <a:t>, опираясь на семантический слой </a:t>
            </a:r>
            <a:r>
              <a:rPr lang="ru-RU" sz="2000" dirty="0" err="1"/>
              <a:t>LookML</a:t>
            </a:r>
            <a:r>
              <a:rPr lang="ru-RU" sz="2000" dirty="0"/>
              <a:t>, находит нужные поля в данных, строит визуализацию и выдает список проблемных сделок за секунды. Раньше для этого требовалось идти к аналитику и ждать отчет</a:t>
            </a:r>
            <a:r>
              <a:rPr lang="ru-RU" dirty="0"/>
              <a:t> 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4" name="Picture 6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84" y="4389819"/>
            <a:ext cx="6492215" cy="233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968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3"/>
                </a:solidFill>
              </a:rPr>
              <a:t>Code &amp; </a:t>
            </a:r>
            <a:r>
              <a:rPr lang="ru-RU" b="1" dirty="0" err="1">
                <a:solidFill>
                  <a:schemeClr val="accent3"/>
                </a:solidFill>
              </a:rPr>
              <a:t>Expression</a:t>
            </a:r>
            <a:r>
              <a:rPr lang="ru-RU" b="1" dirty="0">
                <a:solidFill>
                  <a:schemeClr val="accent3"/>
                </a:solidFill>
              </a:rPr>
              <a:t> </a:t>
            </a:r>
            <a:r>
              <a:rPr lang="ru-RU" b="1" dirty="0" err="1">
                <a:solidFill>
                  <a:schemeClr val="accent3"/>
                </a:solidFill>
              </a:rPr>
              <a:t>Assistant</a:t>
            </a:r>
            <a:r>
              <a:rPr lang="ru-RU" b="1" dirty="0">
                <a:solidFill>
                  <a:schemeClr val="accent3"/>
                </a:solidFill>
              </a:rPr>
              <a:t> (Помощник в написании кода)</a:t>
            </a:r>
            <a:endParaRPr lang="ru-RU" dirty="0">
              <a:solidFill>
                <a:schemeClr val="accent3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/>
              <a:t>Как работает:</a:t>
            </a:r>
            <a:r>
              <a:rPr lang="ru-RU" sz="2000" dirty="0"/>
              <a:t> Вы описываете логику вычисления словами, агент генерирует готовый код — формулу DAX, SQL-запрос или </a:t>
            </a:r>
            <a:r>
              <a:rPr lang="ru-RU" sz="2000" dirty="0" err="1"/>
              <a:t>Python</a:t>
            </a:r>
            <a:r>
              <a:rPr lang="ru-RU" sz="2000" dirty="0"/>
              <a:t>-скрипт. Вы можете сразу запустить его и проверить результат .</a:t>
            </a:r>
          </a:p>
          <a:p>
            <a:r>
              <a:rPr lang="ru-RU" sz="2000" b="1" dirty="0"/>
              <a:t>Конкретный пример — </a:t>
            </a:r>
            <a:r>
              <a:rPr lang="ru-RU" sz="2000" b="1" dirty="0" err="1"/>
              <a:t>Copilot</a:t>
            </a:r>
            <a:r>
              <a:rPr lang="ru-RU" sz="2000" b="1" dirty="0"/>
              <a:t> в </a:t>
            </a:r>
            <a:r>
              <a:rPr lang="ru-RU" sz="2000" b="1" dirty="0" err="1"/>
              <a:t>Power</a:t>
            </a:r>
            <a:r>
              <a:rPr lang="ru-RU" sz="2000" b="1" dirty="0"/>
              <a:t> BI (DAX):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Аналитику нужно вывести «прибыль по продуктам». Вместо написания громоздкой формулы он открывает </a:t>
            </a:r>
            <a:r>
              <a:rPr lang="ru-RU" sz="2000" dirty="0" err="1"/>
              <a:t>Copilot</a:t>
            </a:r>
            <a:r>
              <a:rPr lang="ru-RU" sz="2000" dirty="0"/>
              <a:t> (</a:t>
            </a:r>
            <a:r>
              <a:rPr lang="ru-RU" sz="2000" dirty="0" err="1"/>
              <a:t>Ctrl+I</a:t>
            </a:r>
            <a:r>
              <a:rPr lang="ru-RU" sz="2000" dirty="0"/>
              <a:t>) и пишет: </a:t>
            </a:r>
            <a:r>
              <a:rPr lang="ru-RU" sz="2000" i="1" dirty="0"/>
              <a:t>«</a:t>
            </a:r>
            <a:r>
              <a:rPr lang="ru-RU" sz="2000" i="1" dirty="0" err="1"/>
              <a:t>Write</a:t>
            </a:r>
            <a:r>
              <a:rPr lang="ru-RU" sz="2000" i="1" dirty="0"/>
              <a:t> a DAX </a:t>
            </a:r>
            <a:r>
              <a:rPr lang="ru-RU" sz="2000" i="1" dirty="0" err="1"/>
              <a:t>query</a:t>
            </a:r>
            <a:r>
              <a:rPr lang="ru-RU" sz="2000" i="1" dirty="0"/>
              <a:t> </a:t>
            </a:r>
            <a:r>
              <a:rPr lang="ru-RU" sz="2000" i="1" dirty="0" err="1"/>
              <a:t>to</a:t>
            </a:r>
            <a:r>
              <a:rPr lang="ru-RU" sz="2000" i="1" dirty="0"/>
              <a:t> </a:t>
            </a:r>
            <a:r>
              <a:rPr lang="ru-RU" sz="2000" i="1" dirty="0" err="1"/>
              <a:t>show</a:t>
            </a:r>
            <a:r>
              <a:rPr lang="ru-RU" sz="2000" i="1" dirty="0"/>
              <a:t> </a:t>
            </a:r>
            <a:r>
              <a:rPr lang="ru-RU" sz="2000" i="1" dirty="0" err="1"/>
              <a:t>profit</a:t>
            </a:r>
            <a:r>
              <a:rPr lang="ru-RU" sz="2000" i="1" dirty="0"/>
              <a:t> </a:t>
            </a:r>
            <a:r>
              <a:rPr lang="ru-RU" sz="2000" i="1" dirty="0" err="1"/>
              <a:t>by</a:t>
            </a:r>
            <a:r>
              <a:rPr lang="ru-RU" sz="2000" i="1" dirty="0"/>
              <a:t> </a:t>
            </a:r>
            <a:r>
              <a:rPr lang="ru-RU" sz="2000" i="1" dirty="0" err="1"/>
              <a:t>product</a:t>
            </a:r>
            <a:r>
              <a:rPr lang="ru-RU" sz="2000" i="1" dirty="0"/>
              <a:t>»</a:t>
            </a:r>
            <a:r>
              <a:rPr lang="ru-RU" sz="2000" dirty="0"/>
              <a:t>. Агент генерирует DAX-запрос. Аналитик запускает его, видит результат и тут же уточняет: </a:t>
            </a:r>
            <a:r>
              <a:rPr lang="ru-RU" sz="2000" i="1" dirty="0"/>
              <a:t>«</a:t>
            </a:r>
            <a:r>
              <a:rPr lang="ru-RU" sz="2000" i="1" dirty="0" err="1"/>
              <a:t>Add</a:t>
            </a:r>
            <a:r>
              <a:rPr lang="ru-RU" sz="2000" i="1" dirty="0"/>
              <a:t> </a:t>
            </a:r>
            <a:r>
              <a:rPr lang="ru-RU" sz="2000" i="1" dirty="0" err="1"/>
              <a:t>in</a:t>
            </a:r>
            <a:r>
              <a:rPr lang="ru-RU" sz="2000" i="1" dirty="0"/>
              <a:t> </a:t>
            </a:r>
            <a:r>
              <a:rPr lang="ru-RU" sz="2000" i="1" dirty="0" err="1"/>
              <a:t>Orders</a:t>
            </a:r>
            <a:r>
              <a:rPr lang="ru-RU" sz="2000" i="1" dirty="0"/>
              <a:t>»</a:t>
            </a:r>
            <a:r>
              <a:rPr lang="ru-RU" sz="2000" dirty="0"/>
              <a:t>. </a:t>
            </a:r>
            <a:r>
              <a:rPr lang="ru-RU" sz="2000" dirty="0" err="1"/>
              <a:t>Copilot</a:t>
            </a:r>
            <a:r>
              <a:rPr lang="ru-RU" sz="2000" dirty="0"/>
              <a:t> модифицирует запрос, добавляя столбец с заказами, и подсвечивает изменения </a:t>
            </a:r>
            <a:r>
              <a:rPr lang="ru-RU" sz="2000" dirty="0" err="1"/>
              <a:t>диффом</a:t>
            </a:r>
            <a:r>
              <a:rPr lang="ru-RU" sz="2000" dirty="0"/>
              <a:t> .</a:t>
            </a:r>
          </a:p>
          <a:p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8196" name="Picture 4" descr="Picture background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66" y="4581119"/>
            <a:ext cx="4185609" cy="214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962" y="4589339"/>
            <a:ext cx="4534032" cy="212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973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solidFill>
                  <a:schemeClr val="accent3"/>
                </a:solidFill>
              </a:rPr>
              <a:t>Insight</a:t>
            </a:r>
            <a:r>
              <a:rPr lang="ru-RU" b="1" dirty="0">
                <a:solidFill>
                  <a:schemeClr val="accent3"/>
                </a:solidFill>
              </a:rPr>
              <a:t> </a:t>
            </a:r>
            <a:r>
              <a:rPr lang="ru-RU" b="1" dirty="0" err="1">
                <a:solidFill>
                  <a:schemeClr val="accent3"/>
                </a:solidFill>
              </a:rPr>
              <a:t>Agent</a:t>
            </a:r>
            <a:r>
              <a:rPr lang="ru-RU" b="1" dirty="0">
                <a:solidFill>
                  <a:schemeClr val="accent3"/>
                </a:solidFill>
              </a:rPr>
              <a:t> (Агент-аналитик)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Как работает:</a:t>
            </a:r>
            <a:r>
              <a:rPr lang="ru-RU" dirty="0"/>
              <a:t> Это </a:t>
            </a:r>
            <a:r>
              <a:rPr lang="ru-RU" dirty="0" err="1"/>
              <a:t>проактивный</a:t>
            </a:r>
            <a:r>
              <a:rPr lang="ru-RU" dirty="0"/>
              <a:t> агент, который не ждет вопроса. Он постоянно </a:t>
            </a:r>
            <a:r>
              <a:rPr lang="ru-RU" dirty="0" err="1"/>
              <a:t>мониторит</a:t>
            </a:r>
            <a:r>
              <a:rPr lang="ru-RU" dirty="0"/>
              <a:t> метрики и сам сообщает об аномалиях, трендах и скрытых закономерностях 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9226" name="Picture 10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696" y="3201791"/>
            <a:ext cx="5525904" cy="3519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170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solidFill>
                  <a:schemeClr val="accent3"/>
                </a:solidFill>
              </a:rPr>
              <a:t>Insight</a:t>
            </a:r>
            <a:r>
              <a:rPr lang="ru-RU" b="1" dirty="0">
                <a:solidFill>
                  <a:schemeClr val="accent3"/>
                </a:solidFill>
              </a:rPr>
              <a:t> </a:t>
            </a:r>
            <a:r>
              <a:rPr lang="ru-RU" b="1" dirty="0" err="1">
                <a:solidFill>
                  <a:schemeClr val="accent3"/>
                </a:solidFill>
              </a:rPr>
              <a:t>Agent</a:t>
            </a:r>
            <a:r>
              <a:rPr lang="ru-RU" b="1" dirty="0">
                <a:solidFill>
                  <a:schemeClr val="accent3"/>
                </a:solidFill>
              </a:rPr>
              <a:t> (Агент-аналитик</a:t>
            </a:r>
            <a:r>
              <a:rPr lang="ru-RU" b="1" dirty="0" smtClean="0">
                <a:solidFill>
                  <a:schemeClr val="accent3"/>
                </a:solidFill>
              </a:rPr>
              <a:t>)</a:t>
            </a:r>
            <a:r>
              <a:rPr lang="en-US" b="1" dirty="0" smtClean="0">
                <a:solidFill>
                  <a:schemeClr val="accent3"/>
                </a:solidFill>
              </a:rPr>
              <a:t>:</a:t>
            </a:r>
            <a:r>
              <a:rPr lang="ru-RU" b="1" dirty="0" smtClean="0">
                <a:solidFill>
                  <a:schemeClr val="accent3"/>
                </a:solidFill>
              </a:rPr>
              <a:t> конкретный пример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9191" y="1690688"/>
            <a:ext cx="10634609" cy="4486275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 smtClean="0"/>
              <a:t>Компания </a:t>
            </a:r>
            <a:r>
              <a:rPr lang="ru-RU" sz="2000" dirty="0" err="1"/>
              <a:t>Via</a:t>
            </a:r>
            <a:r>
              <a:rPr lang="ru-RU" sz="2000" dirty="0"/>
              <a:t> (транзит-тех) построила агента, который отвечает на сложные вопросы, требующие комбинации данных из разных систем. Запрос: </a:t>
            </a:r>
            <a:r>
              <a:rPr lang="ru-RU" sz="2000" i="1" dirty="0"/>
              <a:t>«Какие сервисы </a:t>
            </a:r>
            <a:r>
              <a:rPr lang="ru-RU" sz="2000" i="1" dirty="0" err="1"/>
              <a:t>микротранзита</a:t>
            </a:r>
            <a:r>
              <a:rPr lang="ru-RU" sz="2000" i="1" dirty="0"/>
              <a:t> в Техасе показали наибольший прирост производительности в последнем квартале?»</a:t>
            </a:r>
            <a:r>
              <a:rPr lang="ru-RU" sz="2000" dirty="0"/>
              <a:t> Агент выполняет многошаговый анализ :</a:t>
            </a:r>
          </a:p>
          <a:p>
            <a:r>
              <a:rPr lang="ru-RU" sz="2000" dirty="0"/>
              <a:t>Определяет, что «прирост производительности» — это сравнение KPI (изменение пассажиропотока, </a:t>
            </a:r>
            <a:r>
              <a:rPr lang="ru-RU" sz="2000" dirty="0" err="1"/>
              <a:t>utilization</a:t>
            </a:r>
            <a:r>
              <a:rPr lang="ru-RU" sz="2000" dirty="0"/>
              <a:t> </a:t>
            </a:r>
            <a:r>
              <a:rPr lang="ru-RU" sz="2000" dirty="0" err="1"/>
              <a:t>rate</a:t>
            </a:r>
            <a:r>
              <a:rPr lang="ru-RU" sz="2000" dirty="0"/>
              <a:t>).</a:t>
            </a:r>
          </a:p>
          <a:p>
            <a:r>
              <a:rPr lang="ru-RU" sz="2000" dirty="0"/>
              <a:t>Вызывает инструмент </a:t>
            </a:r>
            <a:r>
              <a:rPr lang="ru-RU" sz="2000" dirty="0" err="1"/>
              <a:t>геопоиска</a:t>
            </a:r>
            <a:r>
              <a:rPr lang="ru-RU" sz="2000" dirty="0"/>
              <a:t> для фильтрации сервисов в Техасе.</a:t>
            </a:r>
          </a:p>
          <a:p>
            <a:r>
              <a:rPr lang="ru-RU" sz="2000" dirty="0"/>
              <a:t>Вызывает инструмент метрик для получения данных за Q4.</a:t>
            </a:r>
          </a:p>
          <a:p>
            <a:r>
              <a:rPr lang="ru-RU" sz="2000" dirty="0"/>
              <a:t>Сравнивает показатели с предыдущим кварталом.</a:t>
            </a:r>
          </a:p>
          <a:p>
            <a:r>
              <a:rPr lang="ru-RU" sz="2000" dirty="0"/>
              <a:t>Ранжирует сервисы по величине прироста и выдает топ с объяснением — </a:t>
            </a:r>
            <a:r>
              <a:rPr lang="ru-RU" sz="2000" b="1" dirty="0"/>
              <a:t>все за одну минуту</a:t>
            </a:r>
            <a:r>
              <a:rPr lang="ru-RU" sz="2000" dirty="0"/>
              <a:t>.</a:t>
            </a:r>
          </a:p>
          <a:p>
            <a:r>
              <a:rPr lang="ru-RU" sz="2000" dirty="0"/>
              <a:t>Раньше это требовало ручного экспорта данных из нескольких систем, кросс-</a:t>
            </a:r>
            <a:r>
              <a:rPr lang="ru-RU" sz="2000" dirty="0" err="1"/>
              <a:t>референсинга</a:t>
            </a:r>
            <a:r>
              <a:rPr lang="ru-RU" sz="2000" dirty="0"/>
              <a:t> в </a:t>
            </a:r>
            <a:r>
              <a:rPr lang="ru-RU" sz="2000" dirty="0" err="1"/>
              <a:t>Excel</a:t>
            </a:r>
            <a:r>
              <a:rPr lang="ru-RU" sz="2000" dirty="0"/>
              <a:t> и отнимало часы 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523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solidFill>
                  <a:schemeClr val="accent3"/>
                </a:solidFill>
              </a:rPr>
              <a:t>Execution</a:t>
            </a:r>
            <a:r>
              <a:rPr lang="ru-RU" b="1" dirty="0">
                <a:solidFill>
                  <a:schemeClr val="accent3"/>
                </a:solidFill>
              </a:rPr>
              <a:t> </a:t>
            </a:r>
            <a:r>
              <a:rPr lang="ru-RU" b="1" dirty="0" err="1">
                <a:solidFill>
                  <a:schemeClr val="accent3"/>
                </a:solidFill>
              </a:rPr>
              <a:t>Agent</a:t>
            </a:r>
            <a:r>
              <a:rPr lang="ru-RU" b="1" dirty="0">
                <a:solidFill>
                  <a:schemeClr val="accent3"/>
                </a:solidFill>
              </a:rPr>
              <a:t> (Агент-исполнитель)</a:t>
            </a:r>
            <a:endParaRPr lang="ru-RU" dirty="0">
              <a:solidFill>
                <a:schemeClr val="accent3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Как работает:</a:t>
            </a:r>
            <a:r>
              <a:rPr lang="ru-RU" dirty="0"/>
              <a:t> Агент не просто анализирует или визуализирует — он </a:t>
            </a:r>
            <a:r>
              <a:rPr lang="ru-RU" b="1" dirty="0"/>
              <a:t>действует</a:t>
            </a:r>
            <a:r>
              <a:rPr lang="ru-RU" dirty="0"/>
              <a:t>: создает задачи, назначает ответственных, отправляет уведомления, обновляет записи в системах. Это переход от «что случилось?» к «что делать?» и автоматическому </a:t>
            </a:r>
            <a:r>
              <a:rPr lang="ru-RU" dirty="0" smtClean="0"/>
              <a:t>выполнению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191" y="4001294"/>
            <a:ext cx="50292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5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solidFill>
                  <a:schemeClr val="accent3"/>
                </a:solidFill>
              </a:rPr>
              <a:t>Execution</a:t>
            </a:r>
            <a:r>
              <a:rPr lang="ru-RU" b="1" dirty="0">
                <a:solidFill>
                  <a:schemeClr val="accent3"/>
                </a:solidFill>
              </a:rPr>
              <a:t> </a:t>
            </a:r>
            <a:r>
              <a:rPr lang="ru-RU" b="1" dirty="0" err="1">
                <a:solidFill>
                  <a:schemeClr val="accent3"/>
                </a:solidFill>
              </a:rPr>
              <a:t>Agent</a:t>
            </a:r>
            <a:r>
              <a:rPr lang="ru-RU" b="1" dirty="0">
                <a:solidFill>
                  <a:schemeClr val="accent3"/>
                </a:solidFill>
              </a:rPr>
              <a:t> (</a:t>
            </a:r>
            <a:r>
              <a:rPr lang="ru-RU" b="1" dirty="0" smtClean="0">
                <a:solidFill>
                  <a:schemeClr val="accent3"/>
                </a:solidFill>
              </a:rPr>
              <a:t>Агент-исполнитель)</a:t>
            </a:r>
            <a:r>
              <a:rPr lang="en-US" b="1" dirty="0" smtClean="0">
                <a:solidFill>
                  <a:schemeClr val="accent3"/>
                </a:solidFill>
              </a:rPr>
              <a:t>: </a:t>
            </a:r>
            <a:r>
              <a:rPr lang="ru-RU" b="1" dirty="0" smtClean="0">
                <a:solidFill>
                  <a:schemeClr val="accent3"/>
                </a:solidFill>
              </a:rPr>
              <a:t>конкретный пример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/>
              <a:t>Конкретный пример </a:t>
            </a:r>
            <a:r>
              <a:rPr lang="ru-RU" sz="2000" b="1" dirty="0" smtClean="0"/>
              <a:t> </a:t>
            </a:r>
            <a:r>
              <a:rPr lang="ru-RU" sz="2000" b="1" dirty="0"/>
              <a:t>— Синхронизация </a:t>
            </a:r>
            <a:r>
              <a:rPr lang="ru-RU" sz="2000" b="1" dirty="0" err="1"/>
              <a:t>GitHub</a:t>
            </a:r>
            <a:r>
              <a:rPr lang="ru-RU" sz="2000" b="1" dirty="0"/>
              <a:t> </a:t>
            </a:r>
            <a:r>
              <a:rPr lang="ru-RU" sz="2000" b="1" dirty="0" err="1"/>
              <a:t>Issues</a:t>
            </a:r>
            <a:r>
              <a:rPr lang="ru-RU" sz="2000" b="1" dirty="0"/>
              <a:t> → </a:t>
            </a:r>
            <a:r>
              <a:rPr lang="ru-RU" sz="2000" b="1" dirty="0" err="1"/>
              <a:t>Jira</a:t>
            </a:r>
            <a:r>
              <a:rPr lang="ru-RU" sz="2000" b="1" dirty="0"/>
              <a:t> :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Разработчик создает </a:t>
            </a:r>
            <a:r>
              <a:rPr lang="ru-RU" sz="2000" dirty="0" err="1"/>
              <a:t>Issue</a:t>
            </a:r>
            <a:r>
              <a:rPr lang="ru-RU" sz="2000" dirty="0"/>
              <a:t> на </a:t>
            </a:r>
            <a:r>
              <a:rPr lang="ru-RU" sz="2000" dirty="0" err="1"/>
              <a:t>GitHub</a:t>
            </a:r>
            <a:r>
              <a:rPr lang="ru-RU" sz="2000" dirty="0"/>
              <a:t> с описанием бага. Агент на базе GPT-4o:</a:t>
            </a:r>
          </a:p>
          <a:p>
            <a:r>
              <a:rPr lang="ru-RU" sz="2000" dirty="0"/>
              <a:t>Анализирует </a:t>
            </a:r>
            <a:r>
              <a:rPr lang="ru-RU" sz="2000" dirty="0" err="1"/>
              <a:t>Issue</a:t>
            </a:r>
            <a:r>
              <a:rPr lang="ru-RU" sz="2000" dirty="0"/>
              <a:t>, определяет серьезность (</a:t>
            </a:r>
            <a:r>
              <a:rPr lang="ru-RU" sz="2000" dirty="0" err="1"/>
              <a:t>severity</a:t>
            </a:r>
            <a:r>
              <a:rPr lang="ru-RU" sz="2000" dirty="0"/>
              <a:t>), категорию бага и первопричину.</a:t>
            </a:r>
          </a:p>
          <a:p>
            <a:r>
              <a:rPr lang="ru-RU" sz="2000" dirty="0"/>
              <a:t>Генерирует шаги для воспроизведения (</a:t>
            </a:r>
            <a:r>
              <a:rPr lang="ru-RU" sz="2000" dirty="0" err="1"/>
              <a:t>reproduction</a:t>
            </a:r>
            <a:r>
              <a:rPr lang="ru-RU" sz="2000" dirty="0"/>
              <a:t> </a:t>
            </a:r>
            <a:r>
              <a:rPr lang="ru-RU" sz="2000" dirty="0" err="1"/>
              <a:t>steps</a:t>
            </a:r>
            <a:r>
              <a:rPr lang="ru-RU" sz="2000" dirty="0"/>
              <a:t>).</a:t>
            </a:r>
          </a:p>
          <a:p>
            <a:r>
              <a:rPr lang="ru-RU" sz="2000" dirty="0"/>
              <a:t>Создает </a:t>
            </a:r>
            <a:r>
              <a:rPr lang="ru-RU" sz="2000" dirty="0" err="1"/>
              <a:t>тикет</a:t>
            </a:r>
            <a:r>
              <a:rPr lang="ru-RU" sz="2000" dirty="0"/>
              <a:t> в </a:t>
            </a:r>
            <a:r>
              <a:rPr lang="ru-RU" sz="2000" dirty="0" err="1"/>
              <a:t>Jira</a:t>
            </a:r>
            <a:r>
              <a:rPr lang="ru-RU" sz="2000" dirty="0"/>
              <a:t> с заполненными полями: описание, приоритет, метки, оценка времени исправления.</a:t>
            </a:r>
          </a:p>
          <a:p>
            <a:r>
              <a:rPr lang="ru-RU" sz="2000" dirty="0"/>
              <a:t>Назначает разработчика, исходя из упомянутых в </a:t>
            </a:r>
            <a:r>
              <a:rPr lang="ru-RU" sz="2000" dirty="0" err="1"/>
              <a:t>Issue</a:t>
            </a:r>
            <a:r>
              <a:rPr lang="ru-RU" sz="2000" dirty="0"/>
              <a:t> файлов.</a:t>
            </a:r>
          </a:p>
          <a:p>
            <a:r>
              <a:rPr lang="ru-RU" sz="2000" dirty="0"/>
              <a:t>Отправляет уведомление в </a:t>
            </a:r>
            <a:r>
              <a:rPr lang="ru-RU" sz="2000" dirty="0" err="1"/>
              <a:t>Slack</a:t>
            </a:r>
            <a:r>
              <a:rPr lang="ru-RU" sz="2000" dirty="0"/>
              <a:t>/</a:t>
            </a:r>
            <a:r>
              <a:rPr lang="ru-RU" sz="2000" dirty="0" err="1"/>
              <a:t>Discord</a:t>
            </a:r>
            <a:r>
              <a:rPr lang="ru-RU" sz="2000" dirty="0"/>
              <a:t> с цветовым индикатором серьезности.</a:t>
            </a:r>
          </a:p>
          <a:p>
            <a:r>
              <a:rPr lang="ru-RU" sz="2000" dirty="0"/>
              <a:t>Пишет комментарий в исходный </a:t>
            </a:r>
            <a:r>
              <a:rPr lang="ru-RU" sz="2000" dirty="0" err="1"/>
              <a:t>GitHub</a:t>
            </a:r>
            <a:r>
              <a:rPr lang="ru-RU" sz="2000" dirty="0"/>
              <a:t> </a:t>
            </a:r>
            <a:r>
              <a:rPr lang="ru-RU" sz="2000" dirty="0" err="1"/>
              <a:t>Issue</a:t>
            </a:r>
            <a:r>
              <a:rPr lang="ru-RU" sz="2000" dirty="0"/>
              <a:t> со ссылкой на </a:t>
            </a:r>
            <a:r>
              <a:rPr lang="ru-RU" sz="2000" dirty="0" err="1"/>
              <a:t>Jira-тикет</a:t>
            </a:r>
            <a:r>
              <a:rPr lang="ru-RU" sz="2000" dirty="0"/>
              <a:t>.</a:t>
            </a:r>
          </a:p>
          <a:p>
            <a:r>
              <a:rPr lang="ru-RU" sz="2000" b="1" dirty="0"/>
              <a:t>Результат:</a:t>
            </a:r>
            <a:r>
              <a:rPr lang="ru-RU" sz="2000" dirty="0"/>
              <a:t> 90% ускорение </a:t>
            </a:r>
            <a:r>
              <a:rPr lang="ru-RU" sz="2000" dirty="0" err="1"/>
              <a:t>триажа</a:t>
            </a:r>
            <a:r>
              <a:rPr lang="ru-RU" sz="2000" dirty="0"/>
              <a:t> багов — с 20 минут ручной работы до 2 минут автоматической обработки 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1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Архитектура агента – исполнителя 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48629"/>
            <a:ext cx="10515600" cy="4928334"/>
          </a:xfrm>
        </p:spPr>
        <p:txBody>
          <a:bodyPr/>
          <a:lstStyle/>
          <a:p>
            <a:r>
              <a:rPr lang="ru-RU" dirty="0"/>
              <a:t>На следующей схеме показаны этапы работы оператора, когда пользователь задает вопрос: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1026" name="Picture 2" descr="https://docs.cloud.google.com/static/gemini/data-agents/conversational-analytics-api/images/ca-api-agent-architec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57" y="2233657"/>
            <a:ext cx="7828084" cy="440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571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Этапы обработки запроса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072055"/>
            <a:ext cx="10515600" cy="5104908"/>
          </a:xfrm>
        </p:spPr>
        <p:txBody>
          <a:bodyPr/>
          <a:lstStyle/>
          <a:p>
            <a:r>
              <a:rPr lang="ru-RU" sz="1800" dirty="0" smtClean="0"/>
              <a:t>Ввод</a:t>
            </a:r>
            <a:r>
              <a:rPr lang="ru-RU" sz="1800" dirty="0"/>
              <a:t>: пользователь задает вопрос на естественном языке с любым дополнительным контекстом, который вы указали ранее. </a:t>
            </a:r>
            <a:endParaRPr lang="ru-RU" sz="1800" dirty="0" smtClean="0"/>
          </a:p>
          <a:p>
            <a:r>
              <a:rPr lang="ru-RU" sz="1800" dirty="0" smtClean="0"/>
              <a:t>Источники </a:t>
            </a:r>
            <a:r>
              <a:rPr lang="ru-RU" sz="1800" dirty="0"/>
              <a:t>данных: агент подключается к вашим данным в </a:t>
            </a:r>
            <a:r>
              <a:rPr lang="ru-RU" sz="1800" dirty="0" err="1"/>
              <a:t>Looker</a:t>
            </a:r>
            <a:r>
              <a:rPr lang="ru-RU" sz="1800" dirty="0"/>
              <a:t>, </a:t>
            </a:r>
            <a:r>
              <a:rPr lang="ru-RU" sz="1800" dirty="0" err="1"/>
              <a:t>BigQuery</a:t>
            </a:r>
            <a:r>
              <a:rPr lang="ru-RU" sz="1800" dirty="0"/>
              <a:t> и </a:t>
            </a:r>
            <a:r>
              <a:rPr lang="ru-RU" sz="1800" dirty="0" err="1"/>
              <a:t>Data</a:t>
            </a:r>
            <a:r>
              <a:rPr lang="ru-RU" sz="1800" dirty="0"/>
              <a:t> </a:t>
            </a:r>
            <a:r>
              <a:rPr lang="ru-RU" sz="1800" dirty="0" err="1"/>
              <a:t>Studio</a:t>
            </a:r>
            <a:r>
              <a:rPr lang="ru-RU" sz="1800" dirty="0"/>
              <a:t> для работы в чате. Он также может запрашивать данные из баз </a:t>
            </a:r>
            <a:r>
              <a:rPr lang="ru-RU" sz="1800" dirty="0" smtClean="0"/>
              <a:t>данных. </a:t>
            </a:r>
          </a:p>
          <a:p>
            <a:r>
              <a:rPr lang="ru-RU" sz="1800" dirty="0" smtClean="0"/>
              <a:t>Механизм </a:t>
            </a:r>
            <a:r>
              <a:rPr lang="ru-RU" sz="1800" dirty="0"/>
              <a:t>логического вывода: ядро агента обрабатывает вопрос пользователя, используя доступные инструменты для генерации ответа. </a:t>
            </a:r>
            <a:endParaRPr lang="ru-RU" sz="1800" dirty="0" smtClean="0"/>
          </a:p>
          <a:p>
            <a:r>
              <a:rPr lang="ru-RU" sz="1800" dirty="0" smtClean="0"/>
              <a:t>Вывод</a:t>
            </a:r>
            <a:r>
              <a:rPr lang="ru-RU" sz="1800" dirty="0"/>
              <a:t>: агент возвращает поток сообщений, которые могут содержать текст, данные или графики. Для некоторых источников данных текстовые сообщения содержат пошаговое описание действий агента, отчет о ходе выполнения действия или окончательный ответ на ваш запрос.</a:t>
            </a:r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894" y="3723949"/>
            <a:ext cx="6462088" cy="334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481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923826"/>
                </a:solidFill>
              </a:rPr>
              <a:t>AI-</a:t>
            </a:r>
            <a:r>
              <a:rPr lang="ru-RU" b="1" dirty="0">
                <a:solidFill>
                  <a:srgbClr val="923826"/>
                </a:solidFill>
              </a:rPr>
              <a:t>агенты</a:t>
            </a:r>
            <a:r>
              <a:rPr lang="en-US" b="1" dirty="0">
                <a:solidFill>
                  <a:srgbClr val="923826"/>
                </a:solidFill>
              </a:rPr>
              <a:t>: </a:t>
            </a:r>
            <a:r>
              <a:rPr lang="ru-RU" b="1" dirty="0" smtClean="0">
                <a:solidFill>
                  <a:schemeClr val="accent3"/>
                </a:solidFill>
              </a:rPr>
              <a:t>Конкретные </a:t>
            </a:r>
            <a:r>
              <a:rPr lang="ru-RU" b="1" dirty="0">
                <a:solidFill>
                  <a:schemeClr val="accent3"/>
                </a:solidFill>
              </a:rPr>
              <a:t>кейсы из индустрии </a:t>
            </a:r>
            <a:br>
              <a:rPr lang="ru-RU" b="1" dirty="0">
                <a:solidFill>
                  <a:schemeClr val="accent3"/>
                </a:solidFill>
              </a:rPr>
            </a:br>
            <a:endParaRPr lang="ru-RU" dirty="0">
              <a:solidFill>
                <a:schemeClr val="accent3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b="1" dirty="0"/>
              <a:t>Ускорение обработки знаний:</a:t>
            </a:r>
            <a:r>
              <a:rPr lang="ru-RU" sz="2400" dirty="0"/>
              <a:t> Компания </a:t>
            </a:r>
            <a:r>
              <a:rPr lang="ru-RU" sz="2400" dirty="0" err="1"/>
              <a:t>WolfSpeed</a:t>
            </a:r>
            <a:r>
              <a:rPr lang="ru-RU" sz="2400" dirty="0"/>
              <a:t> (производство) создала </a:t>
            </a:r>
            <a:r>
              <a:rPr lang="ru-RU" sz="2400" b="1" dirty="0"/>
              <a:t>12 AI-агентов</a:t>
            </a:r>
            <a:r>
              <a:rPr lang="ru-RU" sz="2400" dirty="0"/>
              <a:t>, которые оцифровали архивы сменных комментариев инженеров. Поиск причины дефекта, который раньше занимал </a:t>
            </a:r>
            <a:r>
              <a:rPr lang="ru-RU" sz="2400" b="1" dirty="0"/>
              <a:t>недели</a:t>
            </a:r>
            <a:r>
              <a:rPr lang="ru-RU" sz="2400" dirty="0"/>
              <a:t>, теперь выполняется </a:t>
            </a:r>
            <a:r>
              <a:rPr lang="ru-RU" sz="2400" b="1" dirty="0"/>
              <a:t>за секунды</a:t>
            </a:r>
            <a:r>
              <a:rPr lang="ru-RU" sz="2400" dirty="0"/>
              <a:t> .</a:t>
            </a:r>
          </a:p>
          <a:p>
            <a:r>
              <a:rPr lang="ru-RU" sz="2400" b="1" dirty="0"/>
              <a:t>Работа с документами:</a:t>
            </a:r>
            <a:r>
              <a:rPr lang="ru-RU" sz="2400" dirty="0"/>
              <a:t> Автоматический разбор медицинской карты пациента объемом до 1 млн </a:t>
            </a:r>
            <a:r>
              <a:rPr lang="ru-RU" sz="2400" dirty="0" smtClean="0"/>
              <a:t>слов теперь </a:t>
            </a:r>
            <a:r>
              <a:rPr lang="ru-RU" sz="2400" dirty="0"/>
              <a:t>занимает минуты вместо часов ручного труда врача .</a:t>
            </a:r>
          </a:p>
          <a:p>
            <a:r>
              <a:rPr lang="ru-RU" sz="2400" b="1" dirty="0"/>
              <a:t>Уровень </a:t>
            </a:r>
            <a:r>
              <a:rPr lang="ru-RU" sz="2400" b="1" dirty="0" smtClean="0"/>
              <a:t>внедрения:</a:t>
            </a:r>
            <a:r>
              <a:rPr lang="ru-RU" sz="2400" dirty="0"/>
              <a:t> По данным </a:t>
            </a:r>
            <a:r>
              <a:rPr lang="ru-RU" sz="2400" dirty="0" err="1"/>
              <a:t>McKinsey</a:t>
            </a:r>
            <a:r>
              <a:rPr lang="ru-RU" sz="2400" dirty="0"/>
              <a:t>, </a:t>
            </a:r>
            <a:r>
              <a:rPr lang="ru-RU" sz="2400" b="1" dirty="0"/>
              <a:t>66%</a:t>
            </a:r>
            <a:r>
              <a:rPr lang="ru-RU" sz="2400" dirty="0"/>
              <a:t> компаний уже тестируют агентов, а среднее число развернутых агентов на организацию вырастет до </a:t>
            </a:r>
            <a:r>
              <a:rPr lang="ru-RU" sz="2400" b="1" dirty="0"/>
              <a:t>20</a:t>
            </a:r>
            <a:r>
              <a:rPr lang="ru-RU" sz="2400" dirty="0"/>
              <a:t> в ближайшие два года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13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3"/>
                </a:solidFill>
              </a:rPr>
              <a:t>Ключевой барьер: Данные как фундамент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Проблема:</a:t>
            </a:r>
            <a:r>
              <a:rPr lang="ru-RU" dirty="0"/>
              <a:t> 8 из 10 компаний называют плохое качество данных главным тормозом развития </a:t>
            </a:r>
            <a:r>
              <a:rPr lang="ru-RU" dirty="0" err="1"/>
              <a:t>агентных</a:t>
            </a:r>
            <a:r>
              <a:rPr lang="ru-RU" dirty="0"/>
              <a:t> систем. Если в </a:t>
            </a:r>
            <a:r>
              <a:rPr lang="ru-RU" dirty="0" err="1"/>
              <a:t>Excel</a:t>
            </a:r>
            <a:r>
              <a:rPr lang="ru-RU" dirty="0"/>
              <a:t> хаос из дублей и пропусков, агент просто умножит этот хаос .</a:t>
            </a:r>
          </a:p>
          <a:p>
            <a:r>
              <a:rPr lang="ru-RU" b="1" dirty="0"/>
              <a:t>Решение:</a:t>
            </a:r>
            <a:r>
              <a:rPr lang="ru-RU" dirty="0"/>
              <a:t> Концепция </a:t>
            </a:r>
            <a:r>
              <a:rPr lang="ru-RU" b="1" dirty="0" err="1"/>
              <a:t>Semantic</a:t>
            </a:r>
            <a:r>
              <a:rPr lang="ru-RU" b="1" dirty="0"/>
              <a:t> </a:t>
            </a:r>
            <a:r>
              <a:rPr lang="ru-RU" b="1" dirty="0" err="1"/>
              <a:t>Layer</a:t>
            </a:r>
            <a:r>
              <a:rPr lang="ru-RU" b="1" dirty="0"/>
              <a:t> (семантический слой)</a:t>
            </a:r>
            <a:r>
              <a:rPr lang="ru-RU" dirty="0"/>
              <a:t>. Чтобы агент не перепутал «Клиент» из CRM с «Контрагентом» из 1С, все данные в компании должны быть описаны единой бизнес-терминологией. Платформы </a:t>
            </a:r>
            <a:r>
              <a:rPr lang="ru-RU" dirty="0" err="1"/>
              <a:t>Snowflake</a:t>
            </a:r>
            <a:r>
              <a:rPr lang="ru-RU" dirty="0"/>
              <a:t>, </a:t>
            </a:r>
            <a:r>
              <a:rPr lang="ru-RU" dirty="0" err="1"/>
              <a:t>Looker</a:t>
            </a:r>
            <a:r>
              <a:rPr lang="ru-RU" dirty="0"/>
              <a:t> и </a:t>
            </a:r>
            <a:r>
              <a:rPr lang="ru-RU" dirty="0" err="1"/>
              <a:t>Databricks</a:t>
            </a:r>
            <a:r>
              <a:rPr lang="ru-RU" dirty="0"/>
              <a:t> сейчас активно развивают это направление, называя его «Операционной системой для агентов»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92E41-49DC-46AA-A271-9F56352991BC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08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27866" y="2790825"/>
            <a:ext cx="6096000" cy="1044575"/>
          </a:xfrm>
        </p:spPr>
        <p:txBody>
          <a:bodyPr/>
          <a:lstStyle/>
          <a:p>
            <a:pPr>
              <a:buNone/>
            </a:pPr>
            <a:r>
              <a:rPr lang="ru-RU" sz="4400" dirty="0" smtClean="0">
                <a:solidFill>
                  <a:srgbClr val="923826"/>
                </a:solidFill>
              </a:rPr>
              <a:t>Спасибо за внимание!</a:t>
            </a:r>
            <a:endParaRPr lang="ru-RU" sz="4400" dirty="0">
              <a:solidFill>
                <a:srgbClr val="92382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7F0394-DA30-41D1-BA79-55D90E96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a63fdcb-41de-41b7-a29c-51f72461a67b"/>
    <ds:schemaRef ds:uri="02abcde4-0d41-4d92-9ad7-003839eab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233416-0D41-4853-A815-5627BA43D3C0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http://schemas.microsoft.com/sharepoint/v3"/>
    <ds:schemaRef ds:uri="02abcde4-0d41-4d92-9ad7-003839eabdeb"/>
    <ds:schemaRef ds:uri="9a63fdcb-41de-41b7-a29c-51f72461a67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AE8BD70-FE7F-4E2E-8A0C-B56C29E753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21559</TotalTime>
  <Words>628</Words>
  <Application>Microsoft Office PowerPoint</Application>
  <PresentationFormat>Широкоэкранный</PresentationFormat>
  <Paragraphs>115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Arial</vt:lpstr>
      <vt:lpstr>Calibri</vt:lpstr>
      <vt:lpstr>DM Sans Medium</vt:lpstr>
      <vt:lpstr>Inter</vt:lpstr>
      <vt:lpstr>Open Sans</vt:lpstr>
      <vt:lpstr>Open Sans Extrabold</vt:lpstr>
      <vt:lpstr>Open Sans Light</vt:lpstr>
      <vt:lpstr>Тема Office</vt:lpstr>
      <vt:lpstr>Презентация PowerPoint</vt:lpstr>
      <vt:lpstr>Критерии выбора подходящего инструмента</vt:lpstr>
      <vt:lpstr>Базовый уровень: Excel, Google Sheets</vt:lpstr>
      <vt:lpstr>Возможности Excel: Power Query</vt:lpstr>
      <vt:lpstr>Доступ к данным: SQL</vt:lpstr>
      <vt:lpstr>Визуализация и дашборды: Power Bi, Tableau</vt:lpstr>
      <vt:lpstr>Продвинутый анализ: Python, R</vt:lpstr>
      <vt:lpstr>Продвинутый анализ: Pandas</vt:lpstr>
      <vt:lpstr>Продвинутый анализ: Scikit-learn </vt:lpstr>
      <vt:lpstr>Статистические пакеты:SPSS, SAS, Stata</vt:lpstr>
      <vt:lpstr>AI-агенты: Что такое AI-агент? </vt:lpstr>
      <vt:lpstr>AI-агенты: Архитектура  современного агента - аналитика  </vt:lpstr>
      <vt:lpstr>Conversational Layer (Разговорный слой)</vt:lpstr>
      <vt:lpstr>Code &amp; Expression Assistant (Помощник в написании кода)</vt:lpstr>
      <vt:lpstr>Insight Agent (Агент-аналитик)</vt:lpstr>
      <vt:lpstr>Insight Agent (Агент-аналитик): конкретный пример</vt:lpstr>
      <vt:lpstr>Execution Agent (Агент-исполнитель)</vt:lpstr>
      <vt:lpstr>Execution Agent (Агент-исполнитель): конкретный пример</vt:lpstr>
      <vt:lpstr>Архитектура агента – исполнителя </vt:lpstr>
      <vt:lpstr>Этапы обработки запроса</vt:lpstr>
      <vt:lpstr>AI-агенты: Конкретные кейсы из индустрии  </vt:lpstr>
      <vt:lpstr>Ключевой барьер: Данные как фундамент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Лапшина</dc:creator>
  <cp:lastModifiedBy>ivanets300@mail.ru</cp:lastModifiedBy>
  <cp:revision>648</cp:revision>
  <dcterms:created xsi:type="dcterms:W3CDTF">2020-09-23T09:03:25Z</dcterms:created>
  <dcterms:modified xsi:type="dcterms:W3CDTF">2026-04-29T13:44:17Z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</Properties>
</file>