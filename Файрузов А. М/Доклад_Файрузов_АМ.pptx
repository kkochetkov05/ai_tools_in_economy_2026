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CCB09-4A4D-4172-B0A4-DDA93E01F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666CFA-AA3A-4816-95F9-017DD2409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266CFE-0493-49BB-A7A3-B619180C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C55550-278A-4E2A-8A11-C85B3352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3D0E3B-797A-4CAF-A5C7-1E17F7FD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86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DC389-6927-4F2A-A338-61442476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6A74D-18DB-4F89-A231-4B218C26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2448B3-C95D-4CB9-93F7-45EC08BB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F08764-0D7B-410C-A1D7-560AB94A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7D3C63-D32F-471C-AED7-DE37A671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74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6F3D9-9452-47BD-BE84-4C3A2805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D979B0-9FE3-4878-B2C4-0F17B82F3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701588-532B-4A5A-B612-FBDF08D8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39C5E-F9C2-4AEA-B480-30AB5D78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EBDDD-ADD0-4728-8EC7-5A820879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19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59F34-2809-4F54-A6C0-5EAF09C7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3C164-5E78-4331-9FAF-D7F328733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6A59A3-F29A-419B-B19C-930F87B26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DFFDB-CF26-4C04-9FF3-712D8308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71AB78-39EF-4BBE-889F-1719B5A1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EEB981-6E41-4853-87DC-64A5C3FF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4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4AA92-D539-4BD1-8F9B-3F7F0F68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BB6ECB-8A28-4E34-943D-461B67096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B3A16D-49E0-4915-9362-6434EE522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8B741A-98C7-4878-90DD-DE19CD104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E92740-E51B-40E5-BBD6-074A93895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EC6EE8-06E2-4D2A-84F6-5E65240D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A7D645D-89FE-4907-98DD-97E75F64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42B3C4-2006-4954-881B-E4B204F8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71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8D516-F874-490E-8C8B-6F8C4084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C517EA-0D97-4F56-BC67-F0192D13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7E021F-150B-459B-AC9D-F09C192C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63F7A9-CDB7-4EF2-BF47-A6215292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96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2AC072-96F4-4CB5-973A-F345FBE2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6FA851-68C5-4C4A-ACC3-CCEE06D6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4E90A5-917B-4E05-95CE-8F55A04A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2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2D6DC-8B0B-4369-9EE8-6CD1368A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808DA3-F780-4C30-A7B7-227E35024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C8D56B-9CDC-4988-BB78-4C50B9A75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E523E0-6036-4C07-85D5-1DFFA8D59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23240E-2CE1-4D31-8495-FFACD421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B9C651-3857-4831-89F8-A2CC01F7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29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C080A-1BB3-4616-BB3E-48AC095C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0D465F-478B-4187-9D1C-C4B6E50D1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A3DB7F-3A0B-4719-8DC2-2456CC9AD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45069A-3C85-4F9C-80F8-EA9361D0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2ACC3D-1DAC-4D13-94A7-CFFAEA79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C84338-816C-4519-AA9D-E0DB2C81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09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018A4-A3D0-4639-A574-F4F567CA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4BE7B7-794B-4ADC-9F59-8679D234F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AB3D35-C2F6-4786-91BF-FD27951E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FAE10A-04A7-40C8-AF6A-4BD435E8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7D301-7AAE-49A3-A972-6712BC42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11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040DFEE-F8FA-4ECB-BD11-7E67C61DD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F00973-588C-4753-9916-1303436FC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F8F246-28F6-4508-B325-7DF37821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7E004B-0EB6-4458-8187-DF09C587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9912A5-AE64-4EF1-AA52-D873339D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25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D1A42-14EC-4048-B851-AFAE3BF1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80CEA7-D8A0-4931-A362-442035FB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E85A3E-DD85-445A-8114-DBFF8DCAF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CFAA-CC13-4C39-859A-3261415691A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6C2999-54F8-49A2-BCC0-67B2464A4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0DB7C4-0E7F-46EB-8FC4-8AE5665C9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88F8A-1BB0-435E-85DC-B25AA7E81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72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B664A-25D7-4124-82EE-9D7554085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437" y="768668"/>
            <a:ext cx="10425960" cy="2387600"/>
          </a:xfrm>
        </p:spPr>
        <p:txBody>
          <a:bodyPr>
            <a:normAutofit/>
          </a:bodyPr>
          <a:lstStyle/>
          <a:p>
            <a:r>
              <a:rPr lang="ru-RU" sz="2800" i="0" dirty="0">
                <a:effectLst/>
                <a:latin typeface="Roboto" panose="02000000000000000000" pitchFamily="2" charset="0"/>
              </a:rPr>
              <a:t>Проблема переобучения. Обзор методов </a:t>
            </a:r>
            <a:r>
              <a:rPr lang="ru-RU" sz="2800" i="0" dirty="0" err="1">
                <a:effectLst/>
                <a:latin typeface="Roboto" panose="02000000000000000000" pitchFamily="2" charset="0"/>
              </a:rPr>
              <a:t>ансамблирования</a:t>
            </a:r>
            <a:r>
              <a:rPr lang="ru-RU" sz="2800" i="0" dirty="0">
                <a:effectLst/>
                <a:latin typeface="Roboto" panose="02000000000000000000" pitchFamily="2" charset="0"/>
              </a:rPr>
              <a:t>.</a:t>
            </a:r>
            <a:endParaRPr lang="ru-RU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8B3A7D-C9B4-4FCB-A638-D6A662A5D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26" y="5653088"/>
            <a:ext cx="9144000" cy="1655762"/>
          </a:xfrm>
        </p:spPr>
        <p:txBody>
          <a:bodyPr/>
          <a:lstStyle/>
          <a:p>
            <a:r>
              <a:rPr lang="ru-RU" dirty="0"/>
              <a:t>Файрузов Артём 303гр</a:t>
            </a:r>
          </a:p>
        </p:txBody>
      </p:sp>
    </p:spTree>
    <p:extLst>
      <p:ext uri="{BB962C8B-B14F-4D97-AF65-F5344CB8AC3E}">
        <p14:creationId xmlns:p14="http://schemas.microsoft.com/office/powerpoint/2010/main" val="133295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45798-6D3D-4389-9AA4-8AFB6BEC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45" y="-104774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Переобучение (</a:t>
            </a:r>
            <a:r>
              <a:rPr lang="ru-RU" sz="3200" dirty="0" err="1"/>
              <a:t>overfitting</a:t>
            </a:r>
            <a:r>
              <a:rPr lang="ru-RU" sz="3200" dirty="0"/>
              <a:t>) - главная угроза обобщающей способности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572C3-73ED-45FE-B4C9-F9967471D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6125"/>
            <a:ext cx="512445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Модель запоминает тренировочные данные, включая шум</a:t>
            </a:r>
          </a:p>
          <a:p>
            <a:r>
              <a:rPr lang="ru-RU" sz="2400" dirty="0"/>
              <a:t>Низкая ошибка на обучении → высокая на тесте / валидации</a:t>
            </a:r>
          </a:p>
          <a:p>
            <a:r>
              <a:rPr lang="ru-RU" sz="2400" dirty="0"/>
              <a:t>Низкая обобщающая способность</a:t>
            </a:r>
          </a:p>
        </p:txBody>
      </p:sp>
      <p:pic>
        <p:nvPicPr>
          <p:cNvPr id="1026" name="Picture 2" descr="Переобучение — Викиконспекты">
            <a:extLst>
              <a:ext uri="{FF2B5EF4-FFF2-40B4-BE49-F238E27FC236}">
                <a16:creationId xmlns:a16="http://schemas.microsoft.com/office/drawing/2014/main" id="{904A9BB1-90F0-4A4D-AAD7-ECFBEA38C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485901"/>
            <a:ext cx="6122759" cy="457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88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04E57-3E9B-4B7E-AEC4-A50A487C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48" y="7246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/>
              <a:t>Традиционные методы против </a:t>
            </a:r>
            <a:r>
              <a:rPr lang="en-US" sz="3200" dirty="0"/>
              <a:t>overfitting</a:t>
            </a:r>
            <a:endParaRPr lang="ru-RU" sz="3200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4BDD054E-2491-4E6E-8196-542FA2500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991147"/>
              </p:ext>
            </p:extLst>
          </p:nvPr>
        </p:nvGraphicFramePr>
        <p:xfrm>
          <a:off x="838203" y="2691448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569918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2463556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50006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20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Упрощение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Уменьшаем сложность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Падает точность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943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Ранняя остановка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Стоп по валидации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всегда стабильно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66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L1/L2 </a:t>
                      </a:r>
                      <a:r>
                        <a:rPr lang="ru-RU" dirty="0"/>
                        <a:t>регуляризация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Штраф за веса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всегда достаточно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35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Аугментация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Искусственное увеличение выборки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Дорого</a:t>
                      </a:r>
                      <a:r>
                        <a:rPr lang="en-US" dirty="0"/>
                        <a:t> / </a:t>
                      </a:r>
                      <a:r>
                        <a:rPr lang="ru-RU" dirty="0"/>
                        <a:t>невозможно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33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25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4725B-A169-4BB2-A3EE-A8A7598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27" y="7076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err="1"/>
              <a:t>Ансамблирование</a:t>
            </a:r>
            <a:r>
              <a:rPr lang="ru-RU" sz="3200" dirty="0"/>
              <a:t> как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44BDB9-0908-4415-A395-A5069275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6775"/>
            <a:ext cx="627697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Обучаем несколько моделей (даже переобученных, но по-разному)</a:t>
            </a:r>
          </a:p>
          <a:p>
            <a:r>
              <a:rPr lang="ru-RU" sz="2400" dirty="0"/>
              <a:t>Комбинируем ответы (голосование / усреднение)</a:t>
            </a:r>
          </a:p>
          <a:p>
            <a:r>
              <a:rPr lang="ru-RU" sz="2400" dirty="0"/>
              <a:t>Эффект: снижение дисперсии → уменьшение </a:t>
            </a:r>
            <a:r>
              <a:rPr lang="ru-RU" sz="2400" dirty="0" err="1"/>
              <a:t>overfitting</a:t>
            </a:r>
            <a:endParaRPr lang="ru-RU" sz="2400" dirty="0"/>
          </a:p>
        </p:txBody>
      </p:sp>
      <p:pic>
        <p:nvPicPr>
          <p:cNvPr id="3074" name="Picture 2" descr="Методы сбора ансамблей алгоритмов машинного обучения: стекинг, бэггинг,  бустинг / Хабр">
            <a:extLst>
              <a:ext uri="{FF2B5EF4-FFF2-40B4-BE49-F238E27FC236}">
                <a16:creationId xmlns:a16="http://schemas.microsoft.com/office/drawing/2014/main" id="{F125F611-1E14-4A0C-B4C4-C388A13B7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492" y="1142575"/>
            <a:ext cx="3529870" cy="496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33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BCC25-698B-499F-A2D7-C48B07CC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63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err="1"/>
              <a:t>Бэггинг</a:t>
            </a:r>
            <a:r>
              <a:rPr lang="ru-RU" sz="3200" dirty="0"/>
              <a:t> - </a:t>
            </a:r>
            <a:r>
              <a:rPr lang="en-US" sz="3200" dirty="0"/>
              <a:t>Bootstrap Aggregating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EB4B5D-DD1A-4F18-9397-22C0D3D2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3716"/>
            <a:ext cx="6572250" cy="2955925"/>
          </a:xfrm>
        </p:spPr>
        <p:txBody>
          <a:bodyPr>
            <a:normAutofit/>
          </a:bodyPr>
          <a:lstStyle/>
          <a:p>
            <a:r>
              <a:rPr lang="ru-RU" sz="2400" dirty="0"/>
              <a:t>Создаём много </a:t>
            </a:r>
            <a:r>
              <a:rPr lang="ru-RU" sz="2400" dirty="0" err="1"/>
              <a:t>подвыборок</a:t>
            </a:r>
            <a:r>
              <a:rPr lang="ru-RU" sz="2400" dirty="0"/>
              <a:t> (</a:t>
            </a:r>
            <a:r>
              <a:rPr lang="ru-RU" sz="2400" dirty="0" err="1"/>
              <a:t>бутстреп</a:t>
            </a:r>
            <a:r>
              <a:rPr lang="ru-RU" sz="2400" dirty="0"/>
              <a:t>)</a:t>
            </a:r>
          </a:p>
          <a:p>
            <a:r>
              <a:rPr lang="ru-RU" sz="2400" dirty="0"/>
              <a:t>На каждой — своя модель (обычно дерево решений)</a:t>
            </a:r>
          </a:p>
          <a:p>
            <a:r>
              <a:rPr lang="ru-RU" sz="2400" dirty="0"/>
              <a:t>Усреднение / голосование</a:t>
            </a:r>
          </a:p>
          <a:p>
            <a:r>
              <a:rPr lang="ru-RU" sz="2400" dirty="0" err="1"/>
              <a:t>Random</a:t>
            </a:r>
            <a:r>
              <a:rPr lang="ru-RU" sz="2400" dirty="0"/>
              <a:t> </a:t>
            </a:r>
            <a:r>
              <a:rPr lang="ru-RU" sz="2400" dirty="0" err="1"/>
              <a:t>Forest</a:t>
            </a:r>
            <a:r>
              <a:rPr lang="ru-RU" sz="2400" dirty="0"/>
              <a:t> — добавлена случайность признаков</a:t>
            </a:r>
          </a:p>
        </p:txBody>
      </p:sp>
      <p:pic>
        <p:nvPicPr>
          <p:cNvPr id="4100" name="Picture 4" descr="Бэггинг и случайный лес. Ключевые особенности и реализация с нуля на Python  / Хабр">
            <a:extLst>
              <a:ext uri="{FF2B5EF4-FFF2-40B4-BE49-F238E27FC236}">
                <a16:creationId xmlns:a16="http://schemas.microsoft.com/office/drawing/2014/main" id="{552A5D37-CFA9-4952-AA1B-87EEE9B67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360391"/>
            <a:ext cx="4967288" cy="268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52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F456B-B58D-454E-922B-E9CC17945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48" y="39134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err="1"/>
              <a:t>Бустинг</a:t>
            </a:r>
            <a:r>
              <a:rPr lang="ru-RU" sz="3200" dirty="0"/>
              <a:t> – </a:t>
            </a:r>
            <a:r>
              <a:rPr lang="en-US" sz="3200" dirty="0"/>
              <a:t>Boosting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91369-70DD-4059-864B-2FBAB226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601027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Модели учатся одна за другой</a:t>
            </a:r>
          </a:p>
          <a:p>
            <a:r>
              <a:rPr lang="ru-RU" sz="2400" dirty="0"/>
              <a:t>Каждая следующая фокусируется на ошибках предыдущей</a:t>
            </a:r>
          </a:p>
          <a:p>
            <a:r>
              <a:rPr lang="ru-RU" sz="2400" dirty="0"/>
              <a:t>Риск: при слишком многих итерациях - переобучение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92266B-D3D2-45E5-A8FF-2877166C7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4" y="1913419"/>
            <a:ext cx="5777497" cy="228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4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C5F29-3614-4059-AD4E-07D71466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63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err="1"/>
              <a:t>Стэкинг</a:t>
            </a:r>
            <a:r>
              <a:rPr lang="ru-RU" sz="3200" dirty="0"/>
              <a:t> - </a:t>
            </a:r>
            <a:r>
              <a:rPr lang="en-US" sz="3200" dirty="0"/>
              <a:t>stacking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3FDFE0-5CF8-477F-97AB-DC067806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300"/>
            <a:ext cx="6038850" cy="4351338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323232"/>
                </a:solidFill>
                <a:effectLst/>
              </a:rPr>
              <a:t>объединение разнородных алгоритмов для достижения максимальной точности</a:t>
            </a:r>
            <a:endParaRPr lang="en-US" sz="2400" b="0" i="0" dirty="0">
              <a:solidFill>
                <a:srgbClr val="323232"/>
              </a:solidFill>
              <a:effectLst/>
            </a:endParaRPr>
          </a:p>
          <a:p>
            <a:r>
              <a:rPr lang="ru-RU" sz="2400" b="0" i="0" dirty="0">
                <a:solidFill>
                  <a:srgbClr val="323232"/>
                </a:solidFill>
                <a:effectLst/>
              </a:rPr>
              <a:t>предсказания базовых моделей (</a:t>
            </a:r>
            <a:r>
              <a:rPr lang="ru-RU" sz="2400" b="0" i="0" dirty="0" err="1">
                <a:solidFill>
                  <a:srgbClr val="323232"/>
                </a:solidFill>
                <a:effectLst/>
              </a:rPr>
              <a:t>метафакторы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) используются для обучения метамодели, которая делает финальное предсказание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BB913A-F1DC-434E-B627-3064B6EB6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707" y="2078146"/>
            <a:ext cx="5658293" cy="270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1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3F87F-435C-4430-91E2-C593F1B7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33" y="46886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3DAE5A-1C59-4DA1-9793-8A9C3F88A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2825"/>
            <a:ext cx="10515600" cy="4351338"/>
          </a:xfrm>
        </p:spPr>
        <p:txBody>
          <a:bodyPr/>
          <a:lstStyle/>
          <a:p>
            <a:r>
              <a:rPr lang="ru-RU" dirty="0" err="1"/>
              <a:t>Ансамблирование</a:t>
            </a:r>
            <a:r>
              <a:rPr lang="ru-RU" dirty="0"/>
              <a:t> снижает дисперсию → борется с переобучением</a:t>
            </a:r>
          </a:p>
          <a:p>
            <a:r>
              <a:rPr lang="ru-RU" dirty="0" err="1"/>
              <a:t>Бэггинг</a:t>
            </a:r>
            <a:r>
              <a:rPr lang="ru-RU" dirty="0"/>
              <a:t> (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) - самый надёжный «из коробки»</a:t>
            </a:r>
          </a:p>
          <a:p>
            <a:r>
              <a:rPr lang="ru-RU" dirty="0" err="1"/>
              <a:t>Бустинг</a:t>
            </a:r>
            <a:r>
              <a:rPr lang="ru-RU" dirty="0"/>
              <a:t> максимально точен, но требует тонкой настройки</a:t>
            </a:r>
          </a:p>
        </p:txBody>
      </p:sp>
    </p:spTree>
    <p:extLst>
      <p:ext uri="{BB962C8B-B14F-4D97-AF65-F5344CB8AC3E}">
        <p14:creationId xmlns:p14="http://schemas.microsoft.com/office/powerpoint/2010/main" val="3711947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209</Words>
  <Application>Microsoft Office PowerPoint</Application>
  <PresentationFormat>Широкоэкранный</PresentationFormat>
  <Paragraphs>42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Roboto</vt:lpstr>
      <vt:lpstr>Тема Office</vt:lpstr>
      <vt:lpstr>Проблема переобучения. Обзор методов ансамблирования.</vt:lpstr>
      <vt:lpstr>Переобучение (overfitting) - главная угроза обобщающей способности</vt:lpstr>
      <vt:lpstr>Традиционные методы против overfitting</vt:lpstr>
      <vt:lpstr>Ансамблирование как решение</vt:lpstr>
      <vt:lpstr>Бэггинг - Bootstrap Aggregating</vt:lpstr>
      <vt:lpstr>Бустинг – Boosting</vt:lpstr>
      <vt:lpstr>Стэкинг - stacking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Проблема переобучения. Обзор методов ансамблирования.</dc:title>
  <dc:creator>popylir 42</dc:creator>
  <cp:lastModifiedBy>popylir 42</cp:lastModifiedBy>
  <cp:revision>12</cp:revision>
  <dcterms:created xsi:type="dcterms:W3CDTF">2026-04-03T14:37:30Z</dcterms:created>
  <dcterms:modified xsi:type="dcterms:W3CDTF">2026-04-03T18:41:40Z</dcterms:modified>
</cp:coreProperties>
</file>