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pn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5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eg"/><Relationship Id="rId4" Type="http://schemas.openxmlformats.org/officeDocument/2006/relationships/image" Target="../media/image5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jpe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jpeg"/><Relationship Id="rId4" Type="http://schemas.openxmlformats.org/officeDocument/2006/relationships/image" Target="../media/image5.pn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9.jpeg"/><Relationship Id="rId4" Type="http://schemas.openxmlformats.org/officeDocument/2006/relationships/image" Target="../media/image5.pn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jpeg"/><Relationship Id="rId4" Type="http://schemas.openxmlformats.org/officeDocument/2006/relationships/image" Target="../media/image3.pn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jpeg"/><Relationship Id="rId4" Type="http://schemas.openxmlformats.org/officeDocument/2006/relationships/image" Target="../media/image3.pn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jpeg"/><Relationship Id="rId4" Type="http://schemas.openxmlformats.org/officeDocument/2006/relationships/image" Target="../media/image5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нумерованный спис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body"/>
          </p:nvPr>
        </p:nvSpPr>
        <p:spPr>
          <a:xfrm>
            <a:off x="165600" y="1148760"/>
            <a:ext cx="11832480" cy="54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57200" indent="-457200" defTabSz="914400">
              <a:lnSpc>
                <a:spcPct val="100000"/>
              </a:lnSpc>
              <a:spcBef>
                <a:spcPts val="1001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00280" lvl="1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Второй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57480" lvl="2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Третий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680" lvl="3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Четвертый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71880" lvl="4" indent="-343080" defTabSz="914400">
              <a:lnSpc>
                <a:spcPct val="100000"/>
              </a:lnSpc>
              <a:spcBef>
                <a:spcPts val="499"/>
              </a:spcBef>
              <a:buClr>
                <a:srgbClr val="696969"/>
              </a:buClr>
              <a:buFont typeface="Open Sans Extrabold"/>
              <a:buAutoNum type="arabicPeriod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Пятый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7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9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1" name="Рисунок 140"/>
          <p:cNvPicPr/>
          <p:nvPr/>
        </p:nvPicPr>
        <p:blipFill>
          <a:blip r:embed="rId3"/>
          <a:stretch/>
        </p:blipFill>
        <p:spPr>
          <a:xfrm>
            <a:off x="6008760" y="1179000"/>
            <a:ext cx="618012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2" name="Рисунок 6"/>
          <p:cNvPicPr/>
          <p:nvPr/>
        </p:nvPicPr>
        <p:blipFill>
          <a:blip r:embed="rId4"/>
          <a:stretch/>
        </p:blipFill>
        <p:spPr>
          <a:xfrm>
            <a:off x="-232920" y="-788400"/>
            <a:ext cx="5000040" cy="2698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в центре + врезк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4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" name="Рисунок 3"/>
          <p:cNvPicPr/>
          <p:nvPr/>
        </p:nvPicPr>
        <p:blipFill>
          <a:blip r:embed="rId3"/>
          <a:stretch/>
        </p:blipFill>
        <p:spPr>
          <a:xfrm>
            <a:off x="0" y="1213200"/>
            <a:ext cx="12200400" cy="201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Прямоугольник: один усеченный угол 11"/>
          <p:cNvSpPr/>
          <p:nvPr/>
        </p:nvSpPr>
        <p:spPr>
          <a:xfrm>
            <a:off x="7833240" y="2560320"/>
            <a:ext cx="3930120" cy="3997080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Open Sans"/>
              </a:rPr>
              <a:t>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body"/>
          </p:nvPr>
        </p:nvSpPr>
        <p:spPr>
          <a:xfrm>
            <a:off x="8161560" y="2830320"/>
            <a:ext cx="3048120" cy="220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177120" y="3406320"/>
            <a:ext cx="7311960" cy="313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7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21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23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24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grpSp>
        <p:nvGrpSpPr>
          <p:cNvPr id="25" name="Группа 52"/>
          <p:cNvGrpSpPr/>
          <p:nvPr/>
        </p:nvGrpSpPr>
        <p:grpSpPr>
          <a:xfrm>
            <a:off x="9142920" y="0"/>
            <a:ext cx="2530800" cy="1476720"/>
            <a:chOff x="9142920" y="0"/>
            <a:chExt cx="2530800" cy="1476720"/>
          </a:xfrm>
        </p:grpSpPr>
        <p:cxnSp>
          <p:nvCxnSpPr>
            <p:cNvPr id="26" name="Прямая соединительная линия 54"/>
            <p:cNvCxnSpPr/>
            <p:nvPr/>
          </p:nvCxnSpPr>
          <p:spPr>
            <a:xfrm flipV="1">
              <a:off x="914292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27" name="Прямая соединительная линия 56"/>
            <p:cNvCxnSpPr/>
            <p:nvPr/>
          </p:nvCxnSpPr>
          <p:spPr>
            <a:xfrm flipV="1">
              <a:off x="925740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28" name="Прямая соединительная линия 57"/>
            <p:cNvCxnSpPr/>
            <p:nvPr/>
          </p:nvCxnSpPr>
          <p:spPr>
            <a:xfrm flipV="1">
              <a:off x="936468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29" name="Прямая соединительная линия 58"/>
            <p:cNvCxnSpPr/>
            <p:nvPr/>
          </p:nvCxnSpPr>
          <p:spPr>
            <a:xfrm flipV="1">
              <a:off x="947916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0" name="Прямая соединительная линия 59"/>
            <p:cNvCxnSpPr/>
            <p:nvPr/>
          </p:nvCxnSpPr>
          <p:spPr>
            <a:xfrm flipV="1">
              <a:off x="959436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1" name="Прямая соединительная линия 60"/>
            <p:cNvCxnSpPr/>
            <p:nvPr/>
          </p:nvCxnSpPr>
          <p:spPr>
            <a:xfrm flipV="1">
              <a:off x="970920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2" name="Прямая соединительная линия 61"/>
            <p:cNvCxnSpPr/>
            <p:nvPr/>
          </p:nvCxnSpPr>
          <p:spPr>
            <a:xfrm flipV="1">
              <a:off x="981648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3" name="Прямая соединительная линия 62"/>
            <p:cNvCxnSpPr/>
            <p:nvPr/>
          </p:nvCxnSpPr>
          <p:spPr>
            <a:xfrm flipV="1">
              <a:off x="993096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4" name="Прямая соединительная линия 63"/>
            <p:cNvCxnSpPr/>
            <p:nvPr/>
          </p:nvCxnSpPr>
          <p:spPr>
            <a:xfrm flipV="1">
              <a:off x="1004976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5" name="Прямая соединительная линия 64"/>
            <p:cNvCxnSpPr/>
            <p:nvPr/>
          </p:nvCxnSpPr>
          <p:spPr>
            <a:xfrm flipV="1">
              <a:off x="1016424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6" name="Прямая соединительная линия 65"/>
            <p:cNvCxnSpPr/>
            <p:nvPr/>
          </p:nvCxnSpPr>
          <p:spPr>
            <a:xfrm flipV="1">
              <a:off x="1027152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7" name="Прямая соединительная линия 66"/>
            <p:cNvCxnSpPr/>
            <p:nvPr/>
          </p:nvCxnSpPr>
          <p:spPr>
            <a:xfrm flipV="1">
              <a:off x="10386000" y="0"/>
              <a:ext cx="83628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8" name="Прямая соединительная линия 67"/>
            <p:cNvCxnSpPr/>
            <p:nvPr/>
          </p:nvCxnSpPr>
          <p:spPr>
            <a:xfrm flipV="1">
              <a:off x="1050120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39" name="Прямая соединительная линия 68"/>
            <p:cNvCxnSpPr/>
            <p:nvPr/>
          </p:nvCxnSpPr>
          <p:spPr>
            <a:xfrm flipV="1">
              <a:off x="1061568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40" name="Прямая соединительная линия 69"/>
            <p:cNvCxnSpPr/>
            <p:nvPr/>
          </p:nvCxnSpPr>
          <p:spPr>
            <a:xfrm flipV="1">
              <a:off x="1072296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  <p:cxnSp>
          <p:nvCxnSpPr>
            <p:cNvPr id="41" name="Прямая соединительная линия 70"/>
            <p:cNvCxnSpPr/>
            <p:nvPr/>
          </p:nvCxnSpPr>
          <p:spPr>
            <a:xfrm flipV="1">
              <a:off x="10837440" y="0"/>
              <a:ext cx="836640" cy="1477080"/>
            </a:xfrm>
            <a:prstGeom prst="straightConnector1">
              <a:avLst/>
            </a:prstGeom>
            <a:ln w="12700">
              <a:solidFill>
                <a:schemeClr val="lt1">
                  <a:alpha val="30000"/>
                </a:schemeClr>
              </a:solidFill>
              <a:round/>
            </a:ln>
          </p:spPr>
        </p:cxnSp>
      </p:grpSp>
      <p:pic>
        <p:nvPicPr>
          <p:cNvPr id="42" name="Рисунок 140"/>
          <p:cNvPicPr/>
          <p:nvPr/>
        </p:nvPicPr>
        <p:blipFill>
          <a:blip r:embed="rId3"/>
          <a:stretch/>
        </p:blipFill>
        <p:spPr>
          <a:xfrm>
            <a:off x="6008760" y="1179000"/>
            <a:ext cx="618012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Рисунок 23"/>
          <p:cNvPicPr/>
          <p:nvPr/>
        </p:nvPicPr>
        <p:blipFill>
          <a:blip r:embed="rId4"/>
          <a:stretch/>
        </p:blipFill>
        <p:spPr>
          <a:xfrm>
            <a:off x="-317520" y="-672120"/>
            <a:ext cx="4569120" cy="246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45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" name="PlaceHolder 1"/>
          <p:cNvSpPr>
            <a:spLocks noGrp="1"/>
          </p:cNvSpPr>
          <p:nvPr>
            <p:ph type="body"/>
          </p:nvPr>
        </p:nvSpPr>
        <p:spPr>
          <a:xfrm>
            <a:off x="171360" y="1166040"/>
            <a:ext cx="11849760" cy="5511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Второй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2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Третий уровень</a:t>
            </a:r>
            <a:endParaRPr lang="ru-RU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Четвертый уровень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Пятый уровень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Заголовок + ненумер. спис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49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165600" y="1188720"/>
            <a:ext cx="6083280" cy="54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696969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426360" y="1182960"/>
            <a:ext cx="5577480" cy="5488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696969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696969"/>
              </a:buClr>
              <a:buFont typeface="Arial"/>
              <a:buChar char="•"/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Простой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54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171360" y="1177200"/>
            <a:ext cx="11809800" cy="548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+ текст + рисунок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58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" name="PlaceHolder 1"/>
          <p:cNvSpPr>
            <a:spLocks noGrp="1"/>
          </p:cNvSpPr>
          <p:nvPr>
            <p:ph type="body"/>
          </p:nvPr>
        </p:nvSpPr>
        <p:spPr>
          <a:xfrm>
            <a:off x="5183280" y="0"/>
            <a:ext cx="7005600" cy="685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171360" y="1138680"/>
            <a:ext cx="4828680" cy="551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483732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Диаграмма + текст справ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6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PlaceHolder 1"/>
          <p:cNvSpPr>
            <a:spLocks noGrp="1"/>
          </p:cNvSpPr>
          <p:nvPr>
            <p:ph type="body"/>
          </p:nvPr>
        </p:nvSpPr>
        <p:spPr>
          <a:xfrm>
            <a:off x="6409080" y="1222920"/>
            <a:ext cx="5572080" cy="5369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171360" y="1229040"/>
            <a:ext cx="6049080" cy="5351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6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9580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+ подпись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7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68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12188880" cy="570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178200" y="5852160"/>
            <a:ext cx="11882880" cy="65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5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72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3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74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75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76" name="Рисунок 6"/>
          <p:cNvPicPr/>
          <p:nvPr/>
        </p:nvPicPr>
        <p:blipFill>
          <a:blip r:embed="rId3"/>
          <a:stretch/>
        </p:blipFill>
        <p:spPr>
          <a:xfrm>
            <a:off x="5187240" y="1179000"/>
            <a:ext cx="700164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7" name="Рисунок 7"/>
          <p:cNvPicPr/>
          <p:nvPr/>
        </p:nvPicPr>
        <p:blipFill>
          <a:blip r:embed="rId4"/>
          <a:stretch/>
        </p:blipFill>
        <p:spPr>
          <a:xfrm>
            <a:off x="-317520" y="-672120"/>
            <a:ext cx="4569120" cy="246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Рисунок слев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79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003360" cy="685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2"/>
          <p:cNvSpPr>
            <a:spLocks noGrp="1"/>
          </p:cNvSpPr>
          <p:nvPr>
            <p:ph type="body"/>
          </p:nvPr>
        </p:nvSpPr>
        <p:spPr>
          <a:xfrm>
            <a:off x="6465960" y="1786320"/>
            <a:ext cx="5239440" cy="65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3"/>
          <p:cNvSpPr>
            <a:spLocks noGrp="1"/>
          </p:cNvSpPr>
          <p:nvPr>
            <p:ph type="title"/>
          </p:nvPr>
        </p:nvSpPr>
        <p:spPr>
          <a:xfrm>
            <a:off x="6462000" y="554400"/>
            <a:ext cx="5261040" cy="89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84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6003360" cy="6854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291360" y="1786320"/>
            <a:ext cx="5678640" cy="65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title"/>
          </p:nvPr>
        </p:nvSpPr>
        <p:spPr>
          <a:xfrm>
            <a:off x="6296400" y="554400"/>
            <a:ext cx="4995000" cy="891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Рисунок в центре + врезка + текс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89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Рисунок 3"/>
          <p:cNvPicPr/>
          <p:nvPr/>
        </p:nvPicPr>
        <p:blipFill>
          <a:blip r:embed="rId3"/>
          <a:stretch/>
        </p:blipFill>
        <p:spPr>
          <a:xfrm>
            <a:off x="0" y="1213200"/>
            <a:ext cx="7619400" cy="2014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" name="Прямоугольник: один усеченный угол 11"/>
          <p:cNvSpPr/>
          <p:nvPr/>
        </p:nvSpPr>
        <p:spPr>
          <a:xfrm>
            <a:off x="7833240" y="1213200"/>
            <a:ext cx="3930120" cy="5328000"/>
          </a:xfrm>
          <a:prstGeom prst="snip1Rect">
            <a:avLst>
              <a:gd name="adj" fmla="val 12725"/>
            </a:avLst>
          </a:prstGeom>
          <a:solidFill>
            <a:srgbClr val="f8f1f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Open Sans"/>
              </a:rPr>
              <a:t>          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1"/>
          <p:cNvSpPr>
            <a:spLocks noGrp="1"/>
          </p:cNvSpPr>
          <p:nvPr>
            <p:ph type="body"/>
          </p:nvPr>
        </p:nvSpPr>
        <p:spPr>
          <a:xfrm>
            <a:off x="8161560" y="1483200"/>
            <a:ext cx="3048120" cy="2207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177120" y="3406320"/>
            <a:ext cx="7311960" cy="3134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96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7" name="Прямоугольник 4"/>
          <p:cNvSpPr/>
          <p:nvPr/>
        </p:nvSpPr>
        <p:spPr>
          <a:xfrm>
            <a:off x="8204040" y="0"/>
            <a:ext cx="3984480" cy="3681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98" name="Рисунок 7"/>
          <p:cNvPicPr/>
          <p:nvPr/>
        </p:nvPicPr>
        <p:blipFill>
          <a:blip r:embed="rId3"/>
          <a:stretch/>
        </p:blipFill>
        <p:spPr>
          <a:xfrm>
            <a:off x="0" y="0"/>
            <a:ext cx="8200800" cy="68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9" name="Прямоугольник 5"/>
          <p:cNvSpPr/>
          <p:nvPr/>
        </p:nvSpPr>
        <p:spPr>
          <a:xfrm>
            <a:off x="8204040" y="6200640"/>
            <a:ext cx="3984480" cy="654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0" name="Прямоугольник 9"/>
          <p:cNvSpPr/>
          <p:nvPr/>
        </p:nvSpPr>
        <p:spPr>
          <a:xfrm>
            <a:off x="1086840" y="3684960"/>
            <a:ext cx="7113960" cy="251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01" name="Прямоугольник 8"/>
          <p:cNvSpPr/>
          <p:nvPr/>
        </p:nvSpPr>
        <p:spPr>
          <a:xfrm>
            <a:off x="1168560" y="3746520"/>
            <a:ext cx="11020320" cy="238428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02" name="Рисунок 10"/>
          <p:cNvPicPr/>
          <p:nvPr/>
        </p:nvPicPr>
        <p:blipFill>
          <a:blip r:embed="rId4"/>
          <a:stretch/>
        </p:blipFill>
        <p:spPr>
          <a:xfrm>
            <a:off x="7912080" y="-646920"/>
            <a:ext cx="4569120" cy="246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&quot;Дорожная карта&quot;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04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5" name="Соединительная линия уступом 5"/>
          <p:cNvCxnSpPr/>
          <p:nvPr/>
        </p:nvCxnSpPr>
        <p:spPr>
          <a:xfrm>
            <a:off x="165600" y="1417320"/>
            <a:ext cx="11759040" cy="1197360"/>
          </a:xfrm>
          <a:prstGeom prst="bentConnector3">
            <a:avLst>
              <a:gd name="adj1" fmla="val 50001"/>
            </a:avLst>
          </a:prstGeom>
          <a:ln w="0">
            <a:solidFill>
              <a:srgbClr val="696969"/>
            </a:solidFill>
          </a:ln>
        </p:spPr>
      </p:cxnSp>
      <p:sp>
        <p:nvSpPr>
          <p:cNvPr id="106" name="PlaceHolder 1"/>
          <p:cNvSpPr>
            <a:spLocks noGrp="1"/>
          </p:cNvSpPr>
          <p:nvPr>
            <p:ph type="body"/>
          </p:nvPr>
        </p:nvSpPr>
        <p:spPr>
          <a:xfrm>
            <a:off x="348480" y="1603440"/>
            <a:ext cx="1557000" cy="23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body"/>
          </p:nvPr>
        </p:nvSpPr>
        <p:spPr>
          <a:xfrm>
            <a:off x="2711520" y="1603440"/>
            <a:ext cx="1557000" cy="23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3"/>
          <p:cNvSpPr>
            <a:spLocks noGrp="1"/>
          </p:cNvSpPr>
          <p:nvPr>
            <p:ph type="body"/>
          </p:nvPr>
        </p:nvSpPr>
        <p:spPr>
          <a:xfrm>
            <a:off x="6308640" y="1277640"/>
            <a:ext cx="5609520" cy="55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4"/>
          <p:cNvSpPr>
            <a:spLocks noGrp="1"/>
          </p:cNvSpPr>
          <p:nvPr>
            <p:ph type="body"/>
          </p:nvPr>
        </p:nvSpPr>
        <p:spPr>
          <a:xfrm>
            <a:off x="5879880" y="2781000"/>
            <a:ext cx="3414960" cy="101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5"/>
          <p:cNvSpPr>
            <a:spLocks noGrp="1"/>
          </p:cNvSpPr>
          <p:nvPr>
            <p:ph type="body"/>
          </p:nvPr>
        </p:nvSpPr>
        <p:spPr>
          <a:xfrm>
            <a:off x="9479160" y="2781000"/>
            <a:ext cx="2439000" cy="1010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6"/>
          <p:cNvSpPr>
            <a:spLocks noGrp="1"/>
          </p:cNvSpPr>
          <p:nvPr>
            <p:ph type="body"/>
          </p:nvPr>
        </p:nvSpPr>
        <p:spPr>
          <a:xfrm>
            <a:off x="348480" y="4821840"/>
            <a:ext cx="11609640" cy="149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1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Open Sans"/>
                <a:ea typeface="Open Sans"/>
              </a:rPr>
              <a:t>Образец текста</a:t>
            </a:r>
            <a:endParaRPr lang="ru-RU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7"/>
          <p:cNvSpPr>
            <a:spLocks noGrp="1"/>
          </p:cNvSpPr>
          <p:nvPr>
            <p:ph type="title"/>
          </p:nvPr>
        </p:nvSpPr>
        <p:spPr>
          <a:xfrm>
            <a:off x="165600" y="434520"/>
            <a:ext cx="10857240" cy="556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  <a:ea typeface="Open Sans Extrabold"/>
              </a:rPr>
              <a:t>Образец заголовка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Титульный слайд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14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5" name="Прямоугольник 4"/>
          <p:cNvSpPr/>
          <p:nvPr/>
        </p:nvSpPr>
        <p:spPr>
          <a:xfrm>
            <a:off x="8204040" y="0"/>
            <a:ext cx="3984480" cy="3681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16" name="Рисунок 7"/>
          <p:cNvPicPr/>
          <p:nvPr/>
        </p:nvPicPr>
        <p:blipFill>
          <a:blip r:embed="rId3"/>
          <a:stretch/>
        </p:blipFill>
        <p:spPr>
          <a:xfrm>
            <a:off x="0" y="0"/>
            <a:ext cx="8200800" cy="6854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Прямоугольник 5"/>
          <p:cNvSpPr/>
          <p:nvPr/>
        </p:nvSpPr>
        <p:spPr>
          <a:xfrm>
            <a:off x="8204040" y="6200640"/>
            <a:ext cx="3984480" cy="65412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18" name="Прямоугольник 6"/>
          <p:cNvSpPr/>
          <p:nvPr/>
        </p:nvSpPr>
        <p:spPr>
          <a:xfrm>
            <a:off x="8204040" y="396720"/>
            <a:ext cx="3984480" cy="1137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19" name="Прямоугольник 9"/>
          <p:cNvSpPr/>
          <p:nvPr/>
        </p:nvSpPr>
        <p:spPr>
          <a:xfrm>
            <a:off x="1086840" y="3684960"/>
            <a:ext cx="7113960" cy="25124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0" name="Прямоугольник 8"/>
          <p:cNvSpPr/>
          <p:nvPr/>
        </p:nvSpPr>
        <p:spPr>
          <a:xfrm>
            <a:off x="1168560" y="3746520"/>
            <a:ext cx="11020320" cy="238428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21" name="Рисунок 10"/>
          <p:cNvPicPr/>
          <p:nvPr/>
        </p:nvPicPr>
        <p:blipFill>
          <a:blip r:embed="rId4"/>
          <a:stretch/>
        </p:blipFill>
        <p:spPr>
          <a:xfrm>
            <a:off x="7912080" y="-267480"/>
            <a:ext cx="4569120" cy="2465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69560" cy="1141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текста заглавия щёлкните мышью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69560" cy="3974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Для правки структуры щёлкните мышью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Четвёртый уровень структуры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Шестой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Седьмой уровень структуры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25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7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8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body"/>
          </p:nvPr>
        </p:nvSpPr>
        <p:spPr>
          <a:xfrm>
            <a:off x="439200" y="2249640"/>
            <a:ext cx="5105160" cy="487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Образец текста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Второй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Третий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Четвертый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indent="0" defTabSz="914400">
              <a:lnSpc>
                <a:spcPct val="9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lang="ru-RU" sz="1600" b="0" u="none" strike="noStrike">
                <a:solidFill>
                  <a:schemeClr val="lt1"/>
                </a:solidFill>
                <a:effectLst/>
                <a:uFillTx/>
                <a:latin typeface="Open Sans Light"/>
                <a:ea typeface="Open Sans Light"/>
              </a:rPr>
              <a:t>Пятый уровень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Прямоугольник 3"/>
          <p:cNvSpPr/>
          <p:nvPr/>
        </p:nvSpPr>
        <p:spPr>
          <a:xfrm>
            <a:off x="439200" y="1354680"/>
            <a:ext cx="2109960" cy="51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2800" b="0" u="none" strike="noStrike">
                <a:solidFill>
                  <a:schemeClr val="lt1"/>
                </a:solidFill>
                <a:effectLst/>
                <a:uFillTx/>
                <a:latin typeface="Open Sans Extrabold"/>
                <a:ea typeface="Open Sans Extrabold"/>
              </a:rPr>
              <a:t>Контакты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1" name="Рисунок 8"/>
          <p:cNvPicPr/>
          <p:nvPr/>
        </p:nvPicPr>
        <p:blipFill>
          <a:blip r:embed="rId3"/>
          <a:stretch/>
        </p:blipFill>
        <p:spPr>
          <a:xfrm>
            <a:off x="-232920" y="-788400"/>
            <a:ext cx="5000040" cy="2698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Заголовок и объект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33" name="Рисунок 3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0" u="none" strike="noStrike">
                <a:solidFill>
                  <a:schemeClr val="dk1"/>
                </a:solidFill>
                <a:effectLst/>
                <a:uFillTx/>
                <a:latin typeface="Open Sans Extrabold"/>
              </a:rPr>
              <a:t>Образец заголовка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181818"/>
              </a:buClr>
              <a:buFont typeface="Arial"/>
              <a:buChar char="•"/>
            </a:pPr>
            <a:r>
              <a:rPr lang="ru-RU" sz="2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Образец текста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24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Второй уровень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Третий уровень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Четвертый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181818"/>
              </a:buClr>
              <a:buFont typeface="Arial"/>
              <a:buChar char="•"/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Пятый уровень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&lt;дата/время&gt;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15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ru-R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&lt;нижний колонтитул&gt;</a:t>
            </a:r>
            <a:endParaRPr lang="ru-R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39960" cy="361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2926CC6-F352-4740-90F9-A1C767D28502}" type="slidenum">
              <a:rPr lang="ru-RU" sz="18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&lt;номер&gt;</a:t>
            </a:fld>
            <a:endParaRPr lang="ru-RU" sz="1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9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40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rgbClr val="9238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42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43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44" name="Рисунок 6"/>
          <p:cNvPicPr/>
          <p:nvPr/>
        </p:nvPicPr>
        <p:blipFill>
          <a:blip r:embed="rId3"/>
          <a:stretch/>
        </p:blipFill>
        <p:spPr>
          <a:xfrm>
            <a:off x="5187240" y="1179000"/>
            <a:ext cx="700164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5" name="Рисунок 1"/>
          <p:cNvPicPr/>
          <p:nvPr/>
        </p:nvPicPr>
        <p:blipFill>
          <a:blip r:embed="rId4"/>
          <a:stretch/>
        </p:blipFill>
        <p:spPr>
          <a:xfrm>
            <a:off x="-232920" y="-788400"/>
            <a:ext cx="5000040" cy="2698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6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47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8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49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50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51" name="Рисунок 6"/>
          <p:cNvPicPr/>
          <p:nvPr/>
        </p:nvPicPr>
        <p:blipFill>
          <a:blip r:embed="rId3"/>
          <a:stretch/>
        </p:blipFill>
        <p:spPr>
          <a:xfrm>
            <a:off x="5945760" y="1179000"/>
            <a:ext cx="624276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2" name="Рисунок 7"/>
          <p:cNvPicPr/>
          <p:nvPr/>
        </p:nvPicPr>
        <p:blipFill>
          <a:blip r:embed="rId4"/>
          <a:stretch/>
        </p:blipFill>
        <p:spPr>
          <a:xfrm>
            <a:off x="-232920" y="-788400"/>
            <a:ext cx="5000040" cy="269820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6_Заголовок раздела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3" name="Прямая соединительная линия 4"/>
          <p:cNvCxnSpPr/>
          <p:nvPr/>
        </p:nvCxnSpPr>
        <p:spPr>
          <a:xfrm>
            <a:off x="0" y="163800"/>
            <a:ext cx="10551240" cy="3240"/>
          </a:xfrm>
          <a:prstGeom prst="straightConnector1">
            <a:avLst/>
          </a:prstGeom>
          <a:ln w="9525">
            <a:solidFill>
              <a:srgbClr val="923826"/>
            </a:solidFill>
            <a:round/>
          </a:ln>
        </p:spPr>
      </p:cxnSp>
      <p:pic>
        <p:nvPicPr>
          <p:cNvPr id="154" name="Рисунок 3" hidden="1"/>
          <p:cNvPicPr/>
          <p:nvPr/>
        </p:nvPicPr>
        <p:blipFill>
          <a:blip r:embed="rId2"/>
          <a:stretch/>
        </p:blipFill>
        <p:spPr>
          <a:xfrm>
            <a:off x="10343880" y="-309240"/>
            <a:ext cx="2041560" cy="1100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Прямоугольник 9"/>
          <p:cNvSpPr/>
          <p:nvPr/>
        </p:nvSpPr>
        <p:spPr>
          <a:xfrm>
            <a:off x="0" y="1179000"/>
            <a:ext cx="12188880" cy="4119120"/>
          </a:xfrm>
          <a:prstGeom prst="rect">
            <a:avLst/>
          </a:prstGeom>
          <a:solidFill>
            <a:srgbClr val="d3b2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56" name="Прямоугольник 12"/>
          <p:cNvSpPr/>
          <p:nvPr/>
        </p:nvSpPr>
        <p:spPr>
          <a:xfrm>
            <a:off x="0" y="0"/>
            <a:ext cx="12188880" cy="11214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sp>
        <p:nvSpPr>
          <p:cNvPr id="157" name="Прямоугольник 13"/>
          <p:cNvSpPr/>
          <p:nvPr/>
        </p:nvSpPr>
        <p:spPr>
          <a:xfrm>
            <a:off x="0" y="5360040"/>
            <a:ext cx="12188880" cy="14947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ru-RU" sz="1800" b="0" u="none" strike="noStrike">
              <a:solidFill>
                <a:schemeClr val="lt1"/>
              </a:solidFill>
              <a:effectLst/>
              <a:uFillTx/>
              <a:latin typeface="Open Sans"/>
            </a:endParaRPr>
          </a:p>
        </p:txBody>
      </p:sp>
      <p:pic>
        <p:nvPicPr>
          <p:cNvPr id="158" name="Рисунок 6"/>
          <p:cNvPicPr/>
          <p:nvPr/>
        </p:nvPicPr>
        <p:blipFill>
          <a:blip r:embed="rId3"/>
          <a:stretch/>
        </p:blipFill>
        <p:spPr>
          <a:xfrm>
            <a:off x="5945760" y="1179000"/>
            <a:ext cx="6242760" cy="4119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9" name="Рисунок 10"/>
          <p:cNvPicPr/>
          <p:nvPr/>
        </p:nvPicPr>
        <p:blipFill>
          <a:blip r:embed="rId4"/>
          <a:stretch/>
        </p:blipFill>
        <p:spPr>
          <a:xfrm>
            <a:off x="-317520" y="-672120"/>
            <a:ext cx="4569120" cy="2465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slideLayout" Target="../slideLayouts/slideLayout1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slideLayout" Target="../slideLayouts/slideLayout1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slideLayout" Target="../slideLayouts/slideLayout1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slideLayout" Target="../slideLayouts/slideLayout1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hyperlink" Target="https://www.geeksforgeeks.org/machine-learning/history-and-evolution-of-machine-learning/" TargetMode="External"/><Relationship Id="rId2" Type="http://schemas.openxmlformats.org/officeDocument/2006/relationships/hyperlink" Target="https://machinelearningmastery.com/a-tour-of-machine-learning-algorithms/" TargetMode="External"/><Relationship Id="rId3" Type="http://schemas.openxmlformats.org/officeDocument/2006/relationships/slideLayout" Target="../slideLayouts/slideLayout1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Прямоугольник 4"/>
          <p:cNvSpPr/>
          <p:nvPr/>
        </p:nvSpPr>
        <p:spPr>
          <a:xfrm>
            <a:off x="1620000" y="3960000"/>
            <a:ext cx="9055800" cy="210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ru-RU" sz="3600" b="1" u="none" strike="noStrike">
                <a:solidFill>
                  <a:srgbClr val="f8f1f1"/>
                </a:solidFill>
                <a:effectLst/>
                <a:uFillTx/>
                <a:latin typeface="Open Sans"/>
              </a:rPr>
              <a:t>История развития интеллектуальных технологий обработки данных.</a:t>
            </a:r>
            <a:br>
              <a:rPr sz="3600"/>
            </a:br>
            <a:r>
              <a:rPr lang="ru-RU" sz="2400" b="0" i="1" u="none" strike="noStrike">
                <a:solidFill>
                  <a:srgbClr val="f8f1f1"/>
                </a:solidFill>
                <a:effectLst/>
                <a:uFillTx/>
                <a:latin typeface="Open Sans"/>
              </a:rPr>
              <a:t> Брагин Д.В.</a:t>
            </a:r>
            <a:endParaRPr lang="ru-R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Актуальность и цель</a:t>
            </a:r>
            <a:br>
              <a:rPr sz="4400"/>
            </a:b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/>
          </p:nvPr>
        </p:nvSpPr>
        <p:spPr>
          <a:xfrm>
            <a:off x="900000" y="177012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Актуальность: современные нейросетевые прорывы базируются на математическом фундаменте прошлых лет.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Clr>
                <a:srgbClr val="000000"/>
              </a:buClr>
              <a:buSzPct val="45000"/>
              <a:buFont typeface="Wingdings" charset="2"/>
              <a:buChar char=""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Цель: Проследить, как менялись подходы к извлечению смысла из данных за последние 70 лет.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</a:t>
            </a:r>
            <a:br>
              <a:rPr sz="3200"/>
            </a:b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Истоки (до 1950-х) </a:t>
            </a:r>
            <a:br>
              <a:rPr sz="1000"/>
            </a:br>
            <a:r>
              <a:rPr lang="ru-RU" sz="10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 </a:t>
            </a:r>
            <a:br>
              <a:rPr sz="1000"/>
            </a:br>
            <a:endParaRPr lang="ru-RU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1620000" y="1980000"/>
            <a:ext cx="1778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5" name=""/>
          <p:cNvPicPr/>
          <p:nvPr/>
        </p:nvPicPr>
        <p:blipFill>
          <a:blip r:embed="rId1"/>
          <a:stretch/>
        </p:blipFill>
        <p:spPr>
          <a:xfrm>
            <a:off x="1112400" y="2602080"/>
            <a:ext cx="3204720" cy="9950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6" name=""/>
          <p:cNvPicPr/>
          <p:nvPr/>
        </p:nvPicPr>
        <p:blipFill>
          <a:blip r:embed="rId2"/>
          <a:stretch/>
        </p:blipFill>
        <p:spPr>
          <a:xfrm>
            <a:off x="5940000" y="2700000"/>
            <a:ext cx="3601080" cy="79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7" name=""/>
          <p:cNvPicPr/>
          <p:nvPr/>
        </p:nvPicPr>
        <p:blipFill>
          <a:blip r:embed="rId3"/>
          <a:stretch/>
        </p:blipFill>
        <p:spPr>
          <a:xfrm>
            <a:off x="5940000" y="3600000"/>
            <a:ext cx="3006720" cy="1307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8" name=""/>
          <p:cNvSpPr/>
          <p:nvPr/>
        </p:nvSpPr>
        <p:spPr>
          <a:xfrm>
            <a:off x="1440000" y="2160000"/>
            <a:ext cx="1978200" cy="35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Теорема Байеса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6300000" y="2203920"/>
            <a:ext cx="3083760" cy="31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Метод наименьших квадратов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0" name=""/>
          <p:cNvPicPr/>
          <p:nvPr/>
        </p:nvPicPr>
        <p:blipFill>
          <a:blip r:embed="rId4"/>
          <a:stretch/>
        </p:blipFill>
        <p:spPr>
          <a:xfrm>
            <a:off x="360000" y="4678560"/>
            <a:ext cx="4682520" cy="973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1" name=""/>
          <p:cNvSpPr/>
          <p:nvPr/>
        </p:nvSpPr>
        <p:spPr>
          <a:xfrm>
            <a:off x="1620000" y="3960000"/>
            <a:ext cx="1713240" cy="34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Цепи Маркова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</a:t>
            </a:r>
            <a:br>
              <a:rPr sz="3200"/>
            </a:b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1950–1960-е — Первые нейросети</a:t>
            </a:r>
            <a:br>
              <a:rPr sz="3200"/>
            </a:b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 </a:t>
            </a:r>
            <a:br>
              <a:rPr sz="3200"/>
            </a:br>
            <a:r>
              <a:rPr lang="ru-RU" sz="32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 </a:t>
            </a:r>
            <a:br>
              <a:rPr sz="3200"/>
            </a:br>
            <a:endParaRPr lang="ru-RU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3" name=""/>
          <p:cNvPicPr/>
          <p:nvPr/>
        </p:nvPicPr>
        <p:blipFill>
          <a:blip r:embed="rId1"/>
          <a:stretch/>
        </p:blipFill>
        <p:spPr>
          <a:xfrm rot="21598200">
            <a:off x="4246560" y="2326320"/>
            <a:ext cx="4569480" cy="342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4" name=""/>
          <p:cNvPicPr/>
          <p:nvPr/>
        </p:nvPicPr>
        <p:blipFill>
          <a:blip r:embed="rId2"/>
          <a:stretch/>
        </p:blipFill>
        <p:spPr>
          <a:xfrm>
            <a:off x="9000000" y="2102760"/>
            <a:ext cx="2755080" cy="365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5" name=""/>
          <p:cNvPicPr/>
          <p:nvPr/>
        </p:nvPicPr>
        <p:blipFill>
          <a:blip r:embed="rId3"/>
          <a:stretch/>
        </p:blipFill>
        <p:spPr>
          <a:xfrm>
            <a:off x="270000" y="2700000"/>
            <a:ext cx="3868920" cy="2471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6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1970–1980-е:   Экспертные системы</a:t>
            </a:r>
            <a:br>
              <a:rPr sz="3600"/>
            </a:br>
            <a:r>
              <a:rPr lang="ru-RU" sz="36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  и первая зима ИИ</a:t>
            </a:r>
            <a:br>
              <a:rPr sz="3600"/>
            </a:b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7" name=""/>
          <p:cNvPicPr/>
          <p:nvPr/>
        </p:nvPicPr>
        <p:blipFill>
          <a:blip r:embed="rId1"/>
          <a:stretch/>
        </p:blipFill>
        <p:spPr>
          <a:xfrm>
            <a:off x="842760" y="3240000"/>
            <a:ext cx="3654360" cy="263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"/>
          <p:cNvSpPr/>
          <p:nvPr/>
        </p:nvSpPr>
        <p:spPr>
          <a:xfrm>
            <a:off x="1305360" y="2340000"/>
            <a:ext cx="301176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Деревья решений (ID3)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6300000" y="2326320"/>
            <a:ext cx="5723280" cy="37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Алгоритм обратного распространения ошибки 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0" name=""/>
          <p:cNvPicPr/>
          <p:nvPr/>
        </p:nvPicPr>
        <p:blipFill>
          <a:blip r:embed="rId2"/>
          <a:stretch/>
        </p:blipFill>
        <p:spPr>
          <a:xfrm>
            <a:off x="5220000" y="3060000"/>
            <a:ext cx="6760440" cy="269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</a:t>
            </a:r>
            <a:r>
              <a:rPr lang="ru-RU" sz="36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Конец 80х-90е — Вторая зима и    Статистический сдвиг</a:t>
            </a:r>
            <a:br>
              <a:rPr sz="3600"/>
            </a:b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2" name=""/>
          <p:cNvPicPr/>
          <p:nvPr/>
        </p:nvPicPr>
        <p:blipFill>
          <a:blip r:embed="rId1"/>
          <a:stretch/>
        </p:blipFill>
        <p:spPr>
          <a:xfrm>
            <a:off x="1080000" y="2340000"/>
            <a:ext cx="4568760" cy="3936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3" name=""/>
          <p:cNvSpPr/>
          <p:nvPr/>
        </p:nvSpPr>
        <p:spPr>
          <a:xfrm>
            <a:off x="1843200" y="1690200"/>
            <a:ext cx="3733920" cy="53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SVM (Метод опорных векторов)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"/>
          <p:cNvSpPr/>
          <p:nvPr/>
        </p:nvSpPr>
        <p:spPr>
          <a:xfrm>
            <a:off x="8625960" y="1690200"/>
            <a:ext cx="1631160" cy="31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lang="ru-RU" sz="16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Random Forest </a:t>
            </a:r>
            <a:endParaRPr lang="ru-RU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5" name=""/>
          <p:cNvPicPr/>
          <p:nvPr/>
        </p:nvPicPr>
        <p:blipFill>
          <a:blip r:embed="rId2"/>
          <a:stretch/>
        </p:blipFill>
        <p:spPr>
          <a:xfrm>
            <a:off x="6300000" y="3176280"/>
            <a:ext cx="5397120" cy="24008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838080" y="32220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6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2000–2010-е — Эпоха Deep Learning</a:t>
            </a:r>
            <a:br>
              <a:rPr sz="3600"/>
            </a:br>
            <a:endParaRPr lang="ru-RU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7" name=""/>
          <p:cNvPicPr/>
          <p:nvPr/>
        </p:nvPicPr>
        <p:blipFill>
          <a:blip r:embed="rId1"/>
          <a:stretch/>
        </p:blipFill>
        <p:spPr>
          <a:xfrm>
            <a:off x="1080000" y="1980000"/>
            <a:ext cx="4070880" cy="1545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8" name=""/>
          <p:cNvPicPr/>
          <p:nvPr/>
        </p:nvPicPr>
        <p:blipFill>
          <a:blip r:embed="rId2"/>
          <a:stretch/>
        </p:blipFill>
        <p:spPr>
          <a:xfrm>
            <a:off x="1080000" y="3780000"/>
            <a:ext cx="6720840" cy="28771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"/>
          <p:cNvPicPr/>
          <p:nvPr/>
        </p:nvPicPr>
        <p:blipFill>
          <a:blip r:embed="rId3"/>
          <a:srcRect l="33317" t="3424" r="35676" b="0"/>
          <a:stretch/>
        </p:blipFill>
        <p:spPr>
          <a:xfrm>
            <a:off x="7920360" y="1440000"/>
            <a:ext cx="3776760" cy="4891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0" name=""/>
          <p:cNvPicPr/>
          <p:nvPr/>
        </p:nvPicPr>
        <p:blipFill>
          <a:blip r:embed="rId4"/>
          <a:stretch/>
        </p:blipFill>
        <p:spPr>
          <a:xfrm>
            <a:off x="5400000" y="1980000"/>
            <a:ext cx="2877120" cy="1617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fontScale="55000" lnSpcReduction="19999"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3259" b="1" u="none" strike="noStrike">
                <a:solidFill>
                  <a:schemeClr val="dk1"/>
                </a:solidFill>
                <a:effectLst/>
                <a:uFillTx/>
                <a:latin typeface="Open Sans Extrabold"/>
              </a:rPr>
              <a:t> </a:t>
            </a:r>
            <a:r>
              <a:rPr lang="ru-RU" sz="3259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</a:t>
            </a:r>
            <a:br>
              <a:rPr sz="3260"/>
            </a:br>
            <a:br>
              <a:rPr sz="3260"/>
            </a:br>
            <a:r>
              <a:rPr lang="ru-RU" sz="3259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  </a:t>
            </a:r>
            <a:br>
              <a:rPr sz="3260"/>
            </a:br>
            <a:br>
              <a:rPr sz="3260"/>
            </a:br>
            <a:endParaRPr lang="ru-RU" sz="32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1980000" y="585360"/>
            <a:ext cx="7176960" cy="108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lang="ru-RU" sz="3259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2020-е — Расцвет больших языковых моделей </a:t>
            </a:r>
            <a:endParaRPr lang="ru-RU" sz="325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3" name=""/>
          <p:cNvPicPr/>
          <p:nvPr/>
        </p:nvPicPr>
        <p:blipFill>
          <a:blip r:embed="rId1"/>
          <a:stretch/>
        </p:blipFill>
        <p:spPr>
          <a:xfrm>
            <a:off x="1457640" y="1839960"/>
            <a:ext cx="3759480" cy="1577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4" name=""/>
          <p:cNvPicPr/>
          <p:nvPr/>
        </p:nvPicPr>
        <p:blipFill>
          <a:blip r:embed="rId2"/>
          <a:stretch/>
        </p:blipFill>
        <p:spPr>
          <a:xfrm>
            <a:off x="1800000" y="3858840"/>
            <a:ext cx="3057120" cy="1718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5" name=""/>
          <p:cNvPicPr/>
          <p:nvPr/>
        </p:nvPicPr>
        <p:blipFill>
          <a:blip r:embed="rId3"/>
          <a:stretch/>
        </p:blipFill>
        <p:spPr>
          <a:xfrm>
            <a:off x="7379280" y="1475640"/>
            <a:ext cx="3597840" cy="2481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96" name=""/>
          <p:cNvPicPr/>
          <p:nvPr/>
        </p:nvPicPr>
        <p:blipFill>
          <a:blip r:embed="rId4"/>
          <a:stretch/>
        </p:blipFill>
        <p:spPr>
          <a:xfrm>
            <a:off x="7020000" y="4140000"/>
            <a:ext cx="3949920" cy="22204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Перспективы и вызовы</a:t>
            </a:r>
            <a:br>
              <a:rPr sz="4400"/>
            </a:b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98" name=""/>
          <p:cNvPicPr/>
          <p:nvPr/>
        </p:nvPicPr>
        <p:blipFill>
          <a:blip r:embed="rId1"/>
          <a:stretch/>
        </p:blipFill>
        <p:spPr>
          <a:xfrm>
            <a:off x="3240000" y="2027520"/>
            <a:ext cx="6092640" cy="3189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132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4400" b="1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Заключение</a:t>
            </a:r>
            <a:endParaRPr lang="ru-RU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2"/>
          <p:cNvSpPr>
            <a:spLocks noGrp="1"/>
          </p:cNvSpPr>
          <p:nvPr>
            <p:ph/>
          </p:nvPr>
        </p:nvSpPr>
        <p:spPr>
          <a:xfrm>
            <a:off x="838080" y="1980000"/>
            <a:ext cx="10512360" cy="4348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Эволюция методов: Мы прошли путь от ручного прописывания правил (1980-е) к автоматическому извлечению знаний из данных (2010-е) и к созиданию новых данных (2020-е).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lang="ru-RU" sz="2000" b="0" u="none" strike="noStrike">
                <a:solidFill>
                  <a:schemeClr val="dk1"/>
                </a:solidFill>
                <a:effectLst/>
                <a:uFillTx/>
                <a:latin typeface="Open Sans"/>
              </a:rPr>
              <a:t>Смена роли человека: Человек перестал быть «учителем», диктующим правила, и стал «архитектором» среды, в которой ИИ обучается самостоятельно.</a:t>
            </a: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2360" cy="43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914400">
              <a:lnSpc>
                <a:spcPct val="90000"/>
              </a:lnSpc>
              <a:buNone/>
              <a:tabLst>
                <a:tab algn="l" pos="0"/>
              </a:tabLst>
            </a:pPr>
            <a:r>
              <a:rPr lang="ru-RU" sz="2800" b="0" u="none" strike="noStrike">
                <a:solidFill>
                  <a:srgbClr val="923826"/>
                </a:solidFill>
                <a:effectLst/>
                <a:uFillTx/>
                <a:latin typeface="Open Sans Extrabold"/>
              </a:rPr>
              <a:t>Источники</a:t>
            </a:r>
            <a:endParaRPr lang="ru-RU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PlaceHolder 2"/>
          <p:cNvSpPr>
            <a:spLocks noGrp="1"/>
          </p:cNvSpPr>
          <p:nvPr>
            <p:ph/>
          </p:nvPr>
        </p:nvSpPr>
        <p:spPr>
          <a:xfrm>
            <a:off x="894600" y="900000"/>
            <a:ext cx="10444680" cy="528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Open Sans"/>
              </a:rPr>
              <a:t>1</a:t>
            </a: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Open Sans"/>
              </a:rPr>
              <a:t>.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1"/>
              </a:rPr>
              <a:t>geeksforgeeks.org/machine-learning/history-and-evolution-of-machine-learning/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417"/>
              </a:spcBef>
              <a:buNone/>
              <a:tabLst>
                <a:tab algn="l" pos="0"/>
              </a:tabLst>
            </a:pP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</a:t>
            </a:r>
            <a:r>
              <a:rPr lang="ru-RU" sz="1800" b="0" u="none" strike="noStrike">
                <a:solidFill>
                  <a:srgbClr val="000000"/>
                </a:solidFill>
                <a:effectLst/>
                <a:uFillTx/>
                <a:latin typeface="Arial"/>
                <a:hlinkClick r:id="rId2"/>
              </a:rPr>
              <a:t>machinelearningmastery.com/a-tour-of-machine-learning-algorithms/</a:t>
            </a: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lang="ru-R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6988A90-5BAE-4D90-91F4-4E9805682CEC}" type="slidenum">
              <a:t>11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ПбГУ">
      <a:dk1>
        <a:srgbClr val="181818"/>
      </a:dk1>
      <a:lt1>
        <a:srgbClr val="ffffff"/>
      </a:lt1>
      <a:dk2>
        <a:srgbClr val="632423"/>
      </a:dk2>
      <a:lt2>
        <a:srgbClr val="fbf9f7"/>
      </a:lt2>
      <a:accent1>
        <a:srgbClr val="4f81bd"/>
      </a:accent1>
      <a:accent2>
        <a:srgbClr val="c0504d"/>
      </a:accent2>
      <a:accent3>
        <a:srgbClr val="923826"/>
      </a:accent3>
      <a:accent4>
        <a:srgbClr val="8064a2"/>
      </a:accent4>
      <a:accent5>
        <a:srgbClr val="8faadc"/>
      </a:accent5>
      <a:accent6>
        <a:srgbClr val="ae6464"/>
      </a:accent6>
      <a:hlink>
        <a:srgbClr val="f2f2f2"/>
      </a:hlink>
      <a:folHlink>
        <a:srgbClr val="0070c0"/>
      </a:folHlink>
    </a:clrScheme>
    <a:fontScheme name="СПбГУ">
      <a:majorFont>
        <a:latin typeface="Open Sans Extrabold" pitchFamily="0" charset="1"/>
        <a:ea typeface=""/>
        <a:cs typeface=""/>
      </a:majorFont>
      <a:minorFont>
        <a:latin typeface="Open San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02abcde4-0d41-4d92-9ad7-003839eabdeb" xsi:nil="true"/>
    <lcf76f155ced4ddcb4097134ff3c332f xmlns="9a63fdcb-41de-41b7-a29c-51f72461a67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CD8C519613280949AA22B76DC3D9D7B2" ma:contentTypeVersion="17" ma:contentTypeDescription="Создание документа." ma:contentTypeScope="" ma:versionID="c1aee2efb7f4004aed17619c1a5733c5">
  <xsd:schema xmlns:xsd="http://www.w3.org/2001/XMLSchema" xmlns:xs="http://www.w3.org/2001/XMLSchema" xmlns:p="http://schemas.microsoft.com/office/2006/metadata/properties" xmlns:ns1="http://schemas.microsoft.com/sharepoint/v3" xmlns:ns2="9a63fdcb-41de-41b7-a29c-51f72461a67b" xmlns:ns3="02abcde4-0d41-4d92-9ad7-003839eabdeb" targetNamespace="http://schemas.microsoft.com/office/2006/metadata/properties" ma:root="true" ma:fieldsID="3d5820956cb7eaded5206240577e0de0" ns1:_="" ns2:_="" ns3:_="">
    <xsd:import namespace="http://schemas.microsoft.com/sharepoint/v3"/>
    <xsd:import namespace="9a63fdcb-41de-41b7-a29c-51f72461a67b"/>
    <xsd:import namespace="02abcde4-0d41-4d92-9ad7-003839eabde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Свойства единой политики соответствия требованиям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Действие с пользовательским интерфейсом в рамках единой политики соответствия требованиям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63fdcb-41de-41b7-a29c-51f72461a6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5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3dac30f7-4b6a-4d0c-a073-8dcd7cc3cb6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abcde4-0d41-4d92-9ad7-003839eabde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Общий доступ с использованием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Совместно с подробностями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e50e6830-2c83-4f36-8696-426a14030bf5}" ma:internalName="TaxCatchAll" ma:showField="CatchAllData" ma:web="02abcde4-0d41-4d92-9ad7-003839eabde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E8BD70-FE7F-4E2E-8A0C-B56C29E753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233416-0D41-4853-A815-5627BA43D3C0}">
  <ds:schemaRefs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9a63fdcb-41de-41b7-a29c-51f72461a67b"/>
    <ds:schemaRef ds:uri="02abcde4-0d41-4d92-9ad7-003839eabdeb"/>
    <ds:schemaRef ds:uri="http://schemas.microsoft.com/sharepoint/v3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0D7F0394-DA30-41D1-BA79-55D90E960F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9a63fdcb-41de-41b7-a29c-51f72461a67b"/>
    <ds:schemaRef ds:uri="02abcde4-0d41-4d92-9ad7-003839eabde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10936</TotalTime>
  <Application>LibreOffice/25.8.5.2$Windows_X86_64 LibreOffice_project/9c8b85f387cc00a89945a79c9e6239f32e450ac2</Application>
  <AppVersion>15.0000</AppVersion>
  <Words>402</Words>
  <Paragraphs>47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2020-09-23T09:03:25Z</dcterms:created>
  <dc:creator>Надежда Лапшина</dc:creator>
  <dc:description/>
  <dc:language>ru-RU</dc:language>
  <cp:lastModifiedBy/>
  <dcterms:modified xsi:type="dcterms:W3CDTF">2026-03-28T13:33:26Z</dcterms:modified>
  <cp:revision>624</cp:revision>
  <dc:subject/>
  <dc:title>Презентация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0x010100CD8C519613280949AA22B76DC3D9D7B2</vt:lpwstr>
  </property>
  <property fmtid="{D5CDD505-2E9C-101B-9397-08002B2CF9AE}" pid="3" name="MediaServiceImageTags">
    <vt:lpwstr/>
  </property>
  <property fmtid="{D5CDD505-2E9C-101B-9397-08002B2CF9AE}" pid="4" name="PresentationFormat">
    <vt:lpwstr>Произвольный</vt:lpwstr>
  </property>
  <property fmtid="{D5CDD505-2E9C-101B-9397-08002B2CF9AE}" pid="5" name="Slides">
    <vt:i4>16</vt:i4>
  </property>
</Properties>
</file>