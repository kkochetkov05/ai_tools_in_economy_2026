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3" autoAdjust="0"/>
    <p:restoredTop sz="94652" autoAdjust="0"/>
  </p:normalViewPr>
  <p:slideViewPr>
    <p:cSldViewPr snapToGrid="0">
      <p:cViewPr varScale="1">
        <p:scale>
          <a:sx n="79" d="100"/>
          <a:sy n="79" d="100"/>
        </p:scale>
        <p:origin x="312" y="120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896E0-7C19-C1A4-5610-9ADFC851F40F}"/>
              </a:ext>
            </a:extLst>
          </p:cNvPr>
          <p:cNvSpPr txBox="1"/>
          <p:nvPr/>
        </p:nvSpPr>
        <p:spPr>
          <a:xfrm>
            <a:off x="1328928" y="4047744"/>
            <a:ext cx="104973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КЛАССЫ ЗАДАЧ,</a:t>
            </a:r>
            <a:endParaRPr lang="en-US" sz="3600" dirty="0"/>
          </a:p>
          <a:p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РЕШАЕМЫХ С ПОМОЩЬЮ</a:t>
            </a:r>
            <a:endParaRPr lang="en-US" sz="3600" dirty="0"/>
          </a:p>
          <a:p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ИНСТРУМЕНТОВ ИИ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421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Иерархия понятий: ИИ → МО → ГО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Искусственный интеллект (AI)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Широкая область CS: системы, имитирующие когнитивные функции — восприятие, рассуждение, принятие решений. Термин введён Маккарти (1956). Включает символьные (экспертные системы) и субсимвольные (нейросетевые) подходы.</a:t>
            </a:r>
          </a:p>
          <a:p>
            <a:pPr>
              <a:buNone/>
            </a:pPr>
            <a:r>
              <a:rPr lang="ru-RU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Машинное обучение (ML)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Алгоритмы учатся на прецедентах без явного программирования логики. Цель — найти f: X → Y, минимизирующую ожидаемый риск: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R[f] = E_{(x,y)~P} [ L(f(x), y) ]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 — функция потерь; P — неизвестное распределение; задача сводится к минимизации эмпирического риска на обучающей выборке</a:t>
            </a:r>
          </a:p>
          <a:p>
            <a:pPr>
              <a:buNone/>
            </a:pPr>
            <a:r>
              <a:rPr lang="ru-RU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Глубокое обучение (DL)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Многослойные нейронные сети. Каждый нейрон: a^(l) = σ(W^(l)·a^(l-1) + b^(l)). Автоматическое извлечение иерархических признаков без ручного feature engineering.</a:t>
            </a:r>
          </a:p>
          <a:p>
            <a:pPr algn="l">
              <a:buNone/>
            </a:pPr>
            <a:r>
              <a:rPr lang="ru-RU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Активации: ReLU(x)=max(0,x), GELU(x)=x·Φ(x), Sigmoid(x)=1/(1+e^−x)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12 классов задач ИИ: таксономия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Функциональный подход — группировка по типу данных и целевой операции: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35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Supervised: </a:t>
            </a:r>
            <a:r>
              <a:rPr lang="ru-RU" sz="135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Классификация, регрессия, детекция объектов, NLP — обучение на размеченных парах (x, y)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35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Self-supervised: </a:t>
            </a:r>
            <a:r>
              <a:rPr lang="ru-RU" sz="135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Языковые модели (LM), Vision SSL (MAE, DINO) — обучение без разметки на псевдо-задачах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35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Unsupervised: </a:t>
            </a:r>
            <a:r>
              <a:rPr lang="ru-RU" sz="135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Кластеризация, поиск аномалий, генерация (VAE, GAN, Diffusion) — нет целевых меток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35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Reinforcement: </a:t>
            </a:r>
            <a:r>
              <a:rPr lang="ru-RU" sz="135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Управление агентами в динамической среде — обучение через награды/штрафы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30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Современные мультимодальные модели (GPT-4o, Gemini 1.5, Claude 3.5) размывают границы — одна архитектура решает задачи из всех четырёх парадигм одновременно.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Классификация: математический аппарат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Softmax и вероятностный выход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Вектор логитов z ∈ R^K → распределение вероятностей по K классам: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P(y=k|x) = exp(z_k) / Σ_{j=1}^K exp(z_j)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z_k = w_k^T·x + b_k; выход ∈ K-симплекс (все p_k &gt; 0, сумма = 1)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Функция потерь Cross-Entropy + оптимизация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L_CE = -Σ_{i=1}^n Σ_{k=1}^K y_{ik}·log(p_{ik})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y_{ik} ∈ {0,1} — one-hot; минимизация CE ≡ максимизация log-likelihood модели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Backpropagation: градиент по весам слоя l: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∂L/∂W^(l) = δ^(l)·(a^(l-1))^T,   δ^(l) = (W^(l+1))^T δ^(l+1) ⊙ σ'(z^(l))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Оптимизатор Adam (де-факто стандарт для DL):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m_t = β1·m_{t-1}+(1-β1)·g_t;  v_t = β2·v_{t-1}+(1-β2)·g_t^2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θ_{t+1} = θ_t - η · m̂_t / (√v̂_t + ε)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β1=0.9, β2=0.999, ε=1e-8 — стандартные гиперпараметры; m̂, v̂ — bias-corrected моменты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Компьютерное зрение (CV): от CNN до ViT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Операция свёртки — основа CNN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* K)[i,j] = Σ_m Σ_n I[i+m, j+n] · K[m,n]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— тензор (H×W×C); K — ядро свёртки k×k; обучается через backprop; stride/padding — гиперпараметры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Vision Transformer (ViT, 2020)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Изображение разбивается на патчи (patch) размера P×P. Каждый патч → линейное вложение → токен. Далее — стандартный Transformer encoder: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x_p^1, ..., x_p^N = LinearProj(patches) + PosEmbed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Attn(Q,K,V) = softmax(QK^T / √d_k) · V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 = HW/P² патчей; Multi-Head Attention с H головами: concat(head_1,...,head_H)·W^O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Ключевые архитектуры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 (2015):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Skip connections: F(x) + x — решение проблемы затухания градиента, 76.1% ImageNet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EfficientNet-B7 (2019):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Compound scaling depth×width×resolution, 84.3% ImageNet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ViT-L/16 (2020):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Чистый Transformer без свёрток, 88.5% с предобучением на JFT-300M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ConvNeXt-XL (2022):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+ приёмы из Transformer, конкурентен ViT, 87.8% ImageNet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NLP: архитектура Transformer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Self-Attention — ядро архитектуры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токен взвешивает важность всех остальных токенов в контексте: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X·W^Q,  K = X·W^K,  V = X·W^V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Attention(Q,K,V) = softmax(QK^T / √d_k) · V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W^Q, W^K, W^V ∈ R^{d_model × d_k} — обучаемые проекции; √d_k — масштабирование (иначе softmax насыщается)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Multi-Head Attention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MultiHead(Q,K,V) = Concat(head_1,...,head_h) · W^O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head_i = Attention(Q·W_i^Q, K·W_i^K, V·W_i^V)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 параллельных голов учат разные паттерны внимания; d_k = d_model / h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Языковые модели: авторегрессия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P(x_1,...,x_T) = Π_{t=1}^T P(x_t | x_1,...,x_{t-1}; θ)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L_LM = -Σ_{t=1}^T log P(x_t | x_{&lt;t}; θ)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GPT-архитектура: decoder-only Transformer; BERT: encoder-only с masked LM; T5: encoder-decoder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LLM: технологии и актуальные модели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RLHF — выравнивание по человеческим предпочтениям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Этапы: (1) SFT — supervised fine-tuning на демонстрациях; (2) обучение reward model RM; (3) PPO: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L_PPO(θ) = E[min(r_t(θ)·Â_t, clip(r_t(θ),1-ε,1+ε)·Â_t)]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r_t = π_θ/π_ref — отношение вероятностей; Â — advantage (оценка преимущества); DPO — более простая альтернатива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Актуальные модели (2024–2025)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GPT-4o (OpenAI):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мультимодальный, ~1.8T параметров (оценка), текст + изображения + аудио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3.5 Sonnet (Anthropic):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контекст 200K токенов, SOTA на coding benchmarks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Llama 3.1 405B (Meta):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open-source, сравним с GPT-4 на MMLU/HumanEval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Mistral / Mixtral 8x7B: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MoE (Mixture of Experts): 8 экспертов, активны 2 — 56B параметров, скорость 7B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 1.5 Pro (Google):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1M токенов контекст, нативная мультимодальность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Стек: Hugging Face Transformers, vLLM (PagedAttention), TGI, llama.cpp (GGUF quantization 4-bit)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Генерация: диффузионные модели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Математика DDPM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Прямой процесс — постепенное добавление гауссовского шума за T шагов: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q(x_t | x_{t-1}) = N(x_t; √(1-β_t)·x_{t-1}, β_t·I)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q(x_t | x_0) = N(x_t; √ᾱ_t·x_0, (1-ᾱ_t)·I),  где ᾱ_t = Π_{s=1}^t(1-β_s)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β_t — расписание шума (linear / cosine schedule); при t→T: x_T ≈ N(0,I)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Обучение: предсказание шума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L_simple = E_{t,x_0,ε}[ ||ε - ε_θ(x_t, t)||² ]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ε_θ — U-Net с attention, предсказывает шум; обратный процесс: итеративная денойзация x_T → x_0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Classifier-Free Guidance (CFG)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ε̃_θ(x_t,c) = ε_θ(x_t,∅) + w·(ε_θ(x_t,c) - ε_θ(x_t,∅))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 — условие (текстовый промпт); w — guidance scale (7–15); увеличивает совпадение с промптом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Модели: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FLUX.1 (12B), Stable Diffusion 3.5 (8B, MMDiT), DALL-E 3, Midjourney v6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CV: задачи и технологический стек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Задачи компьютерного зрения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Классификация: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label на изображение; ResNet, ViT, EfficientNet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Детекция объектов: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bounding boxes + классы; YOLO v9/v10, DETR, RT-DETR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Семантическая сегментация: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 каждого пикселя; SegFormer, Mask2Former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Instance segmentation: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отдельные маски объектов; SAM (Segment Anything Model, Meta)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Depth Estimation: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карта глубины из монокулярного изображения; DPT, Depth Pro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YOLO: однопроходная детекция</a:t>
            </a:r>
          </a:p>
          <a:p>
            <a:pPr algn="l">
              <a:buNone/>
            </a:pPr>
            <a:r>
              <a:rPr lang="ru-RU" sz="135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Сеть делит изображение на S×S ячеек. Каждая предсказывает B bounding boxes и C классов: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λ_coord·ΣΣ[(Δx²+Δy²+Δ√w²+Δ√h²)] + λ_obj·ΔC² + λ_cls·ΔP²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NMS (Non-Maximum Suppression) устраняет дублирующие боксы по IoU &gt; порога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Инструменты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PyTorch + torchvision, Ultralytics YOLO, MMDetection, Detectron2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Hugging Face timm — 800+ предобученных CV-моделей (ImageNet, JFT, LAION)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 — предобработка; Albumentations — аугментации данных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Прогнозирование и регрессия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Функции потерь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(1/n)Σ(y_i - ŷ_i)²   [чувствительна к выбросам]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(1/n)Σ|y_i - ŷ_i|      [устойчива к выбросам]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Huber: r²/2 при |r|≤δ, δ(|r|-δ/2) при |r|&gt;δ  [компромисс]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ARIMA и LSTM для временных рядов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ARIMA(p,d,q): Φ(B)·∇^d y_t = c + Θ(B)·ε_t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Φ — AR-полином порядка p; Θ — MA-полином порядка q; ∇^d — d-кратное дифференцирование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35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LSTM ячейка памяти (решает проблему затухающего градиента):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f_t=σ(W_f[h_{t-1},x_t]+b_f);  C_t=f_t⊙C_{t-1}+i_t⊙tanh(W_C[h_{t-1},x_t]+b_C)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f_t — forget gate; i_t — input gate; C_t — cell state; o_t — output gate; h_t=o_t⊙tanh(C_t)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Foundation models для TS (2024)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TimesFM (Google, 200M):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zero-shot прогноз; предобучен на 100B точках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Chronos (Amazon):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токенизация ряда как текст → LLM для TS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 Fusion Transformer: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multi-horizon + интерпретируемые attention weights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Рекомендательные системы: математика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Матричная факторизация (SVD/ALS)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Матрица взаимодействий R ∈ R^{|U|×|I|} разлагается на произведение латентных факторов: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U · V^T,   r̂_{ui} = u_u^T · v_i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Σ_{(u,i)∈Ω}(r_{ui}-u_u^T·v_i)² + λ(||U||²+||V||²)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Ω — наблюдаемые оценки; λ — L2-регуляризация; оптимизация: SGD или ALS (Alternating Least Squares)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Two-Tower Neural Network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Современный подход: две независимые нейросети кодируют пользователя и объект в общее пространство: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score(u,i) = f_user(x_u)^T · f_item(x_i) / (||f_user||·||f_item||)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Cosine similarity в embedding space; обучение: in-batch negatives + hard negatives mining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BPR Loss (Bayesian Personalized Ranking)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L_BPR = -Σ_{(u,i,j)∈D} log σ(r̂_{ui} - r̂_{uj})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— релевантный объект; j — нерелевантный; оптимизирует попарное ранжирование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Стек: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RecBole, TensorFlow Recommenders, FAISS (приближённый поиск ближайших соседей ANN)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Аномалии и кластеризация: алгоритмы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K-Means: минимизация инерции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Σ_{k=1}^K Σ_{x∈C_k} ||x - μ_k||²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μ_k — центроид кластера k; алгоритм: E-step (назначение) → M-step (пересчёт центроидов) → повтор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DBSCAN: плотностная кластеризация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Кластер = множество точек, достижимых по плотности. Параметры: ε (радиус) и minPts (мин. точек).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Преимущество: автоматически определяет число кластеров; выявляет шум (outliers).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Isolation Forest: поиск аномалий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Аномалии изолируются за меньшее число разбиений в случайном дереве. Anomaly score: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s(x, n) = 2^{-E[h(x)] / c(n)}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E[h(x)] — средняя длина пути для x; c(n) = 2·H(n-1) - 2(n-1)/n — нормировка; s→1 при аномалии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Автоэнкодер для детекции аномалий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L_recon = ||x - Decoder(Encoder(x))||²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Аномалия = высокая ошибка реконструкции; Variational AE даёт вероятностный детектор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Инструменты: PyOD, Scikit-learn, SUOD, RAPIDS cuML (GPU-ускорение)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Обучение с подкреплением (RL)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Уравнение Беллмана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Агент в среде: состояние s, действие a, награда r, следующее состояние s'. Q-функция: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Q*(s,a) = r + γ · max_{a'} Q*(s', a')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γ ∈ [0,1] — коэффициент дисконтирования; Q* — оптимальная Q-функция (уравнение Беллмана)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Deep Q-Network (DQN)</a:t>
            </a:r>
          </a:p>
          <a:p>
            <a:pPr algn="l">
              <a:buNone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Q-функция аппроксимируется нейросетью θ. Функция потерь (TD-ошибка):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L(θ) = E[(r + γ·max_{a'} Q(s',a';θ⁻) - Q(s,a;θ))²]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θ⁻ — target network (обновляется реже) — стабилизирует обучение; Experience Replay — буфер переходов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Policy Gradient: PPO</a:t>
            </a:r>
          </a:p>
          <a:p>
            <a:pPr algn="l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L_CLIP(θ) = E[min(r_t(θ)·Â_t, clip(r_t(θ), 1-ε, 1+ε)·Â_t)]</a:t>
            </a:r>
          </a:p>
          <a:p>
            <a:pPr algn="l">
              <a:buNone/>
            </a:pPr>
            <a:r>
              <a:rPr lang="ru-RU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r_t = π_θ/π_θ_old — probability ratio; Â_t — advantage; clip предотвращает слишком большие обновления</a:t>
            </a:r>
          </a:p>
          <a:p>
            <a:pPr>
              <a:buNone/>
            </a:pPr>
            <a:r>
              <a:rPr lang="ru-RU" sz="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Применения: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AlphaGo/AlphaZero (игры), управление роботами, оптимизация дата-центров (DeepMind), RLHF для LLM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Стек: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Stable-Baselines3, RLlib (Ray), Gymnasium, Isaac Gym (NVIDIA, симуляция)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Ограничения и этические аспекты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Технические ограничения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Зависимость от данных: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модели детерминировано репрезентативностью и объёмом обучающей выборки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«чёрного ящика»: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глубокие нейросети необъяснимы — критично в медицине, праве, финансах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Bias: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усваивает и масштабирует исторические предубеждения в данных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Галлюцинации LLM: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генеративные модели создают фактически ошибочные, но убедительные ответы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Catastrophic Forgetting: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fine-tuning модель «забывает» ранее выученное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Этика и регулирование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 AI Act (2024/1689):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риск-ориентированный подход; строгие требования к прозрачности high-risk систем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XAI (Explainable AI):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SHAP, LIME, Grad-CAM — методы интерпретации предсказаний нейросетей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Конфиденциальность: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Federated Learning, Differential Privacy — обучение без централизации данных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3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Дальнейшее развитие: мультимодальные агенты, нейросимвольные системы, масштабирование при снижении стоимости инференса.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Заключение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buNone/>
            </a:pPr>
            <a:r>
              <a:rPr lang="ru-RU" sz="15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работе проведена систематизация классов задач ИИ с детальным разбором математического аппарата и технологического стека.</a:t>
            </a:r>
          </a:p>
          <a:p>
            <a:pPr>
              <a:buNone/>
            </a:pPr>
            <a:r>
              <a:rPr lang="ru-RU" sz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Иерархия: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ИИ ⊃ ML ⊃ DL — чёткое разграничение позволяет правильно выбирать инструменты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Математика: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Softmax+CE+Adam, Self-Attention (Q,K,V), MSE/ARIMA/LSTM, Беллман+DQN+PPO, K-Means, Isolation Forest, SVD+BPR, DDPM+CFG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Технологии: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PyTorch/JAX, Hugging Face (Transformers, Diffusers, timm), vLLM, FAISS, Stable-Baselines3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b="1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Модели: </a:t>
            </a: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GPT-4o, Llama 3.1, FLUX.1, ViT, YOLO v9, TimesFM, Mixtral MoE</a:t>
            </a:r>
          </a:p>
          <a:p>
            <a:pPr>
              <a:buNone/>
            </a:pPr>
            <a:r>
              <a:rPr lang="ru-RU" sz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algn="l">
              <a:buNone/>
            </a:pPr>
            <a:r>
              <a:rPr lang="ru-RU" sz="1500" b="1" dirty="0">
                <a:solidFill>
                  <a:srgbClr val="92382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Ключевые тренды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Мультимодальность: одна модель — текст, изображение, аудио, видео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Models + fine-tuning: предобучение на огромных данных → адаптация под задачу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RL + LLM: RLHF/DPO для выравнивания; агенты с инструментами (function calling)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Эффективность: квантизация (4-bit GGUF), дистилляция, MoE — большие возможности при малых ресурсах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ru-RU" sz="2800" b="1" dirty="0">
                <a:solidFill>
                  <a:srgbClr val="923826"/>
                </a:solidFill>
                <a:latin typeface="Open Sans Extrabold" pitchFamily="34" charset="0"/>
              </a:rPr>
              <a:t>Список литературы</a:t>
            </a:r>
          </a:p>
        </p:txBody>
      </p:sp>
      <p:sp>
        <p:nvSpPr>
          <p:cNvPr id="3" name="Body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 Vaswani A. et al. Attention Is All You Need // NeurIPS. 2017. Vol. 30.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[2] LeCun Y., Bengio Y., Hinton G. Deep Learning // Nature. 2015. Vol. 521. P. 436–444.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[3] Goodfellow I., Bengio Y., Courville A. Deep Learning. MIT Press, 2016.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[4] Sutton R., Barto A. Reinforcement Learning: An Introduction. 2nd ed. MIT Press, 2018.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[5] Ho J. et al. Denoising Diffusion Probabilistic Models // NeurIPS. 2020.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[6] Dosovitskiy A. et al. An Image Is Worth 16x16 Words: ViT // ICLR. 2021.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[7] Karpathy A. et al. Large Language Models: A Survey. arXiv:2303.18223. 2023.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[8] Ouyang L. et al. Training LMs to Follow Instructions with Human Feedback // NeurIPS. 2022.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[9] European Parliament. Regulation (EU) 2024/1689 (AI Act). Brussels, 2024.</a:t>
            </a:r>
          </a:p>
          <a:p>
            <a:pPr marL="228600" indent="-228600" algn="l">
              <a:buFont typeface="Arial" pitchFamily="34" charset="0"/>
              <a:buChar char="•"/>
            </a:pPr>
            <a:r>
              <a:rPr lang="ru-RU" sz="1400" dirty="0">
                <a:solidFill>
                  <a:srgbClr val="1818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[10] McKinsey Global Institute. The State of AI in 2024. URL: mckinsey.com,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10866</TotalTime>
  <Words>3259</Words>
  <Application>Microsoft Office PowerPoint</Application>
  <PresentationFormat>Широкоэкранный</PresentationFormat>
  <Paragraphs>229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Consolas</vt:lpstr>
      <vt:lpstr>Open Sans</vt:lpstr>
      <vt:lpstr>Open Sans Extrabold</vt:lpstr>
      <vt:lpstr>Open Sans Light</vt:lpstr>
      <vt:lpstr>Segoe UI</vt:lpstr>
      <vt:lpstr>Тема Office</vt:lpstr>
      <vt:lpstr>Презентация PowerPoint</vt:lpstr>
      <vt:lpstr>Иерархия понятий: ИИ → МО → ГО</vt:lpstr>
      <vt:lpstr>12 классов задач ИИ: таксономия</vt:lpstr>
      <vt:lpstr>Классификация: математический аппарат</vt:lpstr>
      <vt:lpstr>Компьютерное зрение (CV): от CNN до ViT</vt:lpstr>
      <vt:lpstr>NLP: архитектура Transformer</vt:lpstr>
      <vt:lpstr>LLM: технологии и актуальные модели</vt:lpstr>
      <vt:lpstr>Генерация: диффузионные модели</vt:lpstr>
      <vt:lpstr>CV: задачи и технологический стек</vt:lpstr>
      <vt:lpstr>Прогнозирование и регрессия</vt:lpstr>
      <vt:lpstr>Рекомендательные системы: математика</vt:lpstr>
      <vt:lpstr>Аномалии и кластеризация: алгоритмы</vt:lpstr>
      <vt:lpstr>Обучение с подкреплением (RL)</vt:lpstr>
      <vt:lpstr>Ограничения и этические аспекты</vt:lpstr>
      <vt:lpstr>Заключение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Князев Егор Юрьевич</cp:lastModifiedBy>
  <cp:revision>612</cp:revision>
  <dcterms:created xsi:type="dcterms:W3CDTF">2020-09-23T09:03:25Z</dcterms:created>
  <dcterms:modified xsi:type="dcterms:W3CDTF">2026-05-01T10:32:58Z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