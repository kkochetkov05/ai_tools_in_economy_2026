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6767C"/>
    <a:srgbClr val="1A1A1A"/>
    <a:srgbClr val="9F2D20"/>
    <a:srgbClr val="EDE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3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C1F69-8ED6-D83A-6A9B-3AE28F5E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D7DDD-CC8F-30DC-C0ED-4D7ABEE24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1CC40-3F16-F942-CF4A-0685C7D63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033B9-26C2-FC9C-603F-A0C4BCAD2A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09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0C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154680"/>
            <a:ext cx="8229600" cy="36576"/>
          </a:xfrm>
          <a:prstGeom prst="rect">
            <a:avLst/>
          </a:prstGeom>
          <a:solidFill>
            <a:srgbClr val="A8ADB4">
              <a:alpha val="60000"/>
            </a:srgbClr>
          </a:solidFill>
          <a:ln w="12700">
            <a:solidFill>
              <a:srgbClr val="A8ADB4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72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КЛАССЫ ЗАДАЧ,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РЕШАЕМЫХ С ПОМОЩЬЮ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ИНСТРУМЕНТОВ ИИ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BD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Доклад по дисциплине «Процессы управления»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3CF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Санкт-Петербургский государственный университет  • 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16052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Студент: Князев Е. Ю.  (гр. 23.Б-06)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A8AD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Преподаватель: Фурсов Д. В.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Базовые понятия: иерархия технологий ИИ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078992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8275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Искусственный интеллект (ИИ)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44168"/>
            <a:ext cx="8275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D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Создание систем, имитирующих когнитивные функции человека: восприятие, рассуждение, принятие решений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167128"/>
            <a:ext cx="7589520" cy="1078992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40280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Машинное обучение (МО)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51176"/>
            <a:ext cx="7360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D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Алгоритмы, обучающиеся на данных без явного программирования логики. Методы: деревья решений, SVM, логистическая регрессия, градиентный бустинг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234440" y="3374136"/>
            <a:ext cx="6675120" cy="1078992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447288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Глубокое обучение (ГО)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758184"/>
            <a:ext cx="6446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Многослойные нейронные сети. Автоматическое извлечение иерархических признаков из неструктурированных данных без ручной обработки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«Инструменты ИИ» — программно-аппаратные комплексы, реализующие методы МО и ГО для решения прикладных задач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Классификация задач ИИ: 12 фундаментальных классов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932688"/>
            <a:ext cx="2834640" cy="91440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32688"/>
            <a:ext cx="64008" cy="914400"/>
          </a:xfrm>
          <a:prstGeom prst="rect">
            <a:avLst/>
          </a:prstGeom>
          <a:solidFill>
            <a:srgbClr val="93CFBD"/>
          </a:solidFill>
          <a:ln w="12700">
            <a:solidFill>
              <a:srgbClr val="93CF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3268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Распознавание и классификация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36392" y="932688"/>
            <a:ext cx="2834640" cy="914400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932688"/>
            <a:ext cx="64008" cy="914400"/>
          </a:xfrm>
          <a:prstGeom prst="rect">
            <a:avLst/>
          </a:prstGeom>
          <a:solidFill>
            <a:srgbClr val="93CFBD"/>
          </a:solidFill>
          <a:ln w="12700">
            <a:solidFill>
              <a:srgbClr val="93C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55264" y="93268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Прогнозирование и регрессия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44184" y="932688"/>
            <a:ext cx="2834640" cy="914400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44184" y="932688"/>
            <a:ext cx="64008" cy="914400"/>
          </a:xfrm>
          <a:prstGeom prst="rect">
            <a:avLst/>
          </a:prstGeom>
          <a:solidFill>
            <a:srgbClr val="93CFBD"/>
          </a:solidFill>
          <a:ln w="12700">
            <a:solidFill>
              <a:srgbClr val="93CF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3056" y="93268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Генерация контента (Generative AI)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938528"/>
            <a:ext cx="2834640" cy="91440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1938528"/>
            <a:ext cx="64008" cy="914400"/>
          </a:xfrm>
          <a:prstGeom prst="rect">
            <a:avLst/>
          </a:prstGeom>
          <a:solidFill>
            <a:srgbClr val="93CFBD"/>
          </a:solidFill>
          <a:ln w="12700">
            <a:solidFill>
              <a:srgbClr val="93CF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9385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Обработка языка (NLP)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36392" y="1938528"/>
            <a:ext cx="2834640" cy="914400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36392" y="1938528"/>
            <a:ext cx="64008" cy="914400"/>
          </a:xfrm>
          <a:prstGeom prst="rect">
            <a:avLst/>
          </a:prstGeom>
          <a:solidFill>
            <a:srgbClr val="93CFBD"/>
          </a:solidFill>
          <a:ln w="12700">
            <a:solidFill>
              <a:srgbClr val="93CF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5264" y="19385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Компьютерное зрение (CV)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44184" y="1938528"/>
            <a:ext cx="2834640" cy="914400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44184" y="1938528"/>
            <a:ext cx="64008" cy="914400"/>
          </a:xfrm>
          <a:prstGeom prst="rect">
            <a:avLst/>
          </a:prstGeom>
          <a:solidFill>
            <a:srgbClr val="93CFBD"/>
          </a:solidFill>
          <a:ln w="12700">
            <a:solidFill>
              <a:srgbClr val="93CF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9385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Рекомендательные системы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2944368"/>
            <a:ext cx="2834640" cy="91440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944368"/>
            <a:ext cx="64008" cy="914400"/>
          </a:xfrm>
          <a:prstGeom prst="rect">
            <a:avLst/>
          </a:prstGeom>
          <a:solidFill>
            <a:srgbClr val="93CFBD"/>
          </a:solidFill>
          <a:ln w="12700">
            <a:solidFill>
              <a:srgbClr val="93CF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94436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Управление и решения (RL)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36392" y="2944368"/>
            <a:ext cx="2834640" cy="914400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36392" y="2944368"/>
            <a:ext cx="64008" cy="914400"/>
          </a:xfrm>
          <a:prstGeom prst="rect">
            <a:avLst/>
          </a:prstGeom>
          <a:solidFill>
            <a:srgbClr val="93CFBD"/>
          </a:solidFill>
          <a:ln w="12700">
            <a:solidFill>
              <a:srgbClr val="93CF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294436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Поиск аномалий и кластеризация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44184" y="2944368"/>
            <a:ext cx="2834640" cy="914400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4184" y="2944368"/>
            <a:ext cx="64008" cy="914400"/>
          </a:xfrm>
          <a:prstGeom prst="rect">
            <a:avLst/>
          </a:prstGeom>
          <a:solidFill>
            <a:srgbClr val="93CFBD"/>
          </a:solidFill>
          <a:ln w="12700">
            <a:solidFill>
              <a:srgbClr val="93CF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294436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Оптимизация и планирование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950208"/>
            <a:ext cx="2834640" cy="91440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3950208"/>
            <a:ext cx="64008" cy="914400"/>
          </a:xfrm>
          <a:prstGeom prst="rect">
            <a:avLst/>
          </a:prstGeom>
          <a:solidFill>
            <a:srgbClr val="93CFBD"/>
          </a:solidFill>
          <a:ln w="12700">
            <a:solidFill>
              <a:srgbClr val="93CFB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9502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Информационный поиск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36392" y="3950208"/>
            <a:ext cx="2834640" cy="914400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36392" y="3950208"/>
            <a:ext cx="64008" cy="914400"/>
          </a:xfrm>
          <a:prstGeom prst="rect">
            <a:avLst/>
          </a:prstGeom>
          <a:solidFill>
            <a:srgbClr val="93CFBD"/>
          </a:solidFill>
          <a:ln w="12700">
            <a:solidFill>
              <a:srgbClr val="93CFB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55264" y="39502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Обработка аудио (Speech AI)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44184" y="3950208"/>
            <a:ext cx="2834640" cy="914400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44184" y="3950208"/>
            <a:ext cx="64008" cy="914400"/>
          </a:xfrm>
          <a:prstGeom prst="rect">
            <a:avLst/>
          </a:prstGeom>
          <a:solidFill>
            <a:srgbClr val="93CFBD"/>
          </a:solidFill>
          <a:ln w="12700">
            <a:solidFill>
              <a:srgbClr val="93CFB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39502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Робототехника и кинематика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28600" y="48463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Современные мультимодальные модели размывают границы между классами — одна архитектура решает несколько задач одновременно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Распознавание и классификация  ·  Генерация контента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023360" cy="3959352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023360" cy="420624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32688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Распознавание и классификация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41732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Построение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разделяющих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границ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в </a:t>
            </a:r>
            <a:r>
              <a:rPr lang="en-US" sz="1100" dirty="0" err="1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пространстве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признаков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en-US" sz="1100" dirty="0" err="1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Объект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относится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к </a:t>
            </a:r>
            <a:r>
              <a:rPr lang="en-US" sz="1100" dirty="0" err="1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одной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заданных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категорий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en-US" sz="1100" dirty="0" err="1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Обучение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с </a:t>
            </a:r>
            <a:r>
              <a:rPr lang="en-US" sz="1100" dirty="0" err="1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учителем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121408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Применения: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Фильтрация спама в электронной почте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Медицинская диагностика по снимкам МРТ/КТ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Кредитный скоринг (надёжный / ненадёжный)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Категоризация новостных статей по тематикам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3611880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Методы: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Таблицы: Logistic Regression, SVM, XGBoost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Изображения: CNN (сверточные нейросети)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932688"/>
            <a:ext cx="4023360" cy="3959352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932688"/>
            <a:ext cx="4023360" cy="420624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932688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Генерация контента (Generative AI)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41732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ИИ </a:t>
            </a:r>
            <a:r>
              <a:rPr lang="ru-RU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учит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распределение данных и синтезирует новые объекты, статистически неотличимые от реальных.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56048" y="2121408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Применения: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Написание текстов, эссе, статей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Автодополнение и рефакторинг кода (GitHub Copilot)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Генерация фотореалистичных изображений и видео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Клонирование и синтез человеческой речи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6048" y="3611880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Методы: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Текст: авторегрессионные LLM (GPT)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Изображения: диффузионные модели (DDPM)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Прогнозирование и регрессия  ·  Рекомендательные системы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023360" cy="3959352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023360" cy="420624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32688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Прогнозирование и регрессия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41732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Поиск функции, описывающей зависимость между параметрами и числовым результатом. </a:t>
            </a:r>
            <a:r>
              <a:rPr lang="ru-RU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Предсказание непрерывных числовых значений ни основе входных данных.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121408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Применения: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Прогноз потребительского спроса на товары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Предсказание биржевых котировок и валют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Оценка будущей стоимости недвижимости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Расчёт остаточного ресурса оборудования (RUL)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3611880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Методы: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Классика: ARIMA, XGBoost, градиентный бустинг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Нейросети с памятью: RNN, LSTM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932688"/>
            <a:ext cx="4023360" cy="3959352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932688"/>
            <a:ext cx="4023360" cy="420624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932688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Рекомендательные системы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41732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Автоматический подбор пользователю персонализированных объектов на основе его предпочтений, поведения и сходство с другими пользователями.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56048" y="2121408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Применения: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Персональная лента новостей и соцсетей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Рекомендации фильмов, музыки, подкастов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Товарные рекомендации и перекрёстные продажи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6048" y="3611880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Методы: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Коллаборативная и контентная фильтрация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SVD (матричная факторизация)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Гибридные нейросети Two-Tower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Управление и принятие решений (RL)  ·  Поиск аномалий и кластеризация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023360" cy="3959352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023360" cy="420624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32688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Управление и принятие решений (RL)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41732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Выбор оптимальных действий в сложной, часто динамической среде для достижения заданной цели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121408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Применения: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Автономное управление беспилотниками и дронами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Навигация складских роботов (AGV)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Оптимизация энергопотребления дата-центров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ИИ в </a:t>
            </a:r>
            <a:r>
              <a:rPr lang="en-US" sz="1050" dirty="0" err="1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играх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3611880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Методы: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Глубокое Q-обучение (DQN)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Actor-Critic методы (PPO, SAC)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932688"/>
            <a:ext cx="4023360" cy="3959352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932688"/>
            <a:ext cx="4023360" cy="420624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932688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Поиск аномалий и кластеризация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46431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Кластеризация разбивает данные на группы (кластеры), без заранее известных меток, а задача поиска аномалий заключается в  выявление объектов, которые существенно отличаются от основной массы данных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56048" y="2121408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Применения: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Антифрод: выявление мошеннических транзакций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Обнаружение DDoS-атак и кибервзломов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Контроль качества продукции на конвейере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Сегментация клиентской базы для маркетинга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6048" y="3611880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Методы: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Кластеризация: K-Means, DBSCAN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Аномалии: Isolation Forest, Autoencoders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Обработка естественного языка (NLP)  ·  Компьютерное зрение (CV)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023360" cy="3959352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023360" cy="420624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32688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Обработка естественного языка (NLP)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41732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Преодоление разрыва между символьной природой языка и математикой машин. Слова преобразуются в числовые векторы-эмбеддинги.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121408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Применения: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Машинный перевод между языками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Извлечение именованных сущностей (NER)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Анализ тональности и эмоций отзывов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Автоматическая суммаризация документов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3611880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Методы: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Transformer (BERT, GPT) — отраслевой стандарт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Self-Attention: контекстная оценка важности слов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932688"/>
            <a:ext cx="4023360" cy="3959352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932688"/>
            <a:ext cx="4023360" cy="420624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932688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Компьютерное зрение (CV)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41732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Целью является извлечение информации из изображений и видео. Основой служат свёрточные нейронные сети.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56048" y="2121408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Применения: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Детекция объектов: авто и пешеходы на дороге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Семантическая сегментация МРТ-снимков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Биометрическое распознавание лиц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OCR: распознавание печатного и рукоп. текста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6048" y="3611880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Методы: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Детекция в реальном времени: YOLO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Transformer (ViT) — патч-обработка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Сферы применения ИИ (1/2)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1207008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82296" cy="1207008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Здравоохранение и медицина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CV: Семантическая сегментация МРТ/КТ/гистологии — система поддержки врачебных решений (СППВР)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NLP: Автоструктуризация электронных медкарт (EHR), извлечение симптомов и назначений (NER)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Прогнозирование: AlphaFold (фолдинг белков), Drug Discovery — ускорение разработки лекарств до месяцев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249424"/>
            <a:ext cx="8595360" cy="1207008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249424"/>
            <a:ext cx="82296" cy="1207008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04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Финансовый сектор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96896"/>
            <a:ext cx="8229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Аномалии: Антифрод-мониторинг в реальном времени, выявление операций по отмыванию денег (AML)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Регрессия: Кредитный скоринг (вероятность дефолта), прогнозирование рыночных рисков и портфелей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NLP: Сентимент-анализ финансовых новостей — сигналы для алгоритмической торговли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8595360" cy="1207008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566160"/>
            <a:ext cx="82296" cy="1207008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210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C5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Промышленность и логистика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913632"/>
            <a:ext cx="8229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Регрессия: Predictive Maintenance — расчёт остаточного ресурса (RUL) по данным IoT-датчиков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Оптимизация: Решение задачи маршрутизации транспорта (VRP), минимизация расхода топлива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 + RL: Автоматическая дефектоскопия на конвейере; управление промышленными роботами (AGV)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Сферы применения ИИ (2/2)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1316736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82296" cy="1316736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Розничная торговля и электронная коммерция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Рекомендации: Гибридные алгоритмы → гиперперсонализированные ленты, рост LTV маркетплейсов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Прогнозирование: Прогноз спроса с учётом сезонности → оптимизация запасов, динамическое ценообразование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AI: LLM генерируют SEO-описания; GAN — технология виртуальной примерочной (Virtual Try-On)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359152"/>
            <a:ext cx="8595360" cy="1024128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359152"/>
            <a:ext cx="82296" cy="1024128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14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Информационные технологии и разработка ПО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06624"/>
            <a:ext cx="8229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Генерация кода: LLM (GitHub Copilot) — автодополнение функций, написание тестов, рефакторинг по комментариям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Кибербезопасность: ML анализирует сетевой трафик — выявление DDoS, вредоносного кода, несанкц. доступа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493008"/>
            <a:ext cx="8595360" cy="1024128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493008"/>
            <a:ext cx="82296" cy="1024128"/>
          </a:xfrm>
          <a:prstGeom prst="rect">
            <a:avLst/>
          </a:prstGeom>
          <a:solidFill>
            <a:srgbClr val="A7C5BD"/>
          </a:solidFill>
          <a:ln w="12700">
            <a:solidFill>
              <a:srgbClr val="A7C5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47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C5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Агропромышленный комплекс (AgroTech / Точное земледелие)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CV: Дроны и спутники + CNN → сегментация полей, выявление болезней растений, точечные гербициды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Прогнозирование: Регрессионные модели (погода + почва + сорта) → прогноз урожайности и сроков сева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Ограничения и этические аспекты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896112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Технические ограничения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16152"/>
            <a:ext cx="4206240" cy="868680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16152"/>
            <a:ext cx="73152" cy="86868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710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Зависимость от данных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Качество прогнозов напрямую определяется репрезентативностью и объёмом обучающей выборки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216152"/>
            <a:ext cx="4206240" cy="868680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216152"/>
            <a:ext cx="73152" cy="86868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710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 «чёрного ящика»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5453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Глубокие нейросети не позволяют объяснить логику решения — критично в медицине и праве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176272"/>
            <a:ext cx="4206240" cy="868680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76272"/>
            <a:ext cx="73152" cy="86868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311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Смещение в данных (Data Bias)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50545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Модель усваивает и масштабирует исторические предубеждения из обучающих данных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176272"/>
            <a:ext cx="4206240" cy="868680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176272"/>
            <a:ext cx="73152" cy="86868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2311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Галлюцинации LLM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50545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Генеративные модели способны создавать фактически ошибочные, но убедительные ответы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218688"/>
            <a:ext cx="8595360" cy="1627632"/>
          </a:xfrm>
          <a:prstGeom prst="rect">
            <a:avLst/>
          </a:prstGeom>
          <a:solidFill>
            <a:srgbClr val="EDEBE9"/>
          </a:solidFill>
          <a:ln w="12700">
            <a:solidFill>
              <a:srgbClr val="1E0C0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218688"/>
            <a:ext cx="82296" cy="1627632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73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Этические аспекты и регулирование</a:t>
            </a:r>
            <a:endParaRPr lang="en-US" sz="1300" dirty="0">
              <a:solidFill>
                <a:srgbClr val="9F2D2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Ключевые проблемы: 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Конфиденциальность данных  •  Трансформация рынка труда  •  Ответственность за решения автономных систем</a:t>
            </a:r>
            <a:endParaRPr lang="en-US" sz="1100" dirty="0">
              <a:solidFill>
                <a:srgbClr val="1A1A1A"/>
              </a:solidFill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AI Act (Regulation 2024/1689): </a:t>
            </a: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Риск-ориентированный подход. Строгие требования к прозрачности систем высокого риска. Обязательный аудит и объяснимость (XAI).</a:t>
            </a:r>
            <a:endParaRPr lang="en-US" sz="110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Заключение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82296" cy="86868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Иерархия понятий: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ИИ ⊃ Машинное обучение ⊃ Глубокое обучение — чёткое разграничение позволяет правильно выбирать инструменты для каждой задачи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8595360" cy="868680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993392"/>
            <a:ext cx="82296" cy="868680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классов задач: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3408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Функциональный спектр ИИ: от базовой классификации и регрессии до генерации контента и автономного управления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80944"/>
            <a:ext cx="8595360" cy="868680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80944"/>
            <a:ext cx="82296" cy="86868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44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2D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Универсальность применения: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2841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Медицина, финансы, промышленность, ритейл, ИТ, AgroTech — один математический аппарат работает во всех отраслях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68496"/>
            <a:ext cx="8595360" cy="868680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968496"/>
            <a:ext cx="82296" cy="868680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32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7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Перспективы и условия: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Мультимодальные системы и XAI (объяснимый ИИ) — при обязательном преодолении технических ограничений и нормативно-этической базе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445EA-4249-5E2F-B8F0-F5904466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097DBB-C411-F846-FE13-EECA83248CC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4C9C59-559C-7326-73AB-BA2A50C32341}"/>
              </a:ext>
            </a:extLst>
          </p:cNvPr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000" dirty="0">
                <a:solidFill>
                  <a:srgbClr val="FFFFFF"/>
                </a:solidFill>
              </a:rPr>
              <a:t>Список литературы</a:t>
            </a:r>
            <a:endParaRPr lang="en-US" sz="1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2DA2DE7-89BA-BF5C-CC5F-B7F309BABBCE}"/>
              </a:ext>
            </a:extLst>
          </p:cNvPr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31A49A9-F72B-2660-4118-5635857AB40E}"/>
              </a:ext>
            </a:extLst>
          </p:cNvPr>
          <p:cNvSpPr/>
          <p:nvPr/>
        </p:nvSpPr>
        <p:spPr>
          <a:xfrm>
            <a:off x="274320" y="1005840"/>
            <a:ext cx="82296" cy="86868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0AC6A9B-2438-0C86-DC10-A7A4E843517F}"/>
              </a:ext>
            </a:extLst>
          </p:cNvPr>
          <p:cNvSpPr/>
          <p:nvPr/>
        </p:nvSpPr>
        <p:spPr>
          <a:xfrm>
            <a:off x="457200" y="1188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100" dirty="0"/>
              <a:t>Рассел, С. Искусственный интеллект : современный подход : в 2 т. / С. Рассел, П. </a:t>
            </a:r>
            <a:r>
              <a:rPr lang="ru-RU" sz="1100" dirty="0" err="1"/>
              <a:t>Норвиг</a:t>
            </a:r>
            <a:r>
              <a:rPr lang="ru-RU" sz="1100" dirty="0"/>
              <a:t> ; пер. с англ. – 4-е изд. – М. : Вильямс, 2022. – 1440 с.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F8B8D4E-2C8C-1FFC-57CD-67087C172BEF}"/>
              </a:ext>
            </a:extLst>
          </p:cNvPr>
          <p:cNvSpPr/>
          <p:nvPr/>
        </p:nvSpPr>
        <p:spPr>
          <a:xfrm>
            <a:off x="274320" y="1993392"/>
            <a:ext cx="8595360" cy="868680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5279602-827E-2B2A-70F2-9E64D8734B53}"/>
              </a:ext>
            </a:extLst>
          </p:cNvPr>
          <p:cNvSpPr/>
          <p:nvPr/>
        </p:nvSpPr>
        <p:spPr>
          <a:xfrm>
            <a:off x="274320" y="1993392"/>
            <a:ext cx="82296" cy="868680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E817B51-7A19-5078-0CEC-D3EA65B00582}"/>
              </a:ext>
            </a:extLst>
          </p:cNvPr>
          <p:cNvSpPr/>
          <p:nvPr/>
        </p:nvSpPr>
        <p:spPr>
          <a:xfrm>
            <a:off x="457200" y="220827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100" dirty="0"/>
              <a:t>Гудфеллоу, Я. Глубокое обучение / Я. Гудфеллоу, И. </a:t>
            </a:r>
            <a:r>
              <a:rPr lang="ru-RU" sz="1100" dirty="0" err="1"/>
              <a:t>Бенджио</a:t>
            </a:r>
            <a:r>
              <a:rPr lang="ru-RU" sz="1100" dirty="0"/>
              <a:t>, А. </a:t>
            </a:r>
            <a:r>
              <a:rPr lang="ru-RU" sz="1100" dirty="0" err="1"/>
              <a:t>Курвилль</a:t>
            </a:r>
            <a:r>
              <a:rPr lang="ru-RU" sz="1100" dirty="0"/>
              <a:t>. – М. : ДМК Пресс, 2018. – 652 с.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F617CF4-7848-7D03-F5D1-55679CF5568E}"/>
              </a:ext>
            </a:extLst>
          </p:cNvPr>
          <p:cNvSpPr/>
          <p:nvPr/>
        </p:nvSpPr>
        <p:spPr>
          <a:xfrm>
            <a:off x="274320" y="2980944"/>
            <a:ext cx="8595360" cy="868680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4F5CE12-6851-FDDD-817B-7B0CC2B74784}"/>
              </a:ext>
            </a:extLst>
          </p:cNvPr>
          <p:cNvSpPr/>
          <p:nvPr/>
        </p:nvSpPr>
        <p:spPr>
          <a:xfrm>
            <a:off x="274320" y="2980944"/>
            <a:ext cx="82296" cy="868680"/>
          </a:xfrm>
          <a:prstGeom prst="rect">
            <a:avLst/>
          </a:prstGeom>
          <a:solidFill>
            <a:srgbClr val="9F2D20"/>
          </a:solidFill>
          <a:ln w="12700">
            <a:solidFill>
              <a:srgbClr val="9F2D20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C3E9C81-12C3-2DF3-52B3-41C92C5293D7}"/>
              </a:ext>
            </a:extLst>
          </p:cNvPr>
          <p:cNvSpPr/>
          <p:nvPr/>
        </p:nvSpPr>
        <p:spPr>
          <a:xfrm>
            <a:off x="457200" y="32461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LeCun, Y. Deep learning / Y. LeCun, Y. Bengio, G. Hinton // Nature. – 2015. – Vol. 521. – P. 436–444.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37BF45C-2F89-869F-EB80-777FC2D91D54}"/>
              </a:ext>
            </a:extLst>
          </p:cNvPr>
          <p:cNvSpPr/>
          <p:nvPr/>
        </p:nvSpPr>
        <p:spPr>
          <a:xfrm>
            <a:off x="274320" y="3968496"/>
            <a:ext cx="8595360" cy="868680"/>
          </a:xfrm>
          <a:prstGeom prst="rect">
            <a:avLst/>
          </a:prstGeom>
          <a:solidFill>
            <a:srgbClr val="EDEB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A70F0C3-7314-B699-967A-12272AAD7A9C}"/>
              </a:ext>
            </a:extLst>
          </p:cNvPr>
          <p:cNvSpPr/>
          <p:nvPr/>
        </p:nvSpPr>
        <p:spPr>
          <a:xfrm>
            <a:off x="274320" y="3968496"/>
            <a:ext cx="82296" cy="868680"/>
          </a:xfrm>
          <a:prstGeom prst="rect">
            <a:avLst/>
          </a:prstGeom>
          <a:solidFill>
            <a:srgbClr val="76767C"/>
          </a:solidFill>
          <a:ln w="12700">
            <a:solidFill>
              <a:srgbClr val="76767C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F77FAAB-D8FF-3286-C881-87E1DA774F19}"/>
              </a:ext>
            </a:extLst>
          </p:cNvPr>
          <p:cNvSpPr/>
          <p:nvPr/>
        </p:nvSpPr>
        <p:spPr>
          <a:xfrm>
            <a:off x="457200" y="41833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Vaswani, A. Attention is all you need / A. Vaswani [et al.] // Advances in Neural Information Processing Systems. – 2017. – Vol. 30. – P. 5998–6008</a:t>
            </a:r>
          </a:p>
        </p:txBody>
      </p:sp>
    </p:spTree>
    <p:extLst>
      <p:ext uri="{BB962C8B-B14F-4D97-AF65-F5344CB8AC3E}">
        <p14:creationId xmlns:p14="http://schemas.microsoft.com/office/powerpoint/2010/main" val="2523789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1361</Words>
  <Application>Microsoft Office PowerPoint</Application>
  <PresentationFormat>Экран (16:9)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Классы задач ИИ</dc:title>
  <dc:subject>PptxGenJS Presentation</dc:subject>
  <dc:creator>PptxGenJS</dc:creator>
  <cp:lastModifiedBy>Князев Егор Юрьевич</cp:lastModifiedBy>
  <cp:revision>5</cp:revision>
  <dcterms:created xsi:type="dcterms:W3CDTF">2026-03-27T07:30:58Z</dcterms:created>
  <dcterms:modified xsi:type="dcterms:W3CDTF">2026-03-28T10:05:34Z</dcterms:modified>
</cp:coreProperties>
</file>