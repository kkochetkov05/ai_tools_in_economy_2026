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embeddedFontLst>
    <p:embeddedFont>
      <p:font typeface="Open Sans ExtraBold"/>
      <p:bold r:id="rId20"/>
      <p:boldItalic r:id="rId21"/>
    </p:embeddedFont>
    <p:embeddedFont>
      <p:font typeface="Open Sans Light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09">
          <p15:clr>
            <a:srgbClr val="000000"/>
          </p15:clr>
        </p15:guide>
        <p15:guide id="2" pos="41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iLZZ9DfVGvMy5xRzlBge4T9YgJ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09" orient="horz"/>
        <p:guide pos="41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20" Type="http://schemas.openxmlformats.org/officeDocument/2006/relationships/font" Target="fonts/OpenSansExtraBold-bold.fntdata"/><Relationship Id="rId22" Type="http://schemas.openxmlformats.org/officeDocument/2006/relationships/font" Target="fonts/OpenSansLight-regular.fntdata"/><Relationship Id="rId21" Type="http://schemas.openxmlformats.org/officeDocument/2006/relationships/font" Target="fonts/OpenSansExtraBold-boldItalic.fntdata"/><Relationship Id="rId24" Type="http://schemas.openxmlformats.org/officeDocument/2006/relationships/font" Target="fonts/OpenSansLight-italic.fntdata"/><Relationship Id="rId23" Type="http://schemas.openxmlformats.org/officeDocument/2006/relationships/font" Target="fonts/OpenSansLight-bold.fntdata"/><Relationship Id="rId26" Type="http://schemas.openxmlformats.org/officeDocument/2006/relationships/font" Target="fonts/OpenSans-regular.fntdata"/><Relationship Id="rId25" Type="http://schemas.openxmlformats.org/officeDocument/2006/relationships/font" Target="fonts/OpenSansLight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29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f3251fec_0_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6f3251fec_0_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6f3251fec_0_1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6f3251fec_0_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6f3251fec_0_3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6f3251fec_0_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6f3251fec_0_4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6f3251fec_0_4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6f3251fec_0_4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6f3251fec_0_4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6f3251fec_0_2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6f3251fec_0_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6f3251fec_0_2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6f3251fec_0_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6f3251fec_0_6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6f3251fec_0_6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6f3251fec_0_7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6f3251fec_0_7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6f3251fec_0_8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6f3251fec_0_8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6f3251fec_0_8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6f3251fec_0_8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6f3251fec_0_9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6f3251fec_0_9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71d9c8371_0_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71d9c8371_0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>
  <p:cSld name="Титульный слайд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/>
          <p:nvPr/>
        </p:nvSpPr>
        <p:spPr>
          <a:xfrm>
            <a:off x="8204202" y="1"/>
            <a:ext cx="3987797" cy="3685063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" name="Google Shape;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8204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/>
          <p:nvPr/>
        </p:nvSpPr>
        <p:spPr>
          <a:xfrm>
            <a:off x="8204202" y="6200774"/>
            <a:ext cx="3987797" cy="657226"/>
          </a:xfrm>
          <a:prstGeom prst="rect">
            <a:avLst/>
          </a:prstGeom>
          <a:solidFill>
            <a:srgbClr val="8B8B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1086929" y="3685063"/>
            <a:ext cx="7117272" cy="25157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" name="Google Shape;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2011" y="-267304"/>
            <a:ext cx="4572180" cy="2468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 ExtraBold"/>
              <a:buNone/>
              <a:defRPr b="0" i="0" sz="4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/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/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/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/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/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/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/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/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+ ненумер. список">
  <p:cSld name="1_Заголовок + ненумер. список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" name="Google Shape;24;p13"/>
          <p:cNvSpPr txBox="1"/>
          <p:nvPr>
            <p:ph idx="2" type="body"/>
          </p:nvPr>
        </p:nvSpPr>
        <p:spPr>
          <a:xfrm>
            <a:off x="6426329" y="1183006"/>
            <a:ext cx="5580886" cy="549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5" name="Google Shape;25;p13"/>
          <p:cNvSpPr txBox="1"/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раздела" showMasterSp="0">
  <p:cSld name="1_Заголовок раздела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" name="Google Shape;28;p14"/>
          <p:cNvSpPr/>
          <p:nvPr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p14"/>
          <p:cNvSpPr/>
          <p:nvPr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" name="Google Shape;3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8602" y="1178944"/>
            <a:ext cx="6183396" cy="412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915" y="-788417"/>
            <a:ext cx="5003322" cy="2701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ростой текст">
  <p:cSld name="Простой текст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Заголовок раздела" showMasterSp="0">
  <p:cSld name="5_Заголовок раздела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16"/>
          <p:cNvSpPr/>
          <p:nvPr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" name="Google Shape;38;p16"/>
          <p:cNvSpPr/>
          <p:nvPr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7084" y="1178944"/>
            <a:ext cx="7004916" cy="412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7589" y="-672018"/>
            <a:ext cx="4572180" cy="246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686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686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3" name="Google Shape;43;p17"/>
          <p:cNvSpPr txBox="1"/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Заголовок раздела" showMasterSp="0">
  <p:cSld name="6_Заголовок раздела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/>
          <p:nvPr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Google Shape;46;p18"/>
          <p:cNvSpPr/>
          <p:nvPr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8"/>
          <p:cNvSpPr/>
          <p:nvPr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8" name="Google Shape;4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5908" y="1178944"/>
            <a:ext cx="6246089" cy="412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7589" y="-672018"/>
            <a:ext cx="4572180" cy="246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>
  <p:cSld name="Заголовок раздела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/>
          <p:nvPr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19"/>
          <p:cNvSpPr/>
          <p:nvPr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19"/>
          <p:cNvSpPr/>
          <p:nvPr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4" name="Google Shape;5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7084" y="1178944"/>
            <a:ext cx="7004916" cy="412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915" y="-788417"/>
            <a:ext cx="5003322" cy="2701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Заголовок раздела" showMasterSp="0">
  <p:cSld name="7_Заголовок раздела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/>
          <p:nvPr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3B3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20"/>
          <p:cNvSpPr/>
          <p:nvPr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20"/>
          <p:cNvSpPr/>
          <p:nvPr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0" name="Google Shape;60;p20"/>
          <p:cNvGrpSpPr/>
          <p:nvPr/>
        </p:nvGrpSpPr>
        <p:grpSpPr>
          <a:xfrm>
            <a:off x="9143115" y="0"/>
            <a:ext cx="2527882" cy="1474000"/>
            <a:chOff x="0" y="0"/>
            <a:chExt cx="2527882" cy="1474000"/>
          </a:xfrm>
        </p:grpSpPr>
        <p:cxnSp>
          <p:nvCxnSpPr>
            <p:cNvPr id="61" name="Google Shape;61;p20"/>
            <p:cNvCxnSpPr/>
            <p:nvPr/>
          </p:nvCxnSpPr>
          <p:spPr>
            <a:xfrm flipH="1" rot="10800000">
              <a:off x="0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" name="Google Shape;62;p20"/>
            <p:cNvCxnSpPr/>
            <p:nvPr/>
          </p:nvCxnSpPr>
          <p:spPr>
            <a:xfrm flipH="1" rot="10800000">
              <a:off x="114568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" name="Google Shape;63;p20"/>
            <p:cNvCxnSpPr/>
            <p:nvPr/>
          </p:nvCxnSpPr>
          <p:spPr>
            <a:xfrm flipH="1" rot="10800000">
              <a:off x="221774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" name="Google Shape;64;p20"/>
            <p:cNvCxnSpPr/>
            <p:nvPr/>
          </p:nvCxnSpPr>
          <p:spPr>
            <a:xfrm flipH="1" rot="10800000">
              <a:off x="336343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" name="Google Shape;65;p20"/>
            <p:cNvCxnSpPr/>
            <p:nvPr/>
          </p:nvCxnSpPr>
          <p:spPr>
            <a:xfrm flipH="1" rot="10800000">
              <a:off x="451604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20"/>
            <p:cNvCxnSpPr/>
            <p:nvPr/>
          </p:nvCxnSpPr>
          <p:spPr>
            <a:xfrm flipH="1" rot="10800000">
              <a:off x="566171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" name="Google Shape;67;p20"/>
            <p:cNvCxnSpPr/>
            <p:nvPr/>
          </p:nvCxnSpPr>
          <p:spPr>
            <a:xfrm flipH="1" rot="10800000">
              <a:off x="673379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" name="Google Shape;68;p20"/>
            <p:cNvCxnSpPr/>
            <p:nvPr/>
          </p:nvCxnSpPr>
          <p:spPr>
            <a:xfrm flipH="1" rot="10800000">
              <a:off x="787947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" name="Google Shape;69;p20"/>
            <p:cNvCxnSpPr/>
            <p:nvPr/>
          </p:nvCxnSpPr>
          <p:spPr>
            <a:xfrm flipH="1" rot="10800000">
              <a:off x="906656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20"/>
            <p:cNvCxnSpPr/>
            <p:nvPr/>
          </p:nvCxnSpPr>
          <p:spPr>
            <a:xfrm flipH="1" rot="10800000">
              <a:off x="1021223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20"/>
            <p:cNvCxnSpPr/>
            <p:nvPr/>
          </p:nvCxnSpPr>
          <p:spPr>
            <a:xfrm flipH="1" rot="10800000">
              <a:off x="1128431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20"/>
            <p:cNvCxnSpPr/>
            <p:nvPr/>
          </p:nvCxnSpPr>
          <p:spPr>
            <a:xfrm flipH="1" rot="10800000">
              <a:off x="1242999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20"/>
            <p:cNvCxnSpPr/>
            <p:nvPr/>
          </p:nvCxnSpPr>
          <p:spPr>
            <a:xfrm flipH="1" rot="10800000">
              <a:off x="1358259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20"/>
            <p:cNvCxnSpPr/>
            <p:nvPr/>
          </p:nvCxnSpPr>
          <p:spPr>
            <a:xfrm flipH="1" rot="10800000">
              <a:off x="1472827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20"/>
            <p:cNvCxnSpPr/>
            <p:nvPr/>
          </p:nvCxnSpPr>
          <p:spPr>
            <a:xfrm flipH="1" rot="10800000">
              <a:off x="1580035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20"/>
            <p:cNvCxnSpPr/>
            <p:nvPr/>
          </p:nvCxnSpPr>
          <p:spPr>
            <a:xfrm flipH="1" rot="10800000">
              <a:off x="1694602" y="0"/>
              <a:ext cx="833280" cy="147400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0196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77" name="Google Shape;7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08602" y="1178944"/>
            <a:ext cx="6183396" cy="412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7589" y="-672018"/>
            <a:ext cx="4572180" cy="246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Заголовок раздела" showMasterSp="0">
  <p:cSld name="4_Заголовок раздела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21"/>
          <p:cNvSpPr/>
          <p:nvPr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21"/>
          <p:cNvSpPr/>
          <p:nvPr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21"/>
          <p:cNvSpPr txBox="1"/>
          <p:nvPr>
            <p:ph idx="1" type="body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4" name="Google Shape;84;p21"/>
          <p:cNvSpPr/>
          <p:nvPr/>
        </p:nvSpPr>
        <p:spPr>
          <a:xfrm>
            <a:off x="439165" y="1354812"/>
            <a:ext cx="2113079" cy="523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Контакты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5" name="Google Shape;8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2915" y="-788417"/>
            <a:ext cx="5003322" cy="2701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в центре + врезка + текст">
  <p:cSld name="Рисунок в центре + врезка + текст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13339"/>
            <a:ext cx="12203466" cy="20175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2"/>
          <p:cNvSpPr/>
          <p:nvPr/>
        </p:nvSpPr>
        <p:spPr>
          <a:xfrm>
            <a:off x="7833360" y="2560320"/>
            <a:ext cx="3933287" cy="4000498"/>
          </a:xfrm>
          <a:prstGeom prst="snip1Rect">
            <a:avLst>
              <a:gd fmla="val 12725" name="adj"/>
            </a:avLst>
          </a:prstGeom>
          <a:solidFill>
            <a:srgbClr val="F8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        </a:t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8161522" y="2830182"/>
            <a:ext cx="3051306" cy="2210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0" name="Google Shape;90;p22"/>
          <p:cNvSpPr txBox="1"/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22"/>
          <p:cNvSpPr txBox="1"/>
          <p:nvPr>
            <p:ph idx="2" type="body"/>
          </p:nvPr>
        </p:nvSpPr>
        <p:spPr>
          <a:xfrm>
            <a:off x="177165" y="3406140"/>
            <a:ext cx="7315201" cy="31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+ подпись" showMasterSp="0">
  <p:cSld name="Рисунок + подпись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0" y="1"/>
            <a:ext cx="12192000" cy="57035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2" type="body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лева + текст">
  <p:cSld name="Рисунок слева + текст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0" y="0"/>
            <a:ext cx="600646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6466072" y="1786242"/>
            <a:ext cx="5242849" cy="662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8" name="Google Shape;98;p24"/>
          <p:cNvSpPr txBox="1"/>
          <p:nvPr>
            <p:ph type="title"/>
          </p:nvPr>
        </p:nvSpPr>
        <p:spPr>
          <a:xfrm>
            <a:off x="6461831" y="554439"/>
            <a:ext cx="5264341" cy="894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 showMasterSp="0">
  <p:cSld name="1_Титульный слайд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/>
          <p:nvPr/>
        </p:nvSpPr>
        <p:spPr>
          <a:xfrm>
            <a:off x="8204202" y="1"/>
            <a:ext cx="3987797" cy="368506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" name="Google Shape;10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82042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/>
          <p:nvPr/>
        </p:nvSpPr>
        <p:spPr>
          <a:xfrm>
            <a:off x="8204202" y="6200774"/>
            <a:ext cx="3987797" cy="65722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5"/>
          <p:cNvSpPr/>
          <p:nvPr/>
        </p:nvSpPr>
        <p:spPr>
          <a:xfrm>
            <a:off x="1086929" y="3685063"/>
            <a:ext cx="7117272" cy="25157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25"/>
          <p:cNvSpPr/>
          <p:nvPr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2011" y="-646868"/>
            <a:ext cx="4572180" cy="2468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исунок в центре + врезка + текст">
  <p:cSld name="1_Рисунок в центре + врезка + текст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213339"/>
            <a:ext cx="7622546" cy="20175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6"/>
          <p:cNvSpPr/>
          <p:nvPr/>
        </p:nvSpPr>
        <p:spPr>
          <a:xfrm>
            <a:off x="7833360" y="1213338"/>
            <a:ext cx="3933287" cy="5331234"/>
          </a:xfrm>
          <a:prstGeom prst="snip1Rect">
            <a:avLst>
              <a:gd fmla="val 12725" name="adj"/>
            </a:avLst>
          </a:prstGeom>
          <a:solidFill>
            <a:srgbClr val="F8F1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         </a:t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8161522" y="1483200"/>
            <a:ext cx="3051306" cy="2210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0" name="Google Shape;110;p26"/>
          <p:cNvSpPr txBox="1"/>
          <p:nvPr>
            <p:ph idx="2" type="body"/>
          </p:nvPr>
        </p:nvSpPr>
        <p:spPr>
          <a:xfrm>
            <a:off x="177165" y="3406140"/>
            <a:ext cx="7315201" cy="3137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1" name="Google Shape;111;p26"/>
          <p:cNvSpPr txBox="1"/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">
  <p:cSld name="0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0" y="0"/>
            <a:ext cx="600646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2" type="body"/>
          </p:nvPr>
        </p:nvSpPr>
        <p:spPr>
          <a:xfrm>
            <a:off x="6291532" y="1786242"/>
            <a:ext cx="5681932" cy="662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type="title"/>
          </p:nvPr>
        </p:nvSpPr>
        <p:spPr>
          <a:xfrm>
            <a:off x="6296531" y="554439"/>
            <a:ext cx="4998322" cy="894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нумерованный список">
  <p:cSld name="Заголовок + нумерованный список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2000"/>
              <a:buFont typeface="Open Sans ExtraBold"/>
              <a:buAutoNum type="arabicPeriod"/>
              <a:defRPr b="0" i="0" sz="20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800"/>
              <a:buFont typeface="Open Sans ExtraBold"/>
              <a:buAutoNum type="arabicPeriod"/>
              <a:defRPr b="0" i="0" sz="18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600"/>
              <a:buFont typeface="Open Sans ExtraBold"/>
              <a:buAutoNum type="arabicPeriod"/>
              <a:defRPr b="0" i="0" sz="16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Open Sans ExtraBold"/>
              <a:buAutoNum type="arabicPeriod"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Open Sans ExtraBold"/>
              <a:buAutoNum type="arabicPeriod"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раздела" showMasterSp="0">
  <p:cSld name="2_Заголовок раздела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9"/>
          <p:cNvSpPr/>
          <p:nvPr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9"/>
          <p:cNvSpPr/>
          <p:nvPr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rgbClr val="6868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5908" y="1178944"/>
            <a:ext cx="6246089" cy="4122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915" y="-788417"/>
            <a:ext cx="5003322" cy="2701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&quot;Дорожная карта&quot;">
  <p:cSld name="&quot;Дорожная карта&quot;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30"/>
          <p:cNvCxnSpPr/>
          <p:nvPr/>
        </p:nvCxnSpPr>
        <p:spPr>
          <a:xfrm>
            <a:off x="165735" y="1417320"/>
            <a:ext cx="11755800" cy="1194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6868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30"/>
          <p:cNvSpPr txBox="1"/>
          <p:nvPr>
            <p:ph idx="1" type="body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8" name="Google Shape;128;p30"/>
          <p:cNvSpPr txBox="1"/>
          <p:nvPr>
            <p:ph idx="2" type="body"/>
          </p:nvPr>
        </p:nvSpPr>
        <p:spPr>
          <a:xfrm>
            <a:off x="2711624" y="1603362"/>
            <a:ext cx="1560231" cy="236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9" name="Google Shape;129;p30"/>
          <p:cNvSpPr txBox="1"/>
          <p:nvPr>
            <p:ph idx="3" type="body"/>
          </p:nvPr>
        </p:nvSpPr>
        <p:spPr>
          <a:xfrm>
            <a:off x="6308600" y="1277607"/>
            <a:ext cx="5612889" cy="562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0" name="Google Shape;130;p30"/>
          <p:cNvSpPr txBox="1"/>
          <p:nvPr>
            <p:ph idx="4" type="body"/>
          </p:nvPr>
        </p:nvSpPr>
        <p:spPr>
          <a:xfrm>
            <a:off x="5879975" y="2780929"/>
            <a:ext cx="3418329" cy="101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1" name="Google Shape;131;p30"/>
          <p:cNvSpPr txBox="1"/>
          <p:nvPr>
            <p:ph idx="5" type="body"/>
          </p:nvPr>
        </p:nvSpPr>
        <p:spPr>
          <a:xfrm>
            <a:off x="9479220" y="2780929"/>
            <a:ext cx="2442269" cy="1013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2" name="Google Shape;132;p30"/>
          <p:cNvSpPr txBox="1"/>
          <p:nvPr>
            <p:ph idx="6" type="body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86868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3" name="Google Shape;133;p30"/>
          <p:cNvSpPr txBox="1"/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иаграмма + текст справа">
  <p:cSld name="Диаграмма + текст справа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6" name="Google Shape;136;p31"/>
          <p:cNvSpPr txBox="1"/>
          <p:nvPr>
            <p:ph idx="2" type="body"/>
          </p:nvPr>
        </p:nvSpPr>
        <p:spPr>
          <a:xfrm>
            <a:off x="171451" y="1229042"/>
            <a:ext cx="6052184" cy="535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37" name="Google Shape;137;p31"/>
          <p:cNvSpPr txBox="1"/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 + рисунок" showMasterSp="0">
  <p:cSld name="Заголовок + текст + рисунок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2"/>
          <p:cNvSpPr txBox="1"/>
          <p:nvPr>
            <p:ph idx="1" type="body"/>
          </p:nvPr>
        </p:nvSpPr>
        <p:spPr>
          <a:xfrm>
            <a:off x="5183187" y="0"/>
            <a:ext cx="7008812" cy="6857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68686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0" name="Google Shape;140;p32"/>
          <p:cNvSpPr txBox="1"/>
          <p:nvPr>
            <p:ph idx="2" type="body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8686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68686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1" name="Google Shape;141;p32"/>
          <p:cNvSpPr txBox="1"/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3826"/>
              </a:buClr>
              <a:buSzPts val="2800"/>
              <a:buFont typeface="Open Sans ExtraBold"/>
              <a:buNone/>
              <a:defRPr b="0" i="0" sz="2800" u="none" cap="none" strike="noStrike">
                <a:solidFill>
                  <a:srgbClr val="923826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0"/>
          <p:cNvCxnSpPr/>
          <p:nvPr/>
        </p:nvCxnSpPr>
        <p:spPr>
          <a:xfrm>
            <a:off x="0" y="163887"/>
            <a:ext cx="10548046" cy="0"/>
          </a:xfrm>
          <a:prstGeom prst="straightConnector1">
            <a:avLst/>
          </a:prstGeom>
          <a:noFill/>
          <a:ln cap="flat" cmpd="sng" w="9525">
            <a:solidFill>
              <a:srgbClr val="9238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" name="Google Shape;7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343813" y="-309257"/>
            <a:ext cx="2044945" cy="11041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hyperlink" Target="https://www.sciencedirect.com/science/article/pii/S1361841517301135" TargetMode="External"/><Relationship Id="rId9" Type="http://schemas.openxmlformats.org/officeDocument/2006/relationships/hyperlink" Target="https://pmc.ncbi.nlm.nih.gov/articles/PMC5479722/" TargetMode="External"/><Relationship Id="rId5" Type="http://schemas.openxmlformats.org/officeDocument/2006/relationships/hyperlink" Target="https://www.sciencedirect.com/science/article/pii/S1361841517301135" TargetMode="External"/><Relationship Id="rId6" Type="http://schemas.openxmlformats.org/officeDocument/2006/relationships/hyperlink" Target="https://www.sciencedirect.com/science/article/pii/S1361841517301135" TargetMode="External"/><Relationship Id="rId7" Type="http://schemas.openxmlformats.org/officeDocument/2006/relationships/hyperlink" Target="https://pmc.ncbi.nlm.nih.gov/articles/PMC5479722/" TargetMode="External"/><Relationship Id="rId8" Type="http://schemas.openxmlformats.org/officeDocument/2006/relationships/hyperlink" Target="https://pmc.ncbi.nlm.nih.gov/articles/PMC5479722/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vision.stanford.edu/cs598_spring07/papers/Lecun98.pdf" TargetMode="External"/><Relationship Id="rId10" Type="http://schemas.openxmlformats.org/officeDocument/2006/relationships/hyperlink" Target="https://vision.stanford.edu/cs598_spring07/papers/Lecun98.pdf" TargetMode="External"/><Relationship Id="rId13" Type="http://schemas.openxmlformats.org/officeDocument/2006/relationships/hyperlink" Target="https://arxiv.org/abs/2010.11929" TargetMode="External"/><Relationship Id="rId12" Type="http://schemas.openxmlformats.org/officeDocument/2006/relationships/hyperlink" Target="https://arxiv.org/abs/2010.11929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sciencedirect.com/science/article/pii/S1361841517301135" TargetMode="External"/><Relationship Id="rId4" Type="http://schemas.openxmlformats.org/officeDocument/2006/relationships/hyperlink" Target="https://www.sciencedirect.com/science/article/pii/S1361841517301135" TargetMode="External"/><Relationship Id="rId9" Type="http://schemas.openxmlformats.org/officeDocument/2006/relationships/hyperlink" Target="https://vision.stanford.edu/cs598_spring07/papers/Lecun98.pdf" TargetMode="External"/><Relationship Id="rId15" Type="http://schemas.openxmlformats.org/officeDocument/2006/relationships/hyperlink" Target="https://pmc.ncbi.nlm.nih.gov/articles/PMC12701147/" TargetMode="External"/><Relationship Id="rId14" Type="http://schemas.openxmlformats.org/officeDocument/2006/relationships/hyperlink" Target="https://arxiv.org/abs/2010.11929" TargetMode="External"/><Relationship Id="rId17" Type="http://schemas.openxmlformats.org/officeDocument/2006/relationships/hyperlink" Target="https://pmc.ncbi.nlm.nih.gov/articles/PMC12701147/" TargetMode="External"/><Relationship Id="rId16" Type="http://schemas.openxmlformats.org/officeDocument/2006/relationships/hyperlink" Target="https://pmc.ncbi.nlm.nih.gov/articles/PMC12701147/" TargetMode="External"/><Relationship Id="rId5" Type="http://schemas.openxmlformats.org/officeDocument/2006/relationships/hyperlink" Target="https://www.sciencedirect.com/science/article/pii/S1361841517301135" TargetMode="External"/><Relationship Id="rId6" Type="http://schemas.openxmlformats.org/officeDocument/2006/relationships/hyperlink" Target="https://pmc.ncbi.nlm.nih.gov/articles/PMC5479722/" TargetMode="External"/><Relationship Id="rId7" Type="http://schemas.openxmlformats.org/officeDocument/2006/relationships/hyperlink" Target="https://pmc.ncbi.nlm.nih.gov/articles/PMC5479722/" TargetMode="External"/><Relationship Id="rId8" Type="http://schemas.openxmlformats.org/officeDocument/2006/relationships/hyperlink" Target="https://pmc.ncbi.nlm.nih.gov/articles/PMC5479722/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s://arxiv.org/abs/1506.01497" TargetMode="External"/><Relationship Id="rId10" Type="http://schemas.openxmlformats.org/officeDocument/2006/relationships/hyperlink" Target="https://arxiv.org/abs/1506.01497" TargetMode="External"/><Relationship Id="rId13" Type="http://schemas.openxmlformats.org/officeDocument/2006/relationships/hyperlink" Target="https://arxiv.org/abs/1506.02640" TargetMode="External"/><Relationship Id="rId12" Type="http://schemas.openxmlformats.org/officeDocument/2006/relationships/hyperlink" Target="https://arxiv.org/abs/1506.02640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hyperlink" Target="https://www.sciencedirect.com/science/article/pii/S1361841517301135" TargetMode="External"/><Relationship Id="rId9" Type="http://schemas.openxmlformats.org/officeDocument/2006/relationships/hyperlink" Target="https://arxiv.org/abs/1506.01497" TargetMode="External"/><Relationship Id="rId15" Type="http://schemas.openxmlformats.org/officeDocument/2006/relationships/hyperlink" Target="https://arxiv.org/abs/1708.02002" TargetMode="External"/><Relationship Id="rId14" Type="http://schemas.openxmlformats.org/officeDocument/2006/relationships/hyperlink" Target="https://arxiv.org/abs/1506.02640" TargetMode="External"/><Relationship Id="rId17" Type="http://schemas.openxmlformats.org/officeDocument/2006/relationships/hyperlink" Target="https://arxiv.org/abs/1708.02002" TargetMode="External"/><Relationship Id="rId16" Type="http://schemas.openxmlformats.org/officeDocument/2006/relationships/hyperlink" Target="https://arxiv.org/abs/1708.02002" TargetMode="External"/><Relationship Id="rId5" Type="http://schemas.openxmlformats.org/officeDocument/2006/relationships/hyperlink" Target="https://www.sciencedirect.com/science/article/pii/S1361841517301135" TargetMode="External"/><Relationship Id="rId6" Type="http://schemas.openxmlformats.org/officeDocument/2006/relationships/hyperlink" Target="https://pmc.ncbi.nlm.nih.gov/articles/PMC11699422/" TargetMode="External"/><Relationship Id="rId7" Type="http://schemas.openxmlformats.org/officeDocument/2006/relationships/hyperlink" Target="https://pmc.ncbi.nlm.nih.gov/articles/PMC11699422/" TargetMode="External"/><Relationship Id="rId8" Type="http://schemas.openxmlformats.org/officeDocument/2006/relationships/hyperlink" Target="https://pmc.ncbi.nlm.nih.gov/articles/PMC11699422/" TargetMode="Externa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sciencedirect.com/science/article/pii/S1361841517301135" TargetMode="External"/><Relationship Id="rId11" Type="http://schemas.openxmlformats.org/officeDocument/2006/relationships/hyperlink" Target="https://arxiv.org/abs/1606.06650" TargetMode="External"/><Relationship Id="rId10" Type="http://schemas.openxmlformats.org/officeDocument/2006/relationships/hyperlink" Target="https://arxiv.org/abs/1505.04597" TargetMode="External"/><Relationship Id="rId13" Type="http://schemas.openxmlformats.org/officeDocument/2006/relationships/hyperlink" Target="https://arxiv.org/abs/1606.06650" TargetMode="External"/><Relationship Id="rId12" Type="http://schemas.openxmlformats.org/officeDocument/2006/relationships/hyperlink" Target="https://arxiv.org/abs/1606.06650" TargetMode="External"/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www.sciencedirect.com/science/article/pii/S1361841517301135" TargetMode="External"/><Relationship Id="rId9" Type="http://schemas.openxmlformats.org/officeDocument/2006/relationships/hyperlink" Target="https://arxiv.org/abs/1505.04597" TargetMode="External"/><Relationship Id="rId15" Type="http://schemas.openxmlformats.org/officeDocument/2006/relationships/hyperlink" Target="https://arxiv.org/abs/1804.03999" TargetMode="External"/><Relationship Id="rId14" Type="http://schemas.openxmlformats.org/officeDocument/2006/relationships/hyperlink" Target="https://arxiv.org/abs/1804.03999" TargetMode="External"/><Relationship Id="rId17" Type="http://schemas.openxmlformats.org/officeDocument/2006/relationships/hyperlink" Target="https://www.nature.com/articles/s41592-020-01008-z" TargetMode="External"/><Relationship Id="rId16" Type="http://schemas.openxmlformats.org/officeDocument/2006/relationships/hyperlink" Target="https://arxiv.org/abs/1804.03999" TargetMode="External"/><Relationship Id="rId5" Type="http://schemas.openxmlformats.org/officeDocument/2006/relationships/hyperlink" Target="https://www.sciencedirect.com/science/article/pii/S1361841517301135" TargetMode="External"/><Relationship Id="rId19" Type="http://schemas.openxmlformats.org/officeDocument/2006/relationships/hyperlink" Target="https://www.nature.com/articles/s41592-020-01008-z" TargetMode="External"/><Relationship Id="rId6" Type="http://schemas.openxmlformats.org/officeDocument/2006/relationships/hyperlink" Target="https://pmc.ncbi.nlm.nih.gov/articles/PMC12701147/" TargetMode="External"/><Relationship Id="rId18" Type="http://schemas.openxmlformats.org/officeDocument/2006/relationships/hyperlink" Target="https://www.nature.com/articles/s41592-020-01008-z" TargetMode="External"/><Relationship Id="rId7" Type="http://schemas.openxmlformats.org/officeDocument/2006/relationships/hyperlink" Target="https://pmc.ncbi.nlm.nih.gov/articles/PMC12701147/" TargetMode="External"/><Relationship Id="rId8" Type="http://schemas.openxmlformats.org/officeDocument/2006/relationships/hyperlink" Target="https://arxiv.org/abs/1505.04597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ciencedirect.com/science/article/pii/S1532046424000340" TargetMode="External"/><Relationship Id="rId4" Type="http://schemas.openxmlformats.org/officeDocument/2006/relationships/hyperlink" Target="https://www.sciencedirect.com/science/article/pii/S1532046424000340" TargetMode="External"/><Relationship Id="rId5" Type="http://schemas.openxmlformats.org/officeDocument/2006/relationships/hyperlink" Target="https://www.sciencedirect.com/science/article/pii/S1532046424000340" TargetMode="External"/><Relationship Id="rId6" Type="http://schemas.openxmlformats.org/officeDocument/2006/relationships/hyperlink" Target="https://medinform.jmir.org/2024/1/e49724" TargetMode="External"/><Relationship Id="rId7" Type="http://schemas.openxmlformats.org/officeDocument/2006/relationships/hyperlink" Target="https://medinform.jmir.org/2024/1/e49724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hyperlink" Target="https://www.sciencedirect.com/science/article/pii/S1361841517301135" TargetMode="External"/><Relationship Id="rId5" Type="http://schemas.openxmlformats.org/officeDocument/2006/relationships/hyperlink" Target="https://www.sciencedirect.com/science/article/pii/S1361841517301135" TargetMode="External"/><Relationship Id="rId6" Type="http://schemas.openxmlformats.org/officeDocument/2006/relationships/hyperlink" Target="https://pmc.ncbi.nlm.nih.gov/articles/PMC5479722/" TargetMode="External"/><Relationship Id="rId7" Type="http://schemas.openxmlformats.org/officeDocument/2006/relationships/hyperlink" Target="https://vision.stanford.edu/cs598_spring07/papers/Lecun98.pdf" TargetMode="External"/><Relationship Id="rId8" Type="http://schemas.openxmlformats.org/officeDocument/2006/relationships/hyperlink" Target="https://vision.stanford.edu/cs598_spring07/papers/Lecun98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hyperlink" Target="https://arxiv.org/abs/1505.04597" TargetMode="External"/><Relationship Id="rId5" Type="http://schemas.openxmlformats.org/officeDocument/2006/relationships/hyperlink" Target="https://arxiv.org/abs/1505.04597" TargetMode="External"/><Relationship Id="rId6" Type="http://schemas.openxmlformats.org/officeDocument/2006/relationships/hyperlink" Target="https://arxiv.org/abs/1505.04597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hyperlink" Target="https://arxiv.org/abs/1505.04597" TargetMode="External"/><Relationship Id="rId6" Type="http://schemas.openxmlformats.org/officeDocument/2006/relationships/hyperlink" Target="https://arxiv.org/abs/1505.04597" TargetMode="External"/><Relationship Id="rId7" Type="http://schemas.openxmlformats.org/officeDocument/2006/relationships/hyperlink" Target="https://arxiv.org/abs/1505.04597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hyperlink" Target="https://www.sciencedirect.com/science/article/pii/S1532046424000340" TargetMode="External"/><Relationship Id="rId6" Type="http://schemas.openxmlformats.org/officeDocument/2006/relationships/hyperlink" Target="https://www.sciencedirect.com/science/article/pii/S1532046424000340" TargetMode="External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nature.com/articles/s41592-020-01008-z" TargetMode="External"/><Relationship Id="rId11" Type="http://schemas.openxmlformats.org/officeDocument/2006/relationships/hyperlink" Target="https://pmc.ncbi.nlm.nih.gov/articles/PMC11699422/" TargetMode="External"/><Relationship Id="rId10" Type="http://schemas.openxmlformats.org/officeDocument/2006/relationships/hyperlink" Target="https://pmc.ncbi.nlm.nih.gov/articles/PMC11699422/" TargetMode="External"/><Relationship Id="rId21" Type="http://schemas.openxmlformats.org/officeDocument/2006/relationships/hyperlink" Target="https://arxiv.org/abs/1708.02002" TargetMode="External"/><Relationship Id="rId13" Type="http://schemas.openxmlformats.org/officeDocument/2006/relationships/hyperlink" Target="https://arxiv.org/abs/1708.02002" TargetMode="External"/><Relationship Id="rId12" Type="http://schemas.openxmlformats.org/officeDocument/2006/relationships/hyperlink" Target="https://pmc.ncbi.nlm.nih.gov/articles/PMC11699422/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hyperlink" Target="https://www.sciencedirect.com/science/article/pii/S1361841517301135" TargetMode="External"/><Relationship Id="rId9" Type="http://schemas.openxmlformats.org/officeDocument/2006/relationships/hyperlink" Target="https://pmc.ncbi.nlm.nih.gov/articles/PMC5479722/" TargetMode="External"/><Relationship Id="rId15" Type="http://schemas.openxmlformats.org/officeDocument/2006/relationships/hyperlink" Target="https://arxiv.org/abs/1606.06650" TargetMode="External"/><Relationship Id="rId14" Type="http://schemas.openxmlformats.org/officeDocument/2006/relationships/hyperlink" Target="https://arxiv.org/abs/1708.02002" TargetMode="External"/><Relationship Id="rId17" Type="http://schemas.openxmlformats.org/officeDocument/2006/relationships/hyperlink" Target="https://arxiv.org/abs/1606.06650" TargetMode="External"/><Relationship Id="rId16" Type="http://schemas.openxmlformats.org/officeDocument/2006/relationships/hyperlink" Target="https://arxiv.org/abs/1606.06650" TargetMode="External"/><Relationship Id="rId5" Type="http://schemas.openxmlformats.org/officeDocument/2006/relationships/hyperlink" Target="https://www.sciencedirect.com/science/article/pii/S1361841517301135" TargetMode="External"/><Relationship Id="rId19" Type="http://schemas.openxmlformats.org/officeDocument/2006/relationships/hyperlink" Target="https://www.nature.com/articles/s41592-020-01008-z" TargetMode="External"/><Relationship Id="rId6" Type="http://schemas.openxmlformats.org/officeDocument/2006/relationships/hyperlink" Target="https://www.sciencedirect.com/science/article/pii/S1361841517301135" TargetMode="External"/><Relationship Id="rId18" Type="http://schemas.openxmlformats.org/officeDocument/2006/relationships/hyperlink" Target="https://www.nature.com/articles/s41592-020-01008-z" TargetMode="External"/><Relationship Id="rId7" Type="http://schemas.openxmlformats.org/officeDocument/2006/relationships/hyperlink" Target="https://pmc.ncbi.nlm.nih.gov/articles/PMC5479722/" TargetMode="External"/><Relationship Id="rId8" Type="http://schemas.openxmlformats.org/officeDocument/2006/relationships/hyperlink" Target="https://pmc.ncbi.nlm.nih.gov/articles/PMC5479722/" TargetMode="Externa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nature.com/articles/s41467-025-56822-w" TargetMode="External"/><Relationship Id="rId10" Type="http://schemas.openxmlformats.org/officeDocument/2006/relationships/hyperlink" Target="https://medinform.jmir.org/2024/1/e49724" TargetMode="External"/><Relationship Id="rId13" Type="http://schemas.openxmlformats.org/officeDocument/2006/relationships/hyperlink" Target="https://pmc.ncbi.nlm.nih.gov/articles/PMC12701147/" TargetMode="External"/><Relationship Id="rId12" Type="http://schemas.openxmlformats.org/officeDocument/2006/relationships/hyperlink" Target="https://www.nature.com/articles/s41467-025-56822-w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hyperlink" Target="https://www.sciencedirect.com/science/article/pii/S1361841517301135" TargetMode="External"/><Relationship Id="rId9" Type="http://schemas.openxmlformats.org/officeDocument/2006/relationships/hyperlink" Target="https://www.sciencedirect.com/science/article/pii/S1532046424000340" TargetMode="External"/><Relationship Id="rId5" Type="http://schemas.openxmlformats.org/officeDocument/2006/relationships/hyperlink" Target="https://www.sciencedirect.com/science/article/pii/S1361841517301135" TargetMode="External"/><Relationship Id="rId6" Type="http://schemas.openxmlformats.org/officeDocument/2006/relationships/hyperlink" Target="https://pmc.ncbi.nlm.nih.gov/articles/PMC12701147/" TargetMode="External"/><Relationship Id="rId7" Type="http://schemas.openxmlformats.org/officeDocument/2006/relationships/hyperlink" Target="https://pmc.ncbi.nlm.nih.gov/articles/PMC12701147/" TargetMode="External"/><Relationship Id="rId8" Type="http://schemas.openxmlformats.org/officeDocument/2006/relationships/hyperlink" Target="https://www.sciencedirect.com/science/article/pii/S1532046424000340" TargetMode="External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hyperlink" Target="https://www.nature.com/articles/s41592-020-01008-z" TargetMode="External"/><Relationship Id="rId42" Type="http://schemas.openxmlformats.org/officeDocument/2006/relationships/hyperlink" Target="https://www.sciencedirect.com/science/article/pii/S1532046424000340" TargetMode="External"/><Relationship Id="rId41" Type="http://schemas.openxmlformats.org/officeDocument/2006/relationships/hyperlink" Target="https://www.nature.com/articles/s41592-020-01008-z" TargetMode="External"/><Relationship Id="rId44" Type="http://schemas.openxmlformats.org/officeDocument/2006/relationships/hyperlink" Target="https://www.sciencedirect.com/science/article/pii/S1532046424000340" TargetMode="External"/><Relationship Id="rId43" Type="http://schemas.openxmlformats.org/officeDocument/2006/relationships/hyperlink" Target="https://www.sciencedirect.com/science/article/pii/S1532046424000340" TargetMode="External"/><Relationship Id="rId46" Type="http://schemas.openxmlformats.org/officeDocument/2006/relationships/hyperlink" Target="https://medinform.jmir.org/2024/1/e49724" TargetMode="External"/><Relationship Id="rId45" Type="http://schemas.openxmlformats.org/officeDocument/2006/relationships/hyperlink" Target="https://medinform.jmir.org/2024/1/e49724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sciencedirect.com/science/article/pii/S1361841517301135" TargetMode="External"/><Relationship Id="rId4" Type="http://schemas.openxmlformats.org/officeDocument/2006/relationships/hyperlink" Target="https://www.sciencedirect.com/science/article/pii/S1361841517301135" TargetMode="External"/><Relationship Id="rId9" Type="http://schemas.openxmlformats.org/officeDocument/2006/relationships/hyperlink" Target="https://vision.stanford.edu/cs598_spring07/papers/Lecun98.pdf" TargetMode="External"/><Relationship Id="rId48" Type="http://schemas.openxmlformats.org/officeDocument/2006/relationships/hyperlink" Target="https://www.nature.com/articles/s41467-025-56822-w" TargetMode="External"/><Relationship Id="rId47" Type="http://schemas.openxmlformats.org/officeDocument/2006/relationships/hyperlink" Target="https://medinform.jmir.org/2024/1/e49724" TargetMode="External"/><Relationship Id="rId49" Type="http://schemas.openxmlformats.org/officeDocument/2006/relationships/hyperlink" Target="https://www.nature.com/articles/s41467-025-56822-w" TargetMode="External"/><Relationship Id="rId5" Type="http://schemas.openxmlformats.org/officeDocument/2006/relationships/hyperlink" Target="https://www.sciencedirect.com/science/article/pii/S1361841517301135" TargetMode="External"/><Relationship Id="rId6" Type="http://schemas.openxmlformats.org/officeDocument/2006/relationships/hyperlink" Target="https://pmc.ncbi.nlm.nih.gov/articles/PMC5479722/" TargetMode="External"/><Relationship Id="rId7" Type="http://schemas.openxmlformats.org/officeDocument/2006/relationships/hyperlink" Target="https://pmc.ncbi.nlm.nih.gov/articles/PMC5479722/" TargetMode="External"/><Relationship Id="rId8" Type="http://schemas.openxmlformats.org/officeDocument/2006/relationships/hyperlink" Target="https://pmc.ncbi.nlm.nih.gov/articles/PMC5479722/" TargetMode="External"/><Relationship Id="rId31" Type="http://schemas.openxmlformats.org/officeDocument/2006/relationships/hyperlink" Target="https://arxiv.org/abs/1505.04597" TargetMode="External"/><Relationship Id="rId30" Type="http://schemas.openxmlformats.org/officeDocument/2006/relationships/hyperlink" Target="https://arxiv.org/abs/1505.04597" TargetMode="External"/><Relationship Id="rId33" Type="http://schemas.openxmlformats.org/officeDocument/2006/relationships/hyperlink" Target="https://arxiv.org/abs/1606.06650" TargetMode="External"/><Relationship Id="rId32" Type="http://schemas.openxmlformats.org/officeDocument/2006/relationships/hyperlink" Target="https://arxiv.org/abs/1505.04597" TargetMode="External"/><Relationship Id="rId35" Type="http://schemas.openxmlformats.org/officeDocument/2006/relationships/hyperlink" Target="https://arxiv.org/abs/1606.06650" TargetMode="External"/><Relationship Id="rId34" Type="http://schemas.openxmlformats.org/officeDocument/2006/relationships/hyperlink" Target="https://arxiv.org/abs/1606.06650" TargetMode="External"/><Relationship Id="rId37" Type="http://schemas.openxmlformats.org/officeDocument/2006/relationships/hyperlink" Target="https://arxiv.org/abs/1804.03999" TargetMode="External"/><Relationship Id="rId36" Type="http://schemas.openxmlformats.org/officeDocument/2006/relationships/hyperlink" Target="https://arxiv.org/abs/1804.03999" TargetMode="External"/><Relationship Id="rId39" Type="http://schemas.openxmlformats.org/officeDocument/2006/relationships/hyperlink" Target="https://www.nature.com/articles/s41592-020-01008-z" TargetMode="External"/><Relationship Id="rId38" Type="http://schemas.openxmlformats.org/officeDocument/2006/relationships/hyperlink" Target="https://arxiv.org/abs/1804.03999" TargetMode="External"/><Relationship Id="rId20" Type="http://schemas.openxmlformats.org/officeDocument/2006/relationships/hyperlink" Target="https://pmc.ncbi.nlm.nih.gov/articles/PMC11699422/" TargetMode="External"/><Relationship Id="rId22" Type="http://schemas.openxmlformats.org/officeDocument/2006/relationships/hyperlink" Target="https://arxiv.org/abs/1506.01497" TargetMode="External"/><Relationship Id="rId21" Type="http://schemas.openxmlformats.org/officeDocument/2006/relationships/hyperlink" Target="https://arxiv.org/abs/1506.01497" TargetMode="External"/><Relationship Id="rId24" Type="http://schemas.openxmlformats.org/officeDocument/2006/relationships/hyperlink" Target="https://arxiv.org/abs/1506.02640" TargetMode="External"/><Relationship Id="rId23" Type="http://schemas.openxmlformats.org/officeDocument/2006/relationships/hyperlink" Target="https://arxiv.org/abs/1506.01497" TargetMode="External"/><Relationship Id="rId26" Type="http://schemas.openxmlformats.org/officeDocument/2006/relationships/hyperlink" Target="https://arxiv.org/abs/1506.02640" TargetMode="External"/><Relationship Id="rId25" Type="http://schemas.openxmlformats.org/officeDocument/2006/relationships/hyperlink" Target="https://arxiv.org/abs/1506.02640" TargetMode="External"/><Relationship Id="rId28" Type="http://schemas.openxmlformats.org/officeDocument/2006/relationships/hyperlink" Target="https://arxiv.org/abs/1708.02002" TargetMode="External"/><Relationship Id="rId27" Type="http://schemas.openxmlformats.org/officeDocument/2006/relationships/hyperlink" Target="https://arxiv.org/abs/1708.02002" TargetMode="External"/><Relationship Id="rId29" Type="http://schemas.openxmlformats.org/officeDocument/2006/relationships/hyperlink" Target="https://arxiv.org/abs/1708.02002" TargetMode="External"/><Relationship Id="rId11" Type="http://schemas.openxmlformats.org/officeDocument/2006/relationships/hyperlink" Target="https://vision.stanford.edu/cs598_spring07/papers/Lecun98.pdf" TargetMode="External"/><Relationship Id="rId10" Type="http://schemas.openxmlformats.org/officeDocument/2006/relationships/hyperlink" Target="https://vision.stanford.edu/cs598_spring07/papers/Lecun98.pdf" TargetMode="External"/><Relationship Id="rId13" Type="http://schemas.openxmlformats.org/officeDocument/2006/relationships/hyperlink" Target="https://arxiv.org/abs/2010.11929" TargetMode="External"/><Relationship Id="rId12" Type="http://schemas.openxmlformats.org/officeDocument/2006/relationships/hyperlink" Target="https://arxiv.org/abs/2010.11929" TargetMode="External"/><Relationship Id="rId15" Type="http://schemas.openxmlformats.org/officeDocument/2006/relationships/hyperlink" Target="https://pmc.ncbi.nlm.nih.gov/articles/PMC12701147/" TargetMode="External"/><Relationship Id="rId14" Type="http://schemas.openxmlformats.org/officeDocument/2006/relationships/hyperlink" Target="https://arxiv.org/abs/2010.11929" TargetMode="External"/><Relationship Id="rId17" Type="http://schemas.openxmlformats.org/officeDocument/2006/relationships/hyperlink" Target="https://pmc.ncbi.nlm.nih.gov/articles/PMC12701147/" TargetMode="External"/><Relationship Id="rId16" Type="http://schemas.openxmlformats.org/officeDocument/2006/relationships/hyperlink" Target="https://pmc.ncbi.nlm.nih.gov/articles/PMC12701147/" TargetMode="External"/><Relationship Id="rId19" Type="http://schemas.openxmlformats.org/officeDocument/2006/relationships/hyperlink" Target="https://pmc.ncbi.nlm.nih.gov/articles/PMC11699422/" TargetMode="External"/><Relationship Id="rId18" Type="http://schemas.openxmlformats.org/officeDocument/2006/relationships/hyperlink" Target="https://pmc.ncbi.nlm.nih.gov/articles/PMC11699422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/>
          <p:nvPr/>
        </p:nvSpPr>
        <p:spPr>
          <a:xfrm>
            <a:off x="1467879" y="3967481"/>
            <a:ext cx="9058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ИИ в медицине: типы решаемых задач, архитектуры и технические особенности</a:t>
            </a:r>
            <a:endParaRPr i="0" sz="37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8F1F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1467875" y="4988225"/>
            <a:ext cx="62961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Гараева Алина 302</a:t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6f3251fec_0_6"/>
          <p:cNvSpPr txBox="1"/>
          <p:nvPr>
            <p:ph idx="1" type="body"/>
          </p:nvPr>
        </p:nvSpPr>
        <p:spPr>
          <a:xfrm>
            <a:off x="165735" y="1148715"/>
            <a:ext cx="118359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>
                <a:solidFill>
                  <a:schemeClr val="dk1"/>
                </a:solidFill>
              </a:rPr>
              <a:t>изображения;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>
                <a:solidFill>
                  <a:schemeClr val="dk1"/>
                </a:solidFill>
              </a:rPr>
              <a:t>временные ряды и электронные медицинские карты (ЭМК);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>
                <a:solidFill>
                  <a:schemeClr val="dk1"/>
                </a:solidFill>
              </a:rPr>
              <a:t>текст;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>
                <a:solidFill>
                  <a:schemeClr val="dk1"/>
                </a:solidFill>
              </a:rPr>
              <a:t>мультимодальные данные.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g3d6f3251fec_0_6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Классы данных</a:t>
            </a:r>
            <a:endParaRPr/>
          </a:p>
        </p:txBody>
      </p:sp>
      <p:pic>
        <p:nvPicPr>
          <p:cNvPr id="154" name="Google Shape;154;g3d6f3251fec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475" y="2258976"/>
            <a:ext cx="5045327" cy="32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6f3251fec_0_6"/>
          <p:cNvSpPr txBox="1"/>
          <p:nvPr/>
        </p:nvSpPr>
        <p:spPr>
          <a:xfrm>
            <a:off x="137100" y="5984975"/>
            <a:ext cx="11917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[2]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Shen D., Wu G., Suk H.-I. Deep Learning in Medical Image Analysis // Annual Review of Biomedical Engineering. 2017. Vol. 19. P. 221–248.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7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https://pmc.ncbi.nlm.nih.gov/articles/PMC5479722/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6f3251fec_0_17"/>
          <p:cNvSpPr txBox="1"/>
          <p:nvPr>
            <p:ph idx="1" type="body"/>
          </p:nvPr>
        </p:nvSpPr>
        <p:spPr>
          <a:xfrm>
            <a:off x="165735" y="1188720"/>
            <a:ext cx="60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Примеры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Классификация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рентгеновского снимка на 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«норма/патология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»;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дерматоскопического изображения на «доброкачественное/злокачественное образование»;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ЭКГ на «есть/нет аритмии»;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клиничесуого теста на  «содержит/не содержит признак заболевания».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g3d6f3251fec_0_17"/>
          <p:cNvSpPr txBox="1"/>
          <p:nvPr>
            <p:ph idx="2" type="body"/>
          </p:nvPr>
        </p:nvSpPr>
        <p:spPr>
          <a:xfrm>
            <a:off x="6426329" y="1183006"/>
            <a:ext cx="5580900" cy="549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Методы и архитектуры 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Классические алгоритмы (логистическая ререссия, метод опорных векторов, случайный лес);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Сверточные нейронный сети (архитектуры Resnet, DenseNet, EfficientNe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t);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Transformers 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g3d6f3251fec_0_17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</a:rPr>
              <a:t>1.1 Классификация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6f3251fec_0_17"/>
          <p:cNvSpPr txBox="1"/>
          <p:nvPr/>
        </p:nvSpPr>
        <p:spPr>
          <a:xfrm>
            <a:off x="165725" y="5577125"/>
            <a:ext cx="125298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[2]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Shen D., Wu G., Suk H.-I. Deep Learning in Medical Image Analysis // Annual Review of Biomedical Engineering. 2017. Vol. 19. P. 221–248.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6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https://pmc.ncbi.nlm.nih.gov/articles/PMC5479722/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[3]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LeCun Y., Bottou L., Bengio Y., Haffner P. Gradient-Based Learning Applied to Document Recognition // Proceedings of the IEEE. 1998. Vol. 86, No. 11. P. 2278–2324.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9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https://vision.stanford.edu/cs598_spring07/papers/Lecun98.pdf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[4]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Dosovitskiy A., Beyer L., Kolesnikov A. et al. An Image Is Worth 16x16 Words: Transformers for Image Recognition at Scale // International Conference on Learning Representations (ICLR). 2021.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2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https://arxiv.org/abs/2010.11929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[5]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Aburass S., Moulahcene M., Albaroudi H. et al. Vision Transformers in Medical Imaging: a Comprehensive Review of Advancements and Applications Across Multiple Diseases // BioMedical Engineering OnLine. 2025.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5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https://pmc.ncbi.nlm.nih.gov/articles/PMC12701147/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6f3251fec_0_33"/>
          <p:cNvSpPr txBox="1"/>
          <p:nvPr>
            <p:ph idx="1" type="body"/>
          </p:nvPr>
        </p:nvSpPr>
        <p:spPr>
          <a:xfrm>
            <a:off x="165735" y="1188720"/>
            <a:ext cx="60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Примеры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Указать, где именно находится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узел в легком;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полип на эндоскопичском изображении;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очаг кровоизлияния;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патологический учатсок на гистолоническом изображении;</a:t>
            </a:r>
            <a:endParaRPr/>
          </a:p>
        </p:txBody>
      </p:sp>
      <p:sp>
        <p:nvSpPr>
          <p:cNvPr id="169" name="Google Shape;169;g3d6f3251fec_0_33"/>
          <p:cNvSpPr txBox="1"/>
          <p:nvPr>
            <p:ph idx="2" type="body"/>
          </p:nvPr>
        </p:nvSpPr>
        <p:spPr>
          <a:xfrm>
            <a:off x="6426329" y="1183006"/>
            <a:ext cx="5580900" cy="549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Методы и архитектуры 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Двухэтапные детекторы (Faster R-CNN)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Одноэтапные детекторы (семейство YOLO);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RetinaNet(focal loss)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6f3251fec_0_33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</a:rPr>
              <a:t>1.2 Детекция и локализация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g3d6f3251fec_0_33"/>
          <p:cNvPicPr preferRelativeResize="0"/>
          <p:nvPr/>
        </p:nvPicPr>
        <p:blipFill rotWithShape="1">
          <a:blip r:embed="rId3">
            <a:alphaModFix/>
          </a:blip>
          <a:srcRect b="7158" l="0" r="0" t="7627"/>
          <a:stretch/>
        </p:blipFill>
        <p:spPr>
          <a:xfrm>
            <a:off x="165725" y="4096125"/>
            <a:ext cx="5656851" cy="144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d6f3251fec_0_33"/>
          <p:cNvSpPr txBox="1"/>
          <p:nvPr/>
        </p:nvSpPr>
        <p:spPr>
          <a:xfrm>
            <a:off x="78350" y="5874450"/>
            <a:ext cx="118248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endParaRPr b="1" sz="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[6]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Albuquerque C., Henriques J., Cardoso J. S. Deep learning-based object detection algorithms in medical images: a survey // Heliyon. 2025. Vol. 11.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6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https://pmc.ncbi.nlm.nih.gov/articles/PMC11699422/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[7]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Ren S., He K., Girshick R., Sun J. Faster R-CNN: Towards Real-Time Object Detection with Region Proposal Networks // Advances in Neural Information Processing Systems. 2015.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9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https://arxiv.org/abs/1506.01497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[8]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Redmon J., Divvala S., Girshick R., Farhadi A. You Only Look Once: Unified, Real-Time Object Detection // Proceedings of the IEEE Conference on Computer Vision and Pattern Recognition. 2016. P. 779–788.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2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https://arxiv.org/abs/1506.02640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[9]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Lin T.-Y., Goyal P., Girshick R., He K., Dollár P. Focal Loss for Dense Object Detection // Proceedings of the IEEE International Conference on Computer Vision. 2017. P. 2980–2988.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5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https://arxiv.org/abs/1708.02002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6f3251fec_0_40"/>
          <p:cNvSpPr txBox="1"/>
          <p:nvPr>
            <p:ph idx="1" type="body"/>
          </p:nvPr>
        </p:nvSpPr>
        <p:spPr>
          <a:xfrm>
            <a:off x="2383247" y="1220360"/>
            <a:ext cx="5575500" cy="537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3"/>
                </a:solidFill>
              </a:rPr>
              <a:t>Методы и архитектуры </a:t>
            </a:r>
            <a:endParaRPr sz="20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 sz="2000">
                <a:solidFill>
                  <a:schemeClr val="dk1"/>
                </a:solidFill>
              </a:rPr>
              <a:t>U-Net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 sz="2000">
                <a:solidFill>
                  <a:schemeClr val="dk1"/>
                </a:solidFill>
              </a:rPr>
              <a:t>3D U-Net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lang="en-US" sz="2000">
                <a:solidFill>
                  <a:schemeClr val="dk1"/>
                </a:solidFill>
              </a:rPr>
              <a:t>Attention U-Net; Residual U-Net, Nested U-Net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lang="en-US" sz="2000">
                <a:solidFill>
                  <a:schemeClr val="dk1"/>
                </a:solidFill>
              </a:rPr>
              <a:t>nnU-Net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lang="en-US" sz="2000">
                <a:solidFill>
                  <a:schemeClr val="dk1"/>
                </a:solidFill>
              </a:rPr>
              <a:t>Transdormer-based segmentation (TransUnet, Swin-UNETR)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8" name="Google Shape;178;g3d6f3251fec_0_40"/>
          <p:cNvSpPr txBox="1"/>
          <p:nvPr>
            <p:ph idx="2" type="body"/>
          </p:nvPr>
        </p:nvSpPr>
        <p:spPr>
          <a:xfrm>
            <a:off x="171451" y="1229050"/>
            <a:ext cx="1795500" cy="535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3"/>
                </a:solidFill>
              </a:rPr>
              <a:t>Примеры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Выделить</a:t>
            </a:r>
            <a:r>
              <a:rPr lang="en-U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chemeClr val="dk1"/>
                </a:solidFill>
              </a:rPr>
              <a:t>опухоль;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rgbClr val="000000"/>
                </a:solidFill>
              </a:rPr>
              <a:t>орган;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rgbClr val="000000"/>
                </a:solidFill>
              </a:rPr>
              <a:t>сосуд;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>
                <a:solidFill>
                  <a:srgbClr val="000000"/>
                </a:solidFill>
              </a:rPr>
              <a:t>клетки.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79" name="Google Shape;179;g3d6f3251fec_0_40"/>
          <p:cNvSpPr txBox="1"/>
          <p:nvPr>
            <p:ph type="title"/>
          </p:nvPr>
        </p:nvSpPr>
        <p:spPr>
          <a:xfrm>
            <a:off x="165735" y="434425"/>
            <a:ext cx="109614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1.3 Сегментация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g3d6f3251fec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8738" y="1626825"/>
            <a:ext cx="4022976" cy="23232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d6f3251fec_0_40"/>
          <p:cNvSpPr txBox="1"/>
          <p:nvPr/>
        </p:nvSpPr>
        <p:spPr>
          <a:xfrm>
            <a:off x="171450" y="5161425"/>
            <a:ext cx="12057900" cy="15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[5]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Aburass S., Moulahcene M., Albaroudi H. et al. Vision Transformers in Medical Imaging: a Comprehensive Review of Advancements and Applications Across Multiple Diseases // BioMedical Engineering OnLine. 2025.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6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https://pmc.ncbi.nlm.nih.gov/articles/PMC12701147/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[10]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Ronneberger O., Fischer P., Brox T. U-Net: Convolutional Networks for Biomedical Image Segmentation // Medical Image Computing and Computer-Assisted Intervention (MICCAI). 2015. P. 234–241.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8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https://arxiv.org/abs/1505.04597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Çiçek Ö., Abdulkadir A., Lienkamp S. S., Brox T., Ronneberger O. 3D U-Net: Learning Dense Volumetric Segmentation from Sparse Annotation // Medical Image Computing and Computer-Assisted Intervention (MICCAI). 2016. P. 424–432.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1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https://arxiv.org/abs/1606.06650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[12]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Oktay O., Schlemper J., Le Folgoc L. et al. Attention U-Net: Learning Where to Look for the Pancreas // arXiv. 2018.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https://arxiv.org/abs/1804.03999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[13]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Isensee F., Jaeger P. F., Kohl S. A. A., Petersen J., Maier-Hein K. H. nnU-Net: a self-configuring method for deep learning-based biomedical image segmentation // Nature Methods. 2021. Vol. 18. P. 203–211.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7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https://www.nature.com/articles/s41592-020-01008-z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6f3251fec_0_46"/>
          <p:cNvSpPr txBox="1"/>
          <p:nvPr>
            <p:ph idx="1" type="body"/>
          </p:nvPr>
        </p:nvSpPr>
        <p:spPr>
          <a:xfrm>
            <a:off x="165735" y="1188720"/>
            <a:ext cx="60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Примеры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Предсказать риск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сепсиса;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повторной госпитализации;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летальности;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сердечно-сосудистого осложнения.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g3d6f3251fec_0_46"/>
          <p:cNvSpPr txBox="1"/>
          <p:nvPr>
            <p:ph idx="2" type="body"/>
          </p:nvPr>
        </p:nvSpPr>
        <p:spPr>
          <a:xfrm>
            <a:off x="6426329" y="1183006"/>
            <a:ext cx="5580900" cy="5492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Методы и архитектуры </a:t>
            </a:r>
            <a:endParaRPr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Логистическая регресси, градиентный бустинг и др.;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RNN, LSTM, GPU;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Transformers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❖"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GNN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6f3251fec_0_46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1.4 Прогнозирование по временным данным и ЭМК</a:t>
            </a:r>
            <a:endParaRPr/>
          </a:p>
        </p:txBody>
      </p:sp>
      <p:sp>
        <p:nvSpPr>
          <p:cNvPr id="189" name="Google Shape;189;g3d6f3251fec_0_46"/>
          <p:cNvSpPr txBox="1"/>
          <p:nvPr/>
        </p:nvSpPr>
        <p:spPr>
          <a:xfrm>
            <a:off x="263700" y="5929625"/>
            <a:ext cx="116646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[14]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Boll H. O., Lenssen N., Constantinou S. et al. Graph neural networks for clinical risk prediction based on electronic health records: a review // Journal of Biomedical Informatics. 2024. Vol. 152.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https://www.sciencedirect.com/science/article/pii/S1532046424000340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[15]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Cho H. N., Jun T. J., Kim Y. H. et al. Task-Specific Transformer-Based Language Models in Health Care: Scoping Review // JMIR Medical Informatics. 2024. Vol. 12. e49724.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6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https://medinform.jmir.org/2024/1/e49724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6f3251fec_0_28"/>
          <p:cNvSpPr txBox="1"/>
          <p:nvPr>
            <p:ph idx="1" type="body"/>
          </p:nvPr>
        </p:nvSpPr>
        <p:spPr>
          <a:xfrm>
            <a:off x="171450" y="1165860"/>
            <a:ext cx="11853000" cy="55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6f3251fec_0_28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2.1 CNN</a:t>
            </a:r>
            <a:endParaRPr/>
          </a:p>
        </p:txBody>
      </p:sp>
      <p:pic>
        <p:nvPicPr>
          <p:cNvPr id="196" name="Google Shape;196;g3d6f3251fec_0_28"/>
          <p:cNvPicPr preferRelativeResize="0"/>
          <p:nvPr/>
        </p:nvPicPr>
        <p:blipFill rotWithShape="1">
          <a:blip r:embed="rId3">
            <a:alphaModFix/>
          </a:blip>
          <a:srcRect b="0" l="0" r="0" t="8257"/>
          <a:stretch/>
        </p:blipFill>
        <p:spPr>
          <a:xfrm>
            <a:off x="171450" y="1013138"/>
            <a:ext cx="11853000" cy="483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d6f3251fec_0_28"/>
          <p:cNvSpPr txBox="1"/>
          <p:nvPr/>
        </p:nvSpPr>
        <p:spPr>
          <a:xfrm>
            <a:off x="1369450" y="4035000"/>
            <a:ext cx="2336400" cy="11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98" name="Google Shape;198;g3d6f3251fec_0_28"/>
          <p:cNvSpPr txBox="1"/>
          <p:nvPr/>
        </p:nvSpPr>
        <p:spPr>
          <a:xfrm>
            <a:off x="171450" y="5966575"/>
            <a:ext cx="11853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[3]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LeCun Y., Bottou L., Bengio Y., Haffner P. Gradient-Based Learning Applied to Document Recognition // Proceedings of the IEEE. 1998. Vol. 86, No. 11. P. 2278–2324.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7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https://vision.stanford.edu/cs598_spring07/papers/Lecun98.pdf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6f3251fec_0_23"/>
          <p:cNvSpPr txBox="1"/>
          <p:nvPr>
            <p:ph idx="1" type="body"/>
          </p:nvPr>
        </p:nvSpPr>
        <p:spPr>
          <a:xfrm>
            <a:off x="165725" y="1148725"/>
            <a:ext cx="11835900" cy="559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6f3251fec_0_23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2.2 U-Net </a:t>
            </a:r>
            <a:endParaRPr/>
          </a:p>
        </p:txBody>
      </p:sp>
      <p:pic>
        <p:nvPicPr>
          <p:cNvPr id="205" name="Google Shape;205;g3d6f3251fec_0_23"/>
          <p:cNvPicPr preferRelativeResize="0"/>
          <p:nvPr/>
        </p:nvPicPr>
        <p:blipFill rotWithShape="1">
          <a:blip r:embed="rId3">
            <a:alphaModFix/>
          </a:blip>
          <a:srcRect b="0" l="0" r="0" t="12319"/>
          <a:stretch/>
        </p:blipFill>
        <p:spPr>
          <a:xfrm>
            <a:off x="165725" y="994521"/>
            <a:ext cx="11835901" cy="525722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d6f3251fec_0_23"/>
          <p:cNvSpPr txBox="1"/>
          <p:nvPr/>
        </p:nvSpPr>
        <p:spPr>
          <a:xfrm>
            <a:off x="609475" y="6282825"/>
            <a:ext cx="2949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6f3251fec_0_23"/>
          <p:cNvSpPr txBox="1"/>
          <p:nvPr/>
        </p:nvSpPr>
        <p:spPr>
          <a:xfrm>
            <a:off x="267125" y="6282825"/>
            <a:ext cx="11633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[10]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Ronneberger O., Fischer P., Brox T. U-Net: Convolutional Networks for Biomedical Image Segmentation // Medical Image Computing and Computer-Assisted Intervention (MICCAI). 2015. P. 234–241.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https://arxiv.org/abs/1505.04597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6f3251fec_0_61"/>
          <p:cNvSpPr txBox="1"/>
          <p:nvPr>
            <p:ph idx="1" type="body"/>
          </p:nvPr>
        </p:nvSpPr>
        <p:spPr>
          <a:xfrm>
            <a:off x="171450" y="1165860"/>
            <a:ext cx="11853000" cy="55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6f3251fec_0_61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</a:t>
            </a:r>
            <a:r>
              <a:rPr lang="en-US"/>
              <a:t>verlap-tile strategy</a:t>
            </a:r>
            <a:endParaRPr/>
          </a:p>
        </p:txBody>
      </p:sp>
      <p:pic>
        <p:nvPicPr>
          <p:cNvPr id="214" name="Google Shape;214;g3d6f3251fec_0_61"/>
          <p:cNvPicPr preferRelativeResize="0"/>
          <p:nvPr/>
        </p:nvPicPr>
        <p:blipFill rotWithShape="1">
          <a:blip r:embed="rId3">
            <a:alphaModFix/>
          </a:blip>
          <a:srcRect b="6933" l="0" r="0" t="0"/>
          <a:stretch/>
        </p:blipFill>
        <p:spPr>
          <a:xfrm>
            <a:off x="171450" y="3250500"/>
            <a:ext cx="6342949" cy="2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d6f3251fec_0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825" y="536025"/>
            <a:ext cx="6547976" cy="312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d6f3251fec_0_61"/>
          <p:cNvSpPr txBox="1"/>
          <p:nvPr/>
        </p:nvSpPr>
        <p:spPr>
          <a:xfrm>
            <a:off x="198300" y="6300875"/>
            <a:ext cx="117954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[10]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Ronneberger O., Fischer P., Brox T. U-Net: Convolutional Networks for Biomedical Image Segmentation // Medical Image Computing and Computer-Assisted Intervention (MICCAI). 2015. P. 234–241.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5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https://arxiv.org/abs/1505.04597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6f3251fec_0_73"/>
          <p:cNvSpPr txBox="1"/>
          <p:nvPr>
            <p:ph idx="1" type="body"/>
          </p:nvPr>
        </p:nvSpPr>
        <p:spPr>
          <a:xfrm>
            <a:off x="171450" y="1165860"/>
            <a:ext cx="11853000" cy="55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d6f3251fec_0_73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2.3 Grap Neural Networks</a:t>
            </a:r>
            <a:endParaRPr/>
          </a:p>
        </p:txBody>
      </p:sp>
      <p:pic>
        <p:nvPicPr>
          <p:cNvPr id="223" name="Google Shape;223;g3d6f3251fec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725" y="1571862"/>
            <a:ext cx="5669299" cy="45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d6f3251fec_0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0369" y="1571850"/>
            <a:ext cx="6134081" cy="45049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d6f3251fec_0_73"/>
          <p:cNvSpPr txBox="1"/>
          <p:nvPr/>
        </p:nvSpPr>
        <p:spPr>
          <a:xfrm>
            <a:off x="671425" y="2651175"/>
            <a:ext cx="31272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  <p:sp>
        <p:nvSpPr>
          <p:cNvPr id="226" name="Google Shape;226;g3d6f3251fec_0_73"/>
          <p:cNvSpPr txBox="1"/>
          <p:nvPr/>
        </p:nvSpPr>
        <p:spPr>
          <a:xfrm>
            <a:off x="615950" y="5618600"/>
            <a:ext cx="30192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6f3251fec_0_73"/>
          <p:cNvSpPr txBox="1"/>
          <p:nvPr/>
        </p:nvSpPr>
        <p:spPr>
          <a:xfrm>
            <a:off x="171450" y="6336950"/>
            <a:ext cx="121920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[14]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Boll H. O., Lenssen N., Constantinou S. et al. Graph neural networks for clinical risk prediction based on electronic health records: a review // Journal of Biomedical Informatics. 2024. Vol. 152.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5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https://www.sciencedirect.com/science/article/pii/S1532046424000340</a:t>
            </a:r>
            <a:endParaRPr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6f3251fec_0_81"/>
          <p:cNvSpPr txBox="1"/>
          <p:nvPr>
            <p:ph idx="1" type="body"/>
          </p:nvPr>
        </p:nvSpPr>
        <p:spPr>
          <a:xfrm>
            <a:off x="171450" y="696150"/>
            <a:ext cx="11853000" cy="59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rgbClr val="000000"/>
                </a:solidFill>
              </a:rPr>
              <a:t>малые и смещенные датасеты;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rgbClr val="000000"/>
                </a:solidFill>
              </a:rPr>
              <a:t>дисбалланс классов;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</a:pPr>
            <a:r>
              <a:rPr lang="en-US" sz="2000">
                <a:solidFill>
                  <a:srgbClr val="000000"/>
                </a:solidFill>
              </a:rPr>
              <a:t>3D данные и высокая размерность;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6f3251fec_0_81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Технические особенности</a:t>
            </a:r>
            <a:endParaRPr/>
          </a:p>
        </p:txBody>
      </p:sp>
      <p:pic>
        <p:nvPicPr>
          <p:cNvPr id="234" name="Google Shape;234;g3d6f3251fec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769" y="1438625"/>
            <a:ext cx="5657984" cy="353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d6f3251fec_0_81"/>
          <p:cNvSpPr txBox="1"/>
          <p:nvPr/>
        </p:nvSpPr>
        <p:spPr>
          <a:xfrm>
            <a:off x="437800" y="3801375"/>
            <a:ext cx="25161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1,2,13,6,9,11</a:t>
            </a:r>
            <a:endParaRPr/>
          </a:p>
        </p:txBody>
      </p:sp>
      <p:sp>
        <p:nvSpPr>
          <p:cNvPr id="236" name="Google Shape;236;g3d6f3251fec_0_81"/>
          <p:cNvSpPr txBox="1"/>
          <p:nvPr/>
        </p:nvSpPr>
        <p:spPr>
          <a:xfrm>
            <a:off x="94600" y="5292775"/>
            <a:ext cx="11853000" cy="1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[2]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Shen D., Wu G., Suk H.-I. Deep Learning in Medical Image Analysis // Annual Review of Biomedical Engineering. 2017. Vol. 19. P. 221–248.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7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https://pmc.ncbi.nlm.nih.gov/articles/PMC5479722/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[6]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Albuquerque C., Henriques J., Cardoso J. S. Deep learning-based object detection algorithms in medical images: a survey // Heliyon. 2025. Vol. 11.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0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https://pmc.ncbi.nlm.nih.gov/articles/PMC11699422/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[9]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Lin T.-Y., Goyal P., Girshick R., He K., Dollár P. Focal Loss for Dense Object Detection // Proceedings of the IEEE International Conference on Computer Vision. 2017. P. 2980–2988.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3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https://arxiv.org/abs/1708.02002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Çiçek Ö., Abdulkadir A., Lienkamp S. S., Brox T., Ronneberger O. 3D U-Net: Learning Dense Volumetric Segmentation from Sparse Annotation // Medical Image Computing and Computer-Assisted Intervention (MICCAI). 2016. P. 424–432.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5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https://arxiv.org/abs/1606.06650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[13]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Isensee F., Jaeger P. F., Kohl S. A. A., Petersen J., Maier-Hein K. H. nnU-Net: a self-configuring method for deep learning-based biomedical image segmentation // Nature Methods. 2021. Vol. 18. P. 203–211.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8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https://www.nature.com/articles/s41592-020-01008-z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6f3251fec_0_86"/>
          <p:cNvSpPr txBox="1"/>
          <p:nvPr>
            <p:ph idx="1" type="body"/>
          </p:nvPr>
        </p:nvSpPr>
        <p:spPr>
          <a:xfrm>
            <a:off x="169500" y="1066860"/>
            <a:ext cx="11853000" cy="55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Таким образом, выбор архитектуры в медицине определяется структурой данных и формальной постановкой задачи, а сложные клинические сценарии все чаще требуют мультимодальных моделей</a:t>
            </a:r>
            <a:endParaRPr sz="2000"/>
          </a:p>
        </p:txBody>
      </p:sp>
      <p:sp>
        <p:nvSpPr>
          <p:cNvPr id="242" name="Google Shape;242;g3d6f3251fec_0_86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Вывод</a:t>
            </a:r>
            <a:endParaRPr/>
          </a:p>
        </p:txBody>
      </p:sp>
      <p:pic>
        <p:nvPicPr>
          <p:cNvPr id="243" name="Google Shape;243;g3d6f3251fec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962" y="2281850"/>
            <a:ext cx="6286074" cy="29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d6f3251fec_0_86"/>
          <p:cNvSpPr txBox="1"/>
          <p:nvPr/>
        </p:nvSpPr>
        <p:spPr>
          <a:xfrm>
            <a:off x="165725" y="5482000"/>
            <a:ext cx="118530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[5] 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Aburass S., Moulahcene M., Albaroudi H. et al. Vision Transformers in Medical Imaging: a Comprehensive Review of Advancements and Applications Across Multiple Diseases // BioMedical Engineering OnLine. 2025.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6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https://pmc.ncbi.nlm.nih.gov/articles/PMC12701147/</a:t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[14]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Boll H. O., Lenssen N., Constantinou S. et al. Graph neural networks for clinical risk prediction based on electronic health records: a review // Journal of Biomedical Informatics. 2024. Vol. 152.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8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https://www.sciencedirect.com/science/article/pii/S1532046424000340</a:t>
            </a: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800">
                <a:latin typeface="Open Sans"/>
                <a:ea typeface="Open Sans"/>
                <a:cs typeface="Open Sans"/>
                <a:sym typeface="Open Sans"/>
              </a:rPr>
              <a:t>[16]</a:t>
            </a:r>
            <a:r>
              <a:rPr lang="en-US" sz="800">
                <a:latin typeface="Open Sans"/>
                <a:ea typeface="Open Sans"/>
                <a:cs typeface="Open Sans"/>
                <a:sym typeface="Open Sans"/>
              </a:rPr>
              <a:t> Niu C., Wang R., Wang Y. et al. Medical multimodal-multitask foundation model for lung cancer screening // Nature Communications. 2025. Vol. 16. URL:</a:t>
            </a:r>
            <a:r>
              <a:rPr lang="en-US" sz="800"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11"/>
              </a:rPr>
              <a:t> </a:t>
            </a:r>
            <a: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https://www.nature.com/articles/s41467-025-56822-w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800" u="sng">
                <a:solidFill>
                  <a:srgbClr val="1155CC"/>
                </a:solidFill>
                <a:latin typeface="Open Sans"/>
                <a:ea typeface="Open Sans"/>
                <a:cs typeface="Open Sans"/>
                <a:sym typeface="Open Sans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6f3251fec_0_91"/>
          <p:cNvSpPr txBox="1"/>
          <p:nvPr>
            <p:ph idx="1" type="body"/>
          </p:nvPr>
        </p:nvSpPr>
        <p:spPr>
          <a:xfrm>
            <a:off x="171450" y="994525"/>
            <a:ext cx="11853000" cy="570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</a:rPr>
              <a:t>[1]</a:t>
            </a:r>
            <a:r>
              <a:rPr lang="en-US" sz="1000">
                <a:solidFill>
                  <a:srgbClr val="000000"/>
                </a:solidFill>
              </a:rPr>
              <a:t> Litjens G., Kooi T., Bejnordi B. E., Setio A. A. A., Ciompi F., Ghafoorian M., van der Laak J. A. W. M., van Ginneken B., Sánchez C. I. A survey on deep learning in medical image analysis // Medical Image Analysis. 2017. Vol. 42. P. 60–88.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https://www.sciencedirect.com/science/article/pii/S1361841517301135</a:t>
            </a:r>
            <a:br>
              <a:rPr lang="en-US" sz="10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[2]</a:t>
            </a:r>
            <a:r>
              <a:rPr lang="en-US" sz="1000">
                <a:solidFill>
                  <a:srgbClr val="000000"/>
                </a:solidFill>
              </a:rPr>
              <a:t> Shen D., Wu G., Suk H.-I. Deep Learning in Medical Image Analysis // Annual Review of Biomedical Engineering. 2017. Vol. 19. P. 221–248.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https://pmc.ncbi.nlm.nih.gov/articles/PMC5479722/</a:t>
            </a:r>
            <a:br>
              <a:rPr lang="en-US" sz="1000" u="sng">
                <a:solidFill>
                  <a:srgbClr val="1155CC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[3]</a:t>
            </a:r>
            <a:r>
              <a:rPr lang="en-US" sz="1000">
                <a:solidFill>
                  <a:srgbClr val="000000"/>
                </a:solidFill>
              </a:rPr>
              <a:t> LeCun Y., Bottou L., Bengio Y., Haffner P. Gradient-Based Learning Applied to Document Recognition // Proceedings of the IEEE. 1998. Vol. 86, No. 11. P. 2278–2324.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https://vision.stanford.edu/cs598_spring07/papers/Lecun98.pdf</a:t>
            </a:r>
            <a:br>
              <a:rPr lang="en-US" sz="1000" u="sng">
                <a:solidFill>
                  <a:srgbClr val="1155CC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[4]</a:t>
            </a:r>
            <a:r>
              <a:rPr lang="en-US" sz="1000">
                <a:solidFill>
                  <a:srgbClr val="000000"/>
                </a:solidFill>
              </a:rPr>
              <a:t> Dosovitskiy A., Beyer L., Kolesnikov A. et al. An Image Is Worth 16x16 Words: Transformers for Image Recognition at Scale // International Conference on Learning Representations (ICLR). 2021.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https://arxiv.org/abs/2010.11929</a:t>
            </a:r>
            <a:br>
              <a:rPr lang="en-US" sz="1000" u="sng">
                <a:solidFill>
                  <a:srgbClr val="1155CC"/>
                </a:solid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[5] </a:t>
            </a:r>
            <a:r>
              <a:rPr lang="en-US" sz="1000">
                <a:solidFill>
                  <a:srgbClr val="000000"/>
                </a:solidFill>
              </a:rPr>
              <a:t>Aburass S., Moulahcene M., Albaroudi H. et al. Vision Transformers in Medical Imaging: a Comprehensive Review of Advancements and Applications Across Multiple Diseases // BioMedical Engineering OnLine. 2025.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https://pmc.ncbi.nlm.nih.gov/articles/PMC12701147/</a:t>
            </a:r>
            <a:br>
              <a:rPr lang="en-US" sz="1000" u="sng">
                <a:solidFill>
                  <a:srgbClr val="1155CC"/>
                </a:solid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[6] </a:t>
            </a:r>
            <a:r>
              <a:rPr lang="en-US" sz="1000">
                <a:solidFill>
                  <a:srgbClr val="000000"/>
                </a:solidFill>
              </a:rPr>
              <a:t>Albuquerque C., Henriques J., Cardoso J. S. Deep learning-based object detection algorithms in medical images: a survey // Heliyon. 2025. Vol. 11.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https://pmc.ncbi.nlm.nih.gov/articles/PMC11699422/</a:t>
            </a:r>
            <a:br>
              <a:rPr lang="en-US" sz="1000" u="sng">
                <a:solidFill>
                  <a:srgbClr val="1155CC"/>
                </a:solidFill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[7]</a:t>
            </a:r>
            <a:r>
              <a:rPr lang="en-US" sz="1000">
                <a:solidFill>
                  <a:srgbClr val="000000"/>
                </a:solidFill>
              </a:rPr>
              <a:t> Ren S., He K., Girshick R., Sun J. Faster R-CNN: Towards Real-Time Object Detection with Region Proposal Networks // Advances in Neural Information Processing Systems. 2015.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https://arxiv.org/abs/1506.01497</a:t>
            </a:r>
            <a:br>
              <a:rPr lang="en-US" sz="1000" u="sng">
                <a:solidFill>
                  <a:srgbClr val="1155CC"/>
                </a:solidFill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[8] </a:t>
            </a:r>
            <a:r>
              <a:rPr lang="en-US" sz="1000">
                <a:solidFill>
                  <a:srgbClr val="000000"/>
                </a:solidFill>
              </a:rPr>
              <a:t>Redmon J., Divvala S., Girshick R., Farhadi A. You Only Look Once: Unified, Real-Time Object Detection // Proceedings of the IEEE Conference on Computer Vision and Pattern Recognition. 2016. P. 779–788.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https://arxiv.org/abs/1506.02640</a:t>
            </a:r>
            <a:br>
              <a:rPr lang="en-US" sz="1000" u="sng">
                <a:solidFill>
                  <a:srgbClr val="1155CC"/>
                </a:solidFill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[9]</a:t>
            </a:r>
            <a:r>
              <a:rPr lang="en-US" sz="1000">
                <a:solidFill>
                  <a:srgbClr val="000000"/>
                </a:solidFill>
              </a:rPr>
              <a:t> Lin T.-Y., Goyal P., Girshick R., He K., Dollár P. Focal Loss for Dense Object Detection // Proceedings of the IEEE International Conference on Computer Vision. 2017. P. 2980–2988.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https://arxiv.org/abs/1708.02002</a:t>
            </a:r>
            <a:br>
              <a:rPr lang="en-US" sz="1000" u="sng">
                <a:solidFill>
                  <a:srgbClr val="1155CC"/>
                </a:solidFill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[10]</a:t>
            </a:r>
            <a:r>
              <a:rPr lang="en-US" sz="1000">
                <a:solidFill>
                  <a:srgbClr val="000000"/>
                </a:solidFill>
              </a:rPr>
              <a:t> Ronneberger O., Fischer P., Brox T. U-Net: Convolutional Networks for Biomedical Image Segmentation // Medical Image Computing and Computer-Assisted Intervention (MICCAI). 2015. P. 234–241.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https://arxiv.org/abs/1505.04597</a:t>
            </a:r>
            <a:br>
              <a:rPr lang="en-US" sz="1000" u="sng">
                <a:solidFill>
                  <a:srgbClr val="1155CC"/>
                </a:solidFill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[11]</a:t>
            </a:r>
            <a:r>
              <a:rPr lang="en-US" sz="1000">
                <a:solidFill>
                  <a:srgbClr val="000000"/>
                </a:solidFill>
              </a:rPr>
              <a:t> Çiçek Ö., Abdulkadir A., Lienkamp S. S., Brox T., Ronneberger O. 3D U-Net: Learning Dense Volumetric Segmentation from Sparse Annotation // Medical Image Computing and Computer-Assisted Intervention (MICCAI). 2016. P. 424–432.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https://arxiv.org/abs/1606.06650</a:t>
            </a:r>
            <a:br>
              <a:rPr lang="en-US" sz="1000" u="sng">
                <a:solidFill>
                  <a:srgbClr val="1155CC"/>
                </a:solidFill>
                <a:hlinkClick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[12]</a:t>
            </a:r>
            <a:r>
              <a:rPr lang="en-US" sz="1000">
                <a:solidFill>
                  <a:srgbClr val="000000"/>
                </a:solidFill>
              </a:rPr>
              <a:t> Oktay O., Schlemper J., Le Folgoc L. et al. Attention U-Net: Learning Where to Look for the Pancreas // arXiv. 2018.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https://arxiv.org/abs/1804.03999</a:t>
            </a:r>
            <a:br>
              <a:rPr lang="en-US" sz="1000" u="sng">
                <a:solidFill>
                  <a:srgbClr val="1155CC"/>
                </a:solidFill>
                <a:hlinkClick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[13] </a:t>
            </a:r>
            <a:r>
              <a:rPr lang="en-US" sz="1000">
                <a:solidFill>
                  <a:srgbClr val="000000"/>
                </a:solidFill>
              </a:rPr>
              <a:t>Isensee F., Jaeger P. F., Kohl S. A. A., Petersen J., Maier-Hein K. H. nnU-Net: a self-configuring method for deep learning-based biomedical image segmentation // Nature Methods. 2021. Vol. 18. P. 203–211.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https://www.nature.com/articles/s41592-020-01008-z</a:t>
            </a:r>
            <a:br>
              <a:rPr lang="en-US" sz="1000" u="sng">
                <a:solidFill>
                  <a:srgbClr val="1155CC"/>
                </a:solidFill>
                <a:hlinkClick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[14]</a:t>
            </a:r>
            <a:r>
              <a:rPr lang="en-US" sz="1000">
                <a:solidFill>
                  <a:srgbClr val="000000"/>
                </a:solidFill>
              </a:rPr>
              <a:t> Boll H. O., Lenssen N., Constantinou S. et al. Graph neural networks for clinical risk prediction based on electronic health records: a review // Journal of Biomedical Informatics. 2024. Vol. 152.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https://www.sciencedirect.com/science/article/pii/S1532046424000340</a:t>
            </a:r>
            <a:br>
              <a:rPr lang="en-US" sz="1000" u="sng">
                <a:solidFill>
                  <a:srgbClr val="1155CC"/>
                </a:solidFill>
                <a:hlinkClick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[15] </a:t>
            </a:r>
            <a:r>
              <a:rPr lang="en-US" sz="1000">
                <a:solidFill>
                  <a:srgbClr val="000000"/>
                </a:solidFill>
              </a:rPr>
              <a:t>Cho H. N., Jun T. J., Kim Y. H. et al. Task-Specific Transformer-Based Language Models in Health Care: Scoping Review // JMIR Medical Informatics. 2024. Vol. 12. e49724.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https://medinform.jmir.org/2024/1/e49724</a:t>
            </a:r>
            <a:br>
              <a:rPr lang="en-US" sz="1000" u="sng">
                <a:solidFill>
                  <a:srgbClr val="1155CC"/>
                </a:solidFill>
                <a:hlinkClick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b="1" lang="en-US" sz="1000">
                <a:solidFill>
                  <a:srgbClr val="000000"/>
                </a:solidFill>
              </a:rPr>
              <a:t>[16]</a:t>
            </a:r>
            <a:r>
              <a:rPr lang="en-US" sz="1000">
                <a:solidFill>
                  <a:srgbClr val="000000"/>
                </a:solidFill>
              </a:rPr>
              <a:t> Niu C., Wang R., Wang Y. et al. Medical multimodal-multitask foundation model for lung cancer screening // Nature Communications. 2025. Vol. 16. URL:</a:t>
            </a:r>
            <a:r>
              <a:rPr lang="en-US" sz="1000">
                <a:solidFill>
                  <a:srgbClr val="000000"/>
                </a:solidFill>
                <a:uFill>
                  <a:noFill/>
                </a:uFill>
                <a:hlinkClick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000" u="sng">
                <a:solidFill>
                  <a:srgbClr val="1155CC"/>
                </a:solidFill>
                <a:hlinkClick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https://www.nature.com/articles/s41467-025-56822-w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000000"/>
              </a:solidFill>
            </a:endParaRPr>
          </a:p>
        </p:txBody>
      </p:sp>
      <p:sp>
        <p:nvSpPr>
          <p:cNvPr id="250" name="Google Shape;250;g3d6f3251fec_0_91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Список литературы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71d9c8371_0_5"/>
          <p:cNvSpPr txBox="1"/>
          <p:nvPr>
            <p:ph idx="1" type="body"/>
          </p:nvPr>
        </p:nvSpPr>
        <p:spPr>
          <a:xfrm>
            <a:off x="2586875" y="2948700"/>
            <a:ext cx="6018000" cy="96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accent3"/>
                </a:solidFill>
              </a:rPr>
              <a:t>Спасибо за внимание!</a:t>
            </a:r>
            <a:endParaRPr sz="3000">
              <a:solidFill>
                <a:schemeClr val="accent3"/>
              </a:solidFill>
            </a:endParaRPr>
          </a:p>
        </p:txBody>
      </p:sp>
      <p:sp>
        <p:nvSpPr>
          <p:cNvPr id="256" name="Google Shape;256;g3d71d9c8371_0_5"/>
          <p:cNvSpPr txBox="1"/>
          <p:nvPr>
            <p:ph type="title"/>
          </p:nvPr>
        </p:nvSpPr>
        <p:spPr>
          <a:xfrm>
            <a:off x="165735" y="434425"/>
            <a:ext cx="10860300" cy="56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ПбГУ">
      <a:dk1>
        <a:srgbClr val="181818"/>
      </a:dk1>
      <a:lt1>
        <a:srgbClr val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2020-09-23T09:03:25Z</dcterms:created>
</cp:coreProperties>
</file>