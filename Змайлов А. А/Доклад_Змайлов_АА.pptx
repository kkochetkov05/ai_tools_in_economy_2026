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2.jpeg" ContentType="image/jpeg"/>
  <Override PartName="/ppt/media/image3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Титульный слайд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Уровень текста 1…"/>
          <p:cNvSpPr txBox="1"/>
          <p:nvPr>
            <p:ph type="body" sz="quarter" idx="1" hasCustomPrompt="1"/>
          </p:nvPr>
        </p:nvSpPr>
        <p:spPr>
          <a:xfrm>
            <a:off x="1371600" y="3717032"/>
            <a:ext cx="6400800" cy="1921768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40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0" indent="457200" algn="ctr">
              <a:spcBef>
                <a:spcPts val="40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2pPr>
            <a:lvl3pPr marL="0" indent="914400" algn="ctr">
              <a:spcBef>
                <a:spcPts val="40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3pPr>
            <a:lvl4pPr marL="0" indent="1371600" algn="ctr">
              <a:spcBef>
                <a:spcPts val="40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4pPr>
            <a:lvl5pPr marL="0" indent="1828800" algn="ctr">
              <a:spcBef>
                <a:spcPts val="40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5pPr>
          </a:lstStyle>
          <a:p>
            <a:pPr/>
            <a:r>
              <a:t>Текст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ЗАГОЛОВОК"/>
          <p:cNvSpPr txBox="1"/>
          <p:nvPr>
            <p:ph type="title" hasCustomPrompt="1"/>
          </p:nvPr>
        </p:nvSpPr>
        <p:spPr>
          <a:xfrm>
            <a:off x="457200" y="2348880"/>
            <a:ext cx="8229600" cy="1143001"/>
          </a:xfrm>
          <a:prstGeom prst="rect">
            <a:avLst/>
          </a:prstGeom>
        </p:spPr>
        <p:txBody>
          <a:bodyPr/>
          <a:lstStyle>
            <a:lvl1pPr>
              <a:defRPr b="1" cap="all">
                <a:solidFill>
                  <a:srgbClr val="FFFFFF"/>
                </a:solidFill>
              </a:defRPr>
            </a:lvl1pPr>
          </a:lstStyle>
          <a:p>
            <a:pPr/>
            <a:r>
              <a:t>ЗАГОЛОВОК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Рабочий слайд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6"/>
          <p:cNvSpPr/>
          <p:nvPr/>
        </p:nvSpPr>
        <p:spPr>
          <a:xfrm>
            <a:off x="179511" y="404664"/>
            <a:ext cx="4752530" cy="576065"/>
          </a:xfrm>
          <a:prstGeom prst="rect">
            <a:avLst/>
          </a:prstGeom>
          <a:solidFill>
            <a:srgbClr val="9537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Колонтитул"/>
          <p:cNvSpPr txBox="1"/>
          <p:nvPr>
            <p:ph type="title" hasCustomPrompt="1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Колонтитул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79511" y="1268759"/>
            <a:ext cx="8712970" cy="532657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953735"/>
                </a:solidFill>
              </a:defRPr>
            </a:lvl1pPr>
            <a:lvl2pPr algn="ctr">
              <a:buFontTx/>
              <a:defRPr>
                <a:solidFill>
                  <a:srgbClr val="953735"/>
                </a:solidFill>
              </a:defRPr>
            </a:lvl2pPr>
            <a:lvl3pPr algn="ctr">
              <a:buFontTx/>
              <a:defRPr>
                <a:solidFill>
                  <a:srgbClr val="953735"/>
                </a:solidFill>
              </a:defRPr>
            </a:lvl3pPr>
            <a:lvl4pPr algn="ctr">
              <a:buFontTx/>
              <a:defRPr>
                <a:solidFill>
                  <a:srgbClr val="953735"/>
                </a:solidFill>
              </a:defRPr>
            </a:lvl4pPr>
            <a:lvl5pPr algn="ctr">
              <a:buFontTx/>
              <a:defRPr>
                <a:solidFill>
                  <a:srgbClr val="953735"/>
                </a:solidFill>
              </a:defRPr>
            </a:lvl5pPr>
          </a:lstStyle>
          <a:p>
            <a:pPr/>
            <a:r>
              <a:t>Текст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Рабочий слайд с фотографией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6"/>
          <p:cNvSpPr/>
          <p:nvPr/>
        </p:nvSpPr>
        <p:spPr>
          <a:xfrm>
            <a:off x="179511" y="404664"/>
            <a:ext cx="4752530" cy="576065"/>
          </a:xfrm>
          <a:prstGeom prst="rect">
            <a:avLst/>
          </a:prstGeom>
          <a:solidFill>
            <a:srgbClr val="9537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Колонтитул"/>
          <p:cNvSpPr txBox="1"/>
          <p:nvPr>
            <p:ph type="title" hasCustomPrompt="1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Колонтитул</a:t>
            </a:r>
          </a:p>
        </p:txBody>
      </p:sp>
      <p:sp>
        <p:nvSpPr>
          <p:cNvPr id="33" name="Уровень текста 1…"/>
          <p:cNvSpPr txBox="1"/>
          <p:nvPr>
            <p:ph type="body" sz="quarter" idx="1" hasCustomPrompt="1"/>
          </p:nvPr>
        </p:nvSpPr>
        <p:spPr>
          <a:xfrm>
            <a:off x="3491879" y="1268759"/>
            <a:ext cx="5400601" cy="96470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b="1">
                <a:solidFill>
                  <a:srgbClr val="808080"/>
                </a:solidFill>
              </a:defRPr>
            </a:lvl1pPr>
            <a:lvl2pPr>
              <a:buFontTx/>
              <a:defRPr b="1">
                <a:solidFill>
                  <a:srgbClr val="808080"/>
                </a:solidFill>
              </a:defRPr>
            </a:lvl2pPr>
            <a:lvl3pPr>
              <a:buFontTx/>
              <a:defRPr b="1">
                <a:solidFill>
                  <a:srgbClr val="808080"/>
                </a:solidFill>
              </a:defRPr>
            </a:lvl3pPr>
            <a:lvl4pPr>
              <a:buFontTx/>
              <a:defRPr b="1">
                <a:solidFill>
                  <a:srgbClr val="808080"/>
                </a:solidFill>
              </a:defRPr>
            </a:lvl4pPr>
            <a:lvl5pPr>
              <a:buFontTx/>
              <a:defRPr b="1">
                <a:solidFill>
                  <a:srgbClr val="808080"/>
                </a:solidFill>
              </a:defRPr>
            </a:lvl5pPr>
          </a:lstStyle>
          <a:p>
            <a:pPr/>
            <a:r>
              <a:t>Заголовок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Текст 4"/>
          <p:cNvSpPr/>
          <p:nvPr>
            <p:ph type="body" sz="half" idx="21"/>
          </p:nvPr>
        </p:nvSpPr>
        <p:spPr>
          <a:xfrm>
            <a:off x="3492500" y="2305397"/>
            <a:ext cx="5400675" cy="381635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"/>
              </a:spcBef>
              <a:buSzTx/>
              <a:buFontTx/>
              <a:buNone/>
              <a:defRPr sz="2800">
                <a:solidFill>
                  <a:srgbClr val="808080"/>
                </a:solidFill>
              </a:defRPr>
            </a:pPr>
          </a:p>
        </p:txBody>
      </p:sp>
      <p:sp>
        <p:nvSpPr>
          <p:cNvPr id="35" name="Рисунок 7"/>
          <p:cNvSpPr/>
          <p:nvPr>
            <p:ph type="pic" sz="quarter" idx="22"/>
          </p:nvPr>
        </p:nvSpPr>
        <p:spPr>
          <a:xfrm>
            <a:off x="184870" y="1268759"/>
            <a:ext cx="3168651" cy="31686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Рабочий слайд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6"/>
          <p:cNvSpPr/>
          <p:nvPr/>
        </p:nvSpPr>
        <p:spPr>
          <a:xfrm>
            <a:off x="179511" y="404664"/>
            <a:ext cx="4752530" cy="576065"/>
          </a:xfrm>
          <a:prstGeom prst="rect">
            <a:avLst/>
          </a:prstGeom>
          <a:solidFill>
            <a:srgbClr val="9537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" name="Колонтитул"/>
          <p:cNvSpPr txBox="1"/>
          <p:nvPr>
            <p:ph type="title" hasCustomPrompt="1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Колонтитул</a:t>
            </a:r>
          </a:p>
        </p:txBody>
      </p:sp>
      <p:sp>
        <p:nvSpPr>
          <p:cNvPr id="45" name="Уровень текста 1…"/>
          <p:cNvSpPr txBox="1"/>
          <p:nvPr>
            <p:ph type="body" sz="quarter" idx="1" hasCustomPrompt="1"/>
          </p:nvPr>
        </p:nvSpPr>
        <p:spPr>
          <a:xfrm>
            <a:off x="179511" y="1196751"/>
            <a:ext cx="8712970" cy="53265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00"/>
              </a:spcBef>
              <a:buSzTx/>
              <a:buFontTx/>
              <a:buNone/>
              <a:defRPr b="1" sz="2400">
                <a:solidFill>
                  <a:srgbClr val="808080"/>
                </a:solidFill>
              </a:defRPr>
            </a:lvl1pPr>
            <a:lvl2pPr marL="702128" indent="-244928">
              <a:spcBef>
                <a:spcPts val="500"/>
              </a:spcBef>
              <a:buFontTx/>
              <a:defRPr b="1" sz="2400">
                <a:solidFill>
                  <a:srgbClr val="808080"/>
                </a:solidFill>
              </a:defRPr>
            </a:lvl2pPr>
            <a:lvl3pPr marL="1143000" indent="-228600">
              <a:spcBef>
                <a:spcPts val="500"/>
              </a:spcBef>
              <a:buFontTx/>
              <a:defRPr b="1" sz="2400">
                <a:solidFill>
                  <a:srgbClr val="808080"/>
                </a:solidFill>
              </a:defRPr>
            </a:lvl3pPr>
            <a:lvl4pPr marL="1645920" indent="-274320">
              <a:spcBef>
                <a:spcPts val="500"/>
              </a:spcBef>
              <a:buFontTx/>
              <a:defRPr b="1" sz="2400">
                <a:solidFill>
                  <a:srgbClr val="808080"/>
                </a:solidFill>
              </a:defRPr>
            </a:lvl4pPr>
            <a:lvl5pPr marL="2103120" indent="-274320">
              <a:spcBef>
                <a:spcPts val="500"/>
              </a:spcBef>
              <a:buFontTx/>
              <a:defRPr b="1" sz="2400">
                <a:solidFill>
                  <a:srgbClr val="808080"/>
                </a:solidFill>
              </a:defRPr>
            </a:lvl5pPr>
          </a:lstStyle>
          <a:p>
            <a:pPr/>
            <a:r>
              <a:t>Заголовок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6" name="Текст 4"/>
          <p:cNvSpPr/>
          <p:nvPr>
            <p:ph type="body" idx="21"/>
          </p:nvPr>
        </p:nvSpPr>
        <p:spPr>
          <a:xfrm>
            <a:off x="179388" y="1801589"/>
            <a:ext cx="8713787" cy="4248151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>
                <a:solidFill>
                  <a:srgbClr val="808080"/>
                </a:solidFill>
              </a:defRPr>
            </a:pPr>
          </a:p>
        </p:txBody>
      </p:sp>
      <p:sp>
        <p:nvSpPr>
          <p:cNvPr id="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Рабочий слайд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6"/>
          <p:cNvSpPr/>
          <p:nvPr/>
        </p:nvSpPr>
        <p:spPr>
          <a:xfrm>
            <a:off x="179511" y="404664"/>
            <a:ext cx="4752530" cy="576065"/>
          </a:xfrm>
          <a:prstGeom prst="rect">
            <a:avLst/>
          </a:prstGeom>
          <a:solidFill>
            <a:srgbClr val="9537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" name="Колонтитул"/>
          <p:cNvSpPr txBox="1"/>
          <p:nvPr>
            <p:ph type="title" hasCustomPrompt="1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Колонтитул</a:t>
            </a:r>
          </a:p>
        </p:txBody>
      </p:sp>
      <p:sp>
        <p:nvSpPr>
          <p:cNvPr id="56" name="Рисунок 5"/>
          <p:cNvSpPr/>
          <p:nvPr>
            <p:ph type="pic" idx="21"/>
          </p:nvPr>
        </p:nvSpPr>
        <p:spPr>
          <a:xfrm>
            <a:off x="179387" y="1125537"/>
            <a:ext cx="8785226" cy="539908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5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Рабоч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05752" y="5301207"/>
            <a:ext cx="3724984" cy="917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t>Санкт-Петербургский</a:t>
            </a:r>
            <a:br/>
            <a:r>
              <a:t>государственный университет</a:t>
            </a:r>
          </a:p>
          <a:p>
            <a:pPr algn="r">
              <a:defRPr b="1">
                <a:solidFill>
                  <a:srgbClr val="FFFFFF"/>
                </a:solidFill>
              </a:defRPr>
            </a:pPr>
            <a:r>
              <a:t>spbu.ru</a:t>
            </a:r>
          </a:p>
        </p:txBody>
      </p:sp>
      <p:sp>
        <p:nvSpPr>
          <p:cNvPr id="3" name="Текст заголовка"/>
          <p:cNvSpPr txBox="1"/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" name="Уровень текста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" name="Номер слайда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Подзаголовок 1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Заголовок 2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576072">
              <a:defRPr sz="2457"/>
            </a:lvl1pPr>
          </a:lstStyle>
          <a:p>
            <a:pPr/>
            <a:r>
              <a:t>Применение диффузионных моделей (Diffusion Models) для генерации синтетических изображений в условиях дефицита данных.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Диффузионная модель</a:t>
            </a:r>
          </a:p>
        </p:txBody>
      </p:sp>
      <p:sp>
        <p:nvSpPr>
          <p:cNvPr id="77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/>
            <a:r>
              <a:t>Диффузионная модель(diffusion model) - это тип генеративной модели, которая создаёт высококачественные данные(изображения, видео, звук) путём постепенного удаления шума.</a:t>
            </a:r>
          </a:p>
        </p:txBody>
      </p:sp>
      <p:pic>
        <p:nvPicPr>
          <p:cNvPr id="78" name="R1280x0.png" descr="R1280x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312869"/>
            <a:ext cx="9144001" cy="34930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Два этапа обучения</a:t>
            </a:r>
          </a:p>
        </p:txBody>
      </p:sp>
      <p:sp>
        <p:nvSpPr>
          <p:cNvPr id="81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297179" indent="-297179" algn="l" defTabSz="594359">
              <a:spcBef>
                <a:spcPts val="400"/>
              </a:spcBef>
              <a:buSzPct val="100000"/>
              <a:buFont typeface="Arial"/>
              <a:buChar char="•"/>
              <a:defRPr b="1" sz="2080"/>
            </a:pPr>
            <a:r>
              <a:t>Зашумление(forward):  к изображению пошагово добавляется шум до почти чистого шума</a:t>
            </a:r>
          </a:p>
          <a:p>
            <a:pPr lvl="1" marL="780097" indent="-297179" algn="l" defTabSz="594359">
              <a:spcBef>
                <a:spcPts val="300"/>
              </a:spcBef>
              <a:buFont typeface="Arial"/>
              <a:buChar char="•"/>
              <a:defRPr sz="1429">
                <a:solidFill>
                  <a:srgbClr val="000000"/>
                </a:solidFill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q</m:t>
                  </m:r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∣</m:t>
                  </m:r>
                  <m:sSub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cr m:val="script"/>
                    </m:rP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d>
                    <m:dPr>
                      <m:ctrl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ad>
                        <m:radPr>
                          <m:ctrlP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sSub>
                            <m:e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rad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e>
                  </m:d>
                </m:oMath>
              </m:oMathPara>
            </a14:m>
          </a:p>
          <a:p>
            <a:pPr lvl="1" marL="780097" indent="-297179" algn="l" defTabSz="594359">
              <a:spcBef>
                <a:spcPts val="300"/>
              </a:spcBef>
              <a:buFont typeface="Arial"/>
              <a:buChar char="•"/>
              <a:defRPr sz="1300">
                <a:solidFill>
                  <a:srgbClr val="000000"/>
                </a:solidFill>
              </a:defRPr>
            </a:pPr>
            <a:r>
              <a:t> </a:t>
            </a:r>
            <a14:m>
              <m:oMath>
                <m:sSub>
                  <m:e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α</m:t>
                    </m:r>
                  </m:e>
                  <m: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sSub>
                  <m:e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e>
                  <m: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sSub>
                  <m:e>
                    <m:bar>
                      <m:barPr>
                        <m:ctrlP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bar>
                  </m:e>
                  <m: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limUpp>
                  <m:e>
                    <m:limLow>
                      <m:e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</m:e>
                      <m:lim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lim>
                    </m:limLow>
                  </m:e>
                  <m:lim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lim>
                </m:limUpp>
                <m:sSub>
                  <m:e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α</m:t>
                    </m:r>
                  </m:e>
                  <m: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</a:p>
          <a:p>
            <a:pPr lvl="1" marL="780097" indent="-297179" algn="l" defTabSz="594359">
              <a:spcBef>
                <a:spcPts val="300"/>
              </a:spcBef>
              <a:buFont typeface="Arial"/>
              <a:buChar char="•"/>
              <a:defRPr sz="1300">
                <a:solidFill>
                  <a:srgbClr val="000000"/>
                </a:solidFill>
              </a:defRPr>
            </a:pPr>
            <a:r>
              <a:t> </a:t>
            </a:r>
            <a14:m>
              <m:oMath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q</m:t>
                </m:r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∣</m:t>
                </m:r>
                <m:sSub>
                  <m:e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cr m:val="script"/>
                  </m:rPr>
                  <a:rPr xmlns:a="http://schemas.openxmlformats.org/drawingml/2006/main" sz="1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d>
                  <m:dPr>
                    <m:ctrlP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e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ad>
                      <m:radPr>
                        <m:ctrlP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sSub>
                          <m:e>
                            <m:bar>
                              <m:barPr>
                                <m:ctrlPr>
                                  <a:rPr xmlns:a="http://schemas.openxmlformats.org/drawingml/2006/main" sz="1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  <m:pos m:val="top"/>
                              </m:barPr>
                              <m:e>
                                <m:r>
                                  <a:rPr xmlns:a="http://schemas.openxmlformats.org/drawingml/2006/main" sz="15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bar>
                          </m:e>
                          <m:sub>
                            <m:r>
                              <a:rPr xmlns:a="http://schemas.openxmlformats.org/drawingml/2006/main" sz="1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rad>
                    <m:sSub>
                      <m:e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sSub>
                      <m:e>
                        <m:bar>
                          <m:barPr>
                            <m:ctrlPr>
                              <a:rPr xmlns:a="http://schemas.openxmlformats.org/drawingml/2006/main" sz="1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  <m:pos m:val="top"/>
                          </m:barPr>
                          <m:e>
                            <m:r>
                              <a:rPr xmlns:a="http://schemas.openxmlformats.org/drawingml/2006/main" sz="1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bar>
                      </m:e>
                      <m:sub>
                        <m:r>
                          <a:rPr xmlns:a="http://schemas.openxmlformats.org/drawingml/2006/main" sz="1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1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</m:d>
              </m:oMath>
            </a14:m>
          </a:p>
          <a:p>
            <a:pPr lvl="1" marL="780097" indent="-297179" algn="l" defTabSz="594359">
              <a:spcBef>
                <a:spcPts val="300"/>
              </a:spcBef>
              <a:buFont typeface="Arial"/>
              <a:buChar char="•"/>
              <a:defRPr sz="1300">
                <a:solidFill>
                  <a:srgbClr val="000000"/>
                </a:solidFill>
              </a:defRPr>
            </a:pPr>
            <a:r>
              <a:t> </a:t>
            </a:r>
            <a14:m>
              <m:oMath>
                <m:sSub>
                  <m:e>
                    <m:r>
                      <a:rPr xmlns:a="http://schemas.openxmlformats.org/drawingml/2006/main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β</m:t>
                    </m:r>
                  </m:e>
                  <m:sub>
                    <m:r>
                      <a:rPr xmlns:a="http://schemas.openxmlformats.org/drawingml/2006/main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</m:oMath>
            </a14:m>
            <a:r>
              <a:t> </a:t>
            </a:r>
            <a:r>
              <a:rPr sz="1429"/>
              <a:t>задает расписание зашумления</a:t>
            </a:r>
            <a:endParaRPr sz="1819"/>
          </a:p>
          <a:p>
            <a:pPr marL="297179" indent="-297179" algn="l" defTabSz="594359">
              <a:spcBef>
                <a:spcPts val="400"/>
              </a:spcBef>
              <a:buSzPct val="100000"/>
              <a:buFont typeface="Arial"/>
              <a:buChar char="•"/>
              <a:defRPr b="1" sz="2080"/>
            </a:pPr>
            <a:r>
              <a:t>Денойзинг(reverse): модель учится обращать этот процесс и восстанавливать структуру</a:t>
            </a:r>
          </a:p>
          <a:p>
            <a:pPr lvl="1" marL="780097" indent="-297179" algn="l" defTabSz="594359">
              <a:spcBef>
                <a:spcPts val="300"/>
              </a:spcBef>
              <a:buFont typeface="Arial"/>
              <a:buChar char="•"/>
              <a:defRPr sz="1429">
                <a:solidFill>
                  <a:srgbClr val="000000"/>
                </a:solidFill>
              </a:defRPr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∣</m:t>
                  </m:r>
                  <m:sSub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cr m:val="script"/>
                    </m:rP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d>
                    <m:dPr>
                      <m:ctrl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</m:d>
                </m:oMath>
              </m:oMathPara>
            </a14:m>
          </a:p>
          <a:p>
            <a:pPr lvl="1" marL="780097" indent="-297179" algn="l" defTabSz="594359">
              <a:spcBef>
                <a:spcPts val="300"/>
              </a:spcBef>
              <a:buFont typeface="Arial"/>
              <a:buChar char="•"/>
              <a:defRPr sz="1429">
                <a:solidFill>
                  <a:srgbClr val="000000"/>
                </a:solidFill>
              </a:defRPr>
            </a:pPr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m:rPr>
                          <m:scr m:val="script"/>
                        </m:r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e>
                    <m:sub>
                      <m:r>
                        <m:rPr>
                          <m:nor/>
                        </m:r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simple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</m:sub>
                  </m:sSub>
                  <m:d>
                    <m:dPr>
                      <m:ctrl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sSubSup>
                        <m:e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ϵ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-</m:t>
                          </m:r>
                          <m:sSub>
                            <m:e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</m:e>
                            <m:sub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b>
                          </m:s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e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e>
                  </m:d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ctrl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sSub>
                        <m:e>
                          <m:bar>
                            <m:barPr>
                              <m:ctrlP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pos m:val="top"/>
                            </m:barPr>
                            <m:e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ba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e>
                  </m:rad>
                  <m:sSub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ad>
                    <m:radPr>
                      <m:ctrlP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15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bar>
                            <m:barPr>
                              <m:ctrlP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pos m:val="top"/>
                            </m:barPr>
                            <m:e>
                              <m:r>
                                <a:rPr xmlns:a="http://schemas.openxmlformats.org/drawingml/2006/main" sz="15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bar>
                        </m:e>
                        <m:sub>
                          <m:r>
                            <a:rPr xmlns:a="http://schemas.openxmlformats.org/drawingml/2006/main" sz="15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e>
                  </m:rad>
                  <m:r>
                    <a:rPr xmlns:a="http://schemas.openxmlformats.org/drawingml/2006/main" sz="15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ϵ</m:t>
                  </m:r>
                </m:oMath>
              </m:oMathPara>
            </a14:m>
            <a:endParaRPr b="1" sz="1300"/>
          </a:p>
          <a:p>
            <a:pPr marL="297179" indent="-297179" algn="l" defTabSz="594359">
              <a:spcBef>
                <a:spcPts val="400"/>
              </a:spcBef>
              <a:buSzPct val="100000"/>
              <a:buFont typeface="Arial"/>
              <a:buChar char="•"/>
              <a:defRPr b="1" sz="2080"/>
            </a:pPr>
            <a:r>
              <a:t>Ключевая идея:</a:t>
            </a:r>
          </a:p>
          <a:p>
            <a:pPr lvl="1" marL="780097" indent="-297179" algn="l" defTabSz="594359">
              <a:spcBef>
                <a:spcPts val="300"/>
              </a:spcBef>
              <a:buFont typeface="Arial"/>
              <a:buChar char="•"/>
              <a:defRPr sz="1429">
                <a:solidFill>
                  <a:srgbClr val="000000"/>
                </a:solidFill>
              </a:defRPr>
            </a:pPr>
            <a:r>
              <a:t>Берется шум из </a:t>
            </a:r>
            <a14:m>
              <m:oMath>
                <m:r>
                  <m:rPr>
                    <m:scr m:val="script"/>
                  </m:rPr>
                  <a:rPr xmlns:a="http://schemas.openxmlformats.org/drawingml/2006/main" sz="1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1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0,</m:t>
                </m:r>
                <m:r>
                  <a:rPr xmlns:a="http://schemas.openxmlformats.org/drawingml/2006/main" sz="1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xmlns:a="http://schemas.openxmlformats.org/drawingml/2006/main" sz="1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и шаг за шагом удаляются компоненты шума до тех пор, пока не получится объект из желаемого распределения</a:t>
            </a:r>
            <a:endParaRPr sz="22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Дефицит данных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Дефицит данных</a:t>
            </a:r>
          </a:p>
        </p:txBody>
      </p:sp>
      <p:sp>
        <p:nvSpPr>
          <p:cNvPr id="84" name="В прикладных задачах часто мало размеченных данных…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В прикладных задачах часто мало размеченных данных</a:t>
            </a:r>
            <a:endParaRPr sz="2800">
              <a:solidFill>
                <a:srgbClr val="000000"/>
              </a:solidFill>
            </a:endParaRP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Редкие классы представлены слабо, возникает дисбаланс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Расширение выбор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Расширение выборки</a:t>
            </a:r>
          </a:p>
        </p:txBody>
      </p:sp>
      <p:sp>
        <p:nvSpPr>
          <p:cNvPr id="87" name="Классическая аугментация ограничена (часто меняет форму, но не добавляет новую семантику)…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Классическая аугментация ограничена (часто меняет форму, но не добавляет новую семантику)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Синтетическая генерация помогает повысить разнообразие обучающей выборки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Диффузионные модели</a:t>
            </a:r>
          </a:p>
        </p:txBody>
      </p:sp>
      <p:sp>
        <p:nvSpPr>
          <p:cNvPr id="90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Преимущества: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Часто стабильнее GAN на сложных распределениях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Меньше риск mode collapse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Генерируют более разнообразные образцы редких классов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Недостатки: 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Высокая вычислительная стоимость обучения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Медленная генерация из-за многошагового обратного процесса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 defTabSz="685800">
              <a:defRPr sz="2400"/>
            </a:lvl1pPr>
          </a:lstStyle>
          <a:p>
            <a:pPr/>
            <a:r>
              <a:t>Алгоритм применения на практике</a:t>
            </a:r>
          </a:p>
        </p:txBody>
      </p:sp>
      <p:sp>
        <p:nvSpPr>
          <p:cNvPr id="93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27789" indent="-427789">
              <a:spcBef>
                <a:spcPts val="700"/>
              </a:spcBef>
              <a:buSzPct val="100000"/>
              <a:buAutoNum type="arabicPeriod" startAt="1"/>
              <a:defRPr sz="3200">
                <a:solidFill>
                  <a:srgbClr val="953735"/>
                </a:solidFill>
              </a:defRPr>
            </a:pPr>
            <a:r>
              <a:t>Обучить диффузионную модель: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Разделить реальные данные на train/val/test без утечек 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Обучить diffusion-модель на train</a:t>
            </a:r>
          </a:p>
          <a:p>
            <a:pPr marL="427789" indent="-427789">
              <a:spcBef>
                <a:spcPts val="700"/>
              </a:spcBef>
              <a:buSzPct val="100000"/>
              <a:buAutoNum type="arabicPeriod" startAt="1"/>
              <a:defRPr sz="3200">
                <a:solidFill>
                  <a:srgbClr val="953735"/>
                </a:solidFill>
              </a:defRPr>
            </a:pPr>
            <a:r>
              <a:t>Сгенерировать synthetic-изображения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Приоритетно для редких классов</a:t>
            </a:r>
          </a:p>
          <a:p>
            <a:pPr marL="427789" indent="-427789">
              <a:spcBef>
                <a:spcPts val="700"/>
              </a:spcBef>
              <a:buSzPct val="100000"/>
              <a:buAutoNum type="arabicPeriod" startAt="1"/>
              <a:defRPr sz="3200">
                <a:solidFill>
                  <a:srgbClr val="953735"/>
                </a:solidFill>
              </a:defRPr>
            </a:pPr>
            <a:r>
              <a:t>Отфильтровать артефакты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С помощью метрик и экспертов</a:t>
            </a:r>
          </a:p>
          <a:p>
            <a:pPr marL="427789" indent="-427789">
              <a:spcBef>
                <a:spcPts val="700"/>
              </a:spcBef>
              <a:buSzPct val="100000"/>
              <a:buAutoNum type="arabicPeriod" startAt="1"/>
              <a:defRPr sz="3200">
                <a:solidFill>
                  <a:srgbClr val="953735"/>
                </a:solidFill>
              </a:defRPr>
            </a:pPr>
            <a:r>
              <a:t>Обучить downstream-модель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На Real+Synthetic</a:t>
            </a:r>
          </a:p>
          <a:p>
            <a:pPr marL="427789" indent="-427789">
              <a:spcBef>
                <a:spcPts val="700"/>
              </a:spcBef>
              <a:buSzPct val="100000"/>
              <a:buAutoNum type="arabicPeriod" startAt="1"/>
              <a:defRPr sz="3200">
                <a:solidFill>
                  <a:srgbClr val="953735"/>
                </a:solidFill>
              </a:defRPr>
            </a:pPr>
            <a:r>
              <a:t>Сравнить с Real-only baseline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MRI (опухоли мозга)</a:t>
            </a:r>
          </a:p>
        </p:txBody>
      </p:sp>
      <p:sp>
        <p:nvSpPr>
          <p:cNvPr id="96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Задача: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Diffusion-аугментация для дисбалансного brain tumor MRI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Датасет: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LGG segmentation dataset, 3642 изображений (2269 healthy, 1373 tumor), split 8:1:1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Метрики: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Accuracy: +3%, Dice: +1.5-2.5%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Вывод: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Diffusion помог и для классификации, и для сегментации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MRI (опухоли мозга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MRI (опухоли мозга)</a:t>
            </a:r>
          </a:p>
        </p:txBody>
      </p:sp>
      <p:pic>
        <p:nvPicPr>
          <p:cNvPr id="99" name="Снимок экрана 2026-04-18 в 11.53.07.png" descr="Снимок экрана 2026-04-18 в 11.53.0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145565"/>
            <a:ext cx="9144000" cy="45668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MRI (опухоли мозга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MRI (опухоли мозга)</a:t>
            </a:r>
          </a:p>
        </p:txBody>
      </p:sp>
      <p:pic>
        <p:nvPicPr>
          <p:cNvPr id="102" name="Снимок экрана 2026-04-18 в 11.53.21.png" descr="Снимок экрана 2026-04-18 в 11.53.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057530"/>
            <a:ext cx="9144001" cy="4943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 defTabSz="731520">
              <a:defRPr sz="2560"/>
            </a:lvl1pPr>
          </a:lstStyle>
          <a:p>
            <a:pPr/>
            <a:r>
              <a:t>Сегментация кожных поражений</a:t>
            </a:r>
          </a:p>
        </p:txBody>
      </p:sp>
      <p:sp>
        <p:nvSpPr>
          <p:cNvPr id="105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25195" indent="-425195" defTabSz="850391">
              <a:spcBef>
                <a:spcPts val="700"/>
              </a:spcBef>
              <a:buSzPct val="100000"/>
              <a:buFont typeface="Arial"/>
              <a:buChar char="•"/>
              <a:defRPr sz="2976">
                <a:solidFill>
                  <a:srgbClr val="953735"/>
                </a:solidFill>
              </a:defRPr>
            </a:pPr>
            <a:r>
              <a:t>Задача:</a:t>
            </a:r>
          </a:p>
          <a:p>
            <a:pPr lvl="1" marL="1116139" indent="-425195" defTabSz="850391">
              <a:spcBef>
                <a:spcPts val="400"/>
              </a:spcBef>
              <a:buFont typeface="Arial"/>
              <a:buChar char="•"/>
              <a:defRPr b="0" sz="2046">
                <a:solidFill>
                  <a:srgbClr val="000000"/>
                </a:solidFill>
              </a:defRPr>
            </a:pPr>
            <a:r>
              <a:t>Рост качества сегментации при малом объеме разметки</a:t>
            </a:r>
          </a:p>
          <a:p>
            <a:pPr marL="425195" indent="-425195" defTabSz="850391">
              <a:spcBef>
                <a:spcPts val="700"/>
              </a:spcBef>
              <a:buSzPct val="100000"/>
              <a:buFont typeface="Arial"/>
              <a:buChar char="•"/>
              <a:defRPr sz="2976">
                <a:solidFill>
                  <a:srgbClr val="953735"/>
                </a:solidFill>
              </a:defRPr>
            </a:pPr>
            <a:r>
              <a:t>Подход:</a:t>
            </a:r>
          </a:p>
          <a:p>
            <a:pPr lvl="1" marL="1116139" indent="-425195" defTabSz="850391">
              <a:spcBef>
                <a:spcPts val="400"/>
              </a:spcBef>
              <a:buFont typeface="Arial"/>
              <a:buChar char="•"/>
              <a:defRPr b="0" sz="2046">
                <a:solidFill>
                  <a:srgbClr val="000000"/>
                </a:solidFill>
              </a:defRPr>
            </a:pPr>
            <a:r>
              <a:t>Двухэтапный pipeline - сначала DDPM генерирует дерматоскопию, потом сегментационные модели обучаются на Real+Synthetic</a:t>
            </a:r>
          </a:p>
          <a:p>
            <a:pPr marL="425195" indent="-425195" defTabSz="850391">
              <a:spcBef>
                <a:spcPts val="700"/>
              </a:spcBef>
              <a:buSzPct val="100000"/>
              <a:buFont typeface="Arial"/>
              <a:buChar char="•"/>
              <a:defRPr sz="2976">
                <a:solidFill>
                  <a:srgbClr val="953735"/>
                </a:solidFill>
              </a:defRPr>
            </a:pPr>
            <a:r>
              <a:t>Данные:</a:t>
            </a:r>
          </a:p>
          <a:p>
            <a:pPr lvl="1" marL="1116139" indent="-425195" defTabSz="850391">
              <a:spcBef>
                <a:spcPts val="400"/>
              </a:spcBef>
              <a:buFont typeface="Arial"/>
              <a:buChar char="•"/>
              <a:defRPr b="0" sz="2046">
                <a:solidFill>
                  <a:srgbClr val="000000"/>
                </a:solidFill>
              </a:defRPr>
            </a:pPr>
            <a:r>
              <a:t>ISIC 2017 для генерации, ISIC 2018 для сегментации (чтобы снизить риск утечки)</a:t>
            </a:r>
          </a:p>
          <a:p>
            <a:pPr marL="425195" indent="-425195" defTabSz="850391">
              <a:spcBef>
                <a:spcPts val="700"/>
              </a:spcBef>
              <a:buSzPct val="100000"/>
              <a:buFont typeface="Arial"/>
              <a:buChar char="•"/>
              <a:defRPr sz="2976">
                <a:solidFill>
                  <a:srgbClr val="953735"/>
                </a:solidFill>
              </a:defRPr>
            </a:pPr>
            <a:r>
              <a:t>Метрики:</a:t>
            </a:r>
          </a:p>
          <a:p>
            <a:pPr lvl="1" marL="1116139" indent="-425195" defTabSz="850391">
              <a:spcBef>
                <a:spcPts val="400"/>
              </a:spcBef>
              <a:buFont typeface="Arial"/>
              <a:buChar char="•"/>
              <a:defRPr b="0" sz="2046">
                <a:solidFill>
                  <a:srgbClr val="000000"/>
                </a:solidFill>
              </a:defRPr>
            </a:pPr>
            <a:r>
              <a:t>Dice:+0.4%, IoU:0.75-1.0pp, FID: 143.73-&gt;140.39</a:t>
            </a:r>
          </a:p>
          <a:p>
            <a:pPr marL="425195" indent="-425195" defTabSz="850391">
              <a:spcBef>
                <a:spcPts val="700"/>
              </a:spcBef>
              <a:buSzPct val="100000"/>
              <a:buFont typeface="Arial"/>
              <a:buChar char="•"/>
              <a:defRPr sz="2976">
                <a:solidFill>
                  <a:srgbClr val="953735"/>
                </a:solidFill>
              </a:defRPr>
            </a:pPr>
            <a:r>
              <a:t>Вывод:</a:t>
            </a:r>
          </a:p>
          <a:p>
            <a:pPr lvl="1" marL="1116139" indent="-425195" defTabSz="850391">
              <a:spcBef>
                <a:spcPts val="400"/>
              </a:spcBef>
              <a:buFont typeface="Arial"/>
              <a:buChar char="•"/>
              <a:defRPr b="0" sz="2046">
                <a:solidFill>
                  <a:srgbClr val="000000"/>
                </a:solidFill>
              </a:defRPr>
            </a:pPr>
            <a:r>
              <a:t>Улучшение качества и устойчивости модели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Сегментация кожных поражений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31520">
              <a:defRPr sz="2560"/>
            </a:lvl1pPr>
          </a:lstStyle>
          <a:p>
            <a:pPr/>
            <a:r>
              <a:t>Сегментация кожных поражений</a:t>
            </a:r>
          </a:p>
        </p:txBody>
      </p:sp>
      <p:pic>
        <p:nvPicPr>
          <p:cNvPr id="108" name="Снимок экрана 2026-04-18 в 12.17.09.png" descr="Снимок экрана 2026-04-18 в 12.17.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3749" y="1196702"/>
            <a:ext cx="7556501" cy="2057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Снимок экрана 2026-04-18 в 12.17.22.png" descr="Снимок экрана 2026-04-18 в 12.17.2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3750" y="3470076"/>
            <a:ext cx="7556501" cy="2641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Ограничения и риски</a:t>
            </a:r>
          </a:p>
        </p:txBody>
      </p:sp>
      <p:sp>
        <p:nvSpPr>
          <p:cNvPr id="112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Возможны артефакты, ухудшающие downstream-качество.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Риск усиления bias исходного датасета: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Synthetic != автоматически privacy-safe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Нужны внешняя валидация и экспертный контроль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Выводы</a:t>
            </a:r>
          </a:p>
        </p:txBody>
      </p:sp>
      <p:sp>
        <p:nvSpPr>
          <p:cNvPr id="115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Diffusion models — эффективный инструмент для задач дефицита данных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Максимальный эффект: редкие классы + строгая проверка качества синтетики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Оценивать нужно не “красоту” генерации, а прирост целевых метрик</a:t>
            </a:r>
          </a:p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  <a:r>
              <a:t>Практический стандарт: baseline + ablation + внешняя проверка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Заголовок 1"/>
          <p:cNvSpPr txBox="1"/>
          <p:nvPr>
            <p:ph type="title"/>
          </p:nvPr>
        </p:nvSpPr>
        <p:spPr>
          <a:xfrm>
            <a:off x="179511" y="404664"/>
            <a:ext cx="4680522" cy="57606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Источники</a:t>
            </a:r>
          </a:p>
        </p:txBody>
      </p:sp>
      <p:sp>
        <p:nvSpPr>
          <p:cNvPr id="118" name="Объект 2"/>
          <p:cNvSpPr txBox="1"/>
          <p:nvPr>
            <p:ph type="body" idx="1"/>
          </p:nvPr>
        </p:nvSpPr>
        <p:spPr>
          <a:xfrm>
            <a:off x="179511" y="1268759"/>
            <a:ext cx="8712970" cy="5184578"/>
          </a:xfrm>
          <a:prstGeom prst="rect">
            <a:avLst/>
          </a:prstGeom>
        </p:spPr>
        <p:txBody>
          <a:bodyPr/>
          <a:lstStyle/>
          <a:p>
            <a:pPr marL="457200" indent="-457200">
              <a:spcBef>
                <a:spcPts val="700"/>
              </a:spcBef>
              <a:buSzPct val="100000"/>
              <a:buFont typeface="Arial"/>
              <a:buChar char="•"/>
              <a:defRPr sz="3200">
                <a:solidFill>
                  <a:srgbClr val="953735"/>
                </a:solidFill>
              </a:defRPr>
            </a:pP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DDPM: Ho et al., Denoising Diffusion Probabilistic Models, 2020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Обзор по генеративной аугментации в медицине (VAE/GAN/diffusion): Kebaili A. et al., Deep Learning Approaches for Data Augmentation in Medical Imaging: A Review, J. Imaging, 2023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Brain MRI: Zuo C. et al., Multi channel fusion diffusion models for brain tumor MRI data augmentation, Scientific Reports, 2025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Skin lesion: Yang P. et al., Better with Less: Efficient and Accurate Skin Lesion Segmentation Enabled by Diffusion Model Augmentation, Electronics, 2025.</a:t>
            </a:r>
          </a:p>
          <a:p>
            <a:pPr lvl="1" marL="1200150" indent="-457200">
              <a:spcBef>
                <a:spcPts val="400"/>
              </a:spcBef>
              <a:buFont typeface="Arial"/>
              <a:buChar char="•"/>
              <a:defRPr b="0" sz="2200">
                <a:solidFill>
                  <a:srgbClr val="000000"/>
                </a:solidFill>
              </a:defRPr>
            </a:pPr>
            <a:r>
              <a:t>Статья про DDPM в ML хендбуке яндекса: https://education.yandex.ru/handbook/ml/article/diffuzionnye-modeli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