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4" r:id="rId6"/>
    <p:sldId id="265" r:id="rId7"/>
    <p:sldId id="282" r:id="rId8"/>
    <p:sldId id="26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2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>
      <p:cViewPr varScale="1">
        <p:scale>
          <a:sx n="78" d="100"/>
          <a:sy n="78" d="100"/>
        </p:scale>
        <p:origin x="1627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717032"/>
            <a:ext cx="6400800" cy="1921768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Текст</a:t>
            </a:r>
          </a:p>
        </p:txBody>
      </p:sp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457200" y="2348880"/>
            <a:ext cx="8229600" cy="1143000"/>
          </a:xfrm>
        </p:spPr>
        <p:txBody>
          <a:bodyPr/>
          <a:lstStyle>
            <a:lvl1pPr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84988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79512" y="404664"/>
            <a:ext cx="4752528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9512" y="404664"/>
            <a:ext cx="4680520" cy="576064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179512" y="1268760"/>
            <a:ext cx="8712968" cy="5326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2">
                    <a:lumMod val="75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6422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ий слайд 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79512" y="404664"/>
            <a:ext cx="4752528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9512" y="404664"/>
            <a:ext cx="4680520" cy="576064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3491880" y="1268760"/>
            <a:ext cx="5400600" cy="964704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bg1">
                    <a:lumMod val="50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3492500" y="2305397"/>
            <a:ext cx="5400675" cy="381635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2pPr>
            <a:lvl3pPr marL="914400" indent="0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1" hasCustomPrompt="1"/>
          </p:nvPr>
        </p:nvSpPr>
        <p:spPr>
          <a:xfrm>
            <a:off x="184870" y="1268760"/>
            <a:ext cx="3168650" cy="316865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1432349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боч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79512" y="404664"/>
            <a:ext cx="4752528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9512" y="404664"/>
            <a:ext cx="4680520" cy="576064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179512" y="1196752"/>
            <a:ext cx="8712968" cy="532656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1">
                    <a:lumMod val="50000"/>
                  </a:schemeClr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/>
          </p:nvPr>
        </p:nvSpPr>
        <p:spPr>
          <a:xfrm>
            <a:off x="179388" y="1801589"/>
            <a:ext cx="8713787" cy="42481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75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Рабоч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79512" y="404664"/>
            <a:ext cx="4752528" cy="57606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9512" y="404664"/>
            <a:ext cx="4680520" cy="576064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0" hasCustomPrompt="1"/>
          </p:nvPr>
        </p:nvSpPr>
        <p:spPr>
          <a:xfrm>
            <a:off x="179388" y="1125538"/>
            <a:ext cx="8785225" cy="5399087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фото</a:t>
            </a:r>
          </a:p>
        </p:txBody>
      </p:sp>
    </p:spTree>
    <p:extLst>
      <p:ext uri="{BB962C8B-B14F-4D97-AF65-F5344CB8AC3E}">
        <p14:creationId xmlns:p14="http://schemas.microsoft.com/office/powerpoint/2010/main" val="105682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Рабоч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4860032" y="5301208"/>
            <a:ext cx="3816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Санкт-Петербургский</a:t>
            </a:r>
            <a:br>
              <a:rPr lang="ru-RU" baseline="0" dirty="0">
                <a:solidFill>
                  <a:schemeClr val="bg1"/>
                </a:solidFill>
              </a:rPr>
            </a:br>
            <a:r>
              <a:rPr lang="ru-RU" baseline="0" dirty="0">
                <a:solidFill>
                  <a:schemeClr val="bg1"/>
                </a:solidFill>
              </a:rPr>
              <a:t>государственный университет</a:t>
            </a:r>
          </a:p>
          <a:p>
            <a:pPr algn="r"/>
            <a:r>
              <a:rPr lang="en-US" b="1" baseline="0" dirty="0">
                <a:solidFill>
                  <a:schemeClr val="bg1"/>
                </a:solidFill>
              </a:rPr>
              <a:t>spbu.ru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695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983B2-6E29-409A-92B0-EBD7932440C6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3867-4E32-4E2D-8739-58246E7E2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03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Искусственный интеллект в дизайне</a:t>
            </a:r>
          </a:p>
        </p:txBody>
      </p:sp>
    </p:spTree>
    <p:extLst>
      <p:ext uri="{BB962C8B-B14F-4D97-AF65-F5344CB8AC3E}">
        <p14:creationId xmlns:p14="http://schemas.microsoft.com/office/powerpoint/2010/main" val="3107476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Генерация изображений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516" y="1124744"/>
            <a:ext cx="8712968" cy="288032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Примеры: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Удаление объектов с автоматическим восстановлением фона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Удаление фона с изображения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Расширение изображения(</a:t>
            </a:r>
            <a:r>
              <a:rPr lang="en-US" dirty="0" err="1"/>
              <a:t>outpainting</a:t>
            </a:r>
            <a:r>
              <a:rPr lang="en-US" dirty="0"/>
              <a:t>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Интеллектуальное заполнение недостающих областей(</a:t>
            </a:r>
            <a:r>
              <a:rPr lang="en-US" dirty="0"/>
              <a:t>inpainting)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ru-RU" dirty="0"/>
              <a:t>Восстановление старых или поврежденных изображений</a:t>
            </a:r>
          </a:p>
        </p:txBody>
      </p:sp>
      <p:pic>
        <p:nvPicPr>
          <p:cNvPr id="1026" name="Picture 2" descr="Как удалить объект с фото в фотошопе и сохранить фон">
            <a:extLst>
              <a:ext uri="{FF2B5EF4-FFF2-40B4-BE49-F238E27FC236}">
                <a16:creationId xmlns:a16="http://schemas.microsoft.com/office/drawing/2014/main" id="{B4116EED-1146-803A-05C6-922974A4C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89040"/>
            <a:ext cx="2707779" cy="203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AI Image Extender Free: Расширяйте фотографии с помощью ИИ | iFoto">
            <a:extLst>
              <a:ext uri="{FF2B5EF4-FFF2-40B4-BE49-F238E27FC236}">
                <a16:creationId xmlns:a16="http://schemas.microsoft.com/office/drawing/2014/main" id="{DE09BB38-224C-1B67-BAEF-AAC47AD48E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2" name="Picture 8" descr="Бесплатный Расширитель изображений AI | Расширить фото с помощью нейросети">
            <a:extLst>
              <a:ext uri="{FF2B5EF4-FFF2-40B4-BE49-F238E27FC236}">
                <a16:creationId xmlns:a16="http://schemas.microsoft.com/office/drawing/2014/main" id="{A4ED4572-2FE1-C6C9-B270-085211460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159413"/>
            <a:ext cx="2426593" cy="175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682103-214A-1F57-8701-941DBB73E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123" y="4653136"/>
            <a:ext cx="5860665" cy="196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Генерация изображений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268760"/>
            <a:ext cx="8712968" cy="518457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Методы и архитектуры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 err="1"/>
              <a:t>Difussion</a:t>
            </a:r>
            <a:r>
              <a:rPr lang="en-US" b="1" dirty="0"/>
              <a:t> models</a:t>
            </a:r>
            <a:r>
              <a:rPr lang="ru-RU" b="1" dirty="0"/>
              <a:t> </a:t>
            </a:r>
            <a:r>
              <a:rPr lang="ru-RU" dirty="0"/>
              <a:t>(из шума постепенное создание изображения)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/>
              <a:t>Partial Convolutions</a:t>
            </a:r>
            <a:r>
              <a:rPr lang="ru-RU" b="1" dirty="0"/>
              <a:t> </a:t>
            </a:r>
            <a:r>
              <a:rPr lang="ru-RU" dirty="0"/>
              <a:t>(анализ соседних областей изображения и продолжение внутрь поврежденных областей)</a:t>
            </a: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/>
              <a:t>Generative Adversarial Networks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en-US" dirty="0"/>
              <a:t>generator </a:t>
            </a:r>
            <a:r>
              <a:rPr lang="ru-RU" dirty="0"/>
              <a:t>создает изображение, </a:t>
            </a:r>
            <a:r>
              <a:rPr lang="en-US" dirty="0"/>
              <a:t>discriminator </a:t>
            </a:r>
            <a:r>
              <a:rPr lang="ru-RU" dirty="0"/>
              <a:t>определяет, является ли оно сгенерированным)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/>
              <a:t>Transformer-</a:t>
            </a:r>
            <a:r>
              <a:rPr lang="ru-RU" b="1" dirty="0"/>
              <a:t>архитектуры </a:t>
            </a:r>
            <a:r>
              <a:rPr lang="ru-RU" dirty="0"/>
              <a:t>(учитывают дальние связи и зависимости между элементами сцены)</a:t>
            </a:r>
          </a:p>
        </p:txBody>
      </p:sp>
    </p:spTree>
    <p:extLst>
      <p:ext uri="{BB962C8B-B14F-4D97-AF65-F5344CB8AC3E}">
        <p14:creationId xmlns:p14="http://schemas.microsoft.com/office/powerpoint/2010/main" val="296280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404664"/>
            <a:ext cx="5184576" cy="576064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Распознавание образов	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02CD6FD-8224-3C4B-FE05-E7AF6B19E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1124744"/>
            <a:ext cx="8712968" cy="2880320"/>
          </a:xfrm>
        </p:spPr>
        <p:txBody>
          <a:bodyPr>
            <a:normAutofit/>
          </a:bodyPr>
          <a:lstStyle/>
          <a:p>
            <a:pPr algn="ctr"/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Примеры: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Автоматическое выделение объектов на изображении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Распознавание текста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Анализ структуры интерфейсов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Преобразование растровых макетов в редактируемые элементы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Автоматическая группировка и поиск визуальных компонентов</a:t>
            </a:r>
          </a:p>
        </p:txBody>
      </p:sp>
      <p:pic>
        <p:nvPicPr>
          <p:cNvPr id="1026" name="Picture 2" descr="Семантическая сегментация: самый полный гайд 2024 / Хабр">
            <a:extLst>
              <a:ext uri="{FF2B5EF4-FFF2-40B4-BE49-F238E27FC236}">
                <a16:creationId xmlns:a16="http://schemas.microsoft.com/office/drawing/2014/main" id="{A5FE0B49-4C7E-D0DF-57C5-44EEFC75E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3721158"/>
            <a:ext cx="5400600" cy="273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75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Распознавание образов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569E2F6-9D08-948C-1F8D-DB26EF3764D0}"/>
              </a:ext>
            </a:extLst>
          </p:cNvPr>
          <p:cNvSpPr txBox="1">
            <a:spLocks/>
          </p:cNvSpPr>
          <p:nvPr/>
        </p:nvSpPr>
        <p:spPr>
          <a:xfrm>
            <a:off x="179512" y="1268760"/>
            <a:ext cx="8712968" cy="51845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Методы и архитектуры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Scale-Invariant Feature Transform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SIFT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) </a:t>
            </a:r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(выделение и описание устойчивых ключевых точек)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Histogram of Oriented Gradients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HOG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) </a:t>
            </a:r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(описание изображения на основе направлений градиентов)</a:t>
            </a:r>
            <a:endParaRPr lang="en-US" sz="3200" b="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Support Vector Machine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SVM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) </a:t>
            </a:r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(разделение классов)</a:t>
            </a:r>
            <a:endParaRPr lang="en-US" sz="3200" b="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Convolutional Neural Network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CNN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) </a:t>
            </a:r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(автоматическое извлечение признаков)</a:t>
            </a:r>
            <a:endParaRPr lang="en-US" sz="3200" b="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Vision transformers</a:t>
            </a:r>
            <a:r>
              <a:rPr lang="ru-RU" sz="32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(учитывает локальные и глобальные зависимости в изображении)</a:t>
            </a:r>
          </a:p>
        </p:txBody>
      </p:sp>
    </p:spTree>
    <p:extLst>
      <p:ext uri="{BB962C8B-B14F-4D97-AF65-F5344CB8AC3E}">
        <p14:creationId xmlns:p14="http://schemas.microsoft.com/office/powerpoint/2010/main" val="3249617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Классификация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3E1ACF94-7FFC-B9DE-3514-54DB56F14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516" y="1124744"/>
            <a:ext cx="8712968" cy="2880320"/>
          </a:xfrm>
        </p:spPr>
        <p:txBody>
          <a:bodyPr>
            <a:normAutofit/>
          </a:bodyPr>
          <a:lstStyle/>
          <a:p>
            <a:pPr algn="ctr"/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Примеры: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Автоматическое тегирование изображений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Поиск похожих визуальных элементов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Категоризации контента в дизайн-библиотеках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Определение типа сцены или объекта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200" b="0" dirty="0">
                <a:solidFill>
                  <a:schemeClr val="accent2">
                    <a:lumMod val="75000"/>
                  </a:schemeClr>
                </a:solidFill>
              </a:rPr>
              <a:t>Автоматическая сортировка изображений</a:t>
            </a:r>
          </a:p>
        </p:txBody>
      </p:sp>
      <p:pic>
        <p:nvPicPr>
          <p:cNvPr id="2050" name="Picture 2" descr="Image Tagging and Data Annotation: Tools, Methods, and Approaches. -  Zeusinfinity">
            <a:extLst>
              <a:ext uri="{FF2B5EF4-FFF2-40B4-BE49-F238E27FC236}">
                <a16:creationId xmlns:a16="http://schemas.microsoft.com/office/drawing/2014/main" id="{366B7262-4B88-7138-EA00-827BAE9D0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83458"/>
            <a:ext cx="3665862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a reverse image search? And how to do it | Zapier">
            <a:extLst>
              <a:ext uri="{FF2B5EF4-FFF2-40B4-BE49-F238E27FC236}">
                <a16:creationId xmlns:a16="http://schemas.microsoft.com/office/drawing/2014/main" id="{5C00762D-756B-040A-FAF5-1613DAC2A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429001"/>
            <a:ext cx="3449838" cy="2088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B6560D-2070-B569-1A8E-6A642E4F0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037" y="4724064"/>
            <a:ext cx="2597115" cy="213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73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Распознавание образов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569E2F6-9D08-948C-1F8D-DB26EF3764D0}"/>
              </a:ext>
            </a:extLst>
          </p:cNvPr>
          <p:cNvSpPr txBox="1">
            <a:spLocks/>
          </p:cNvSpPr>
          <p:nvPr/>
        </p:nvSpPr>
        <p:spPr>
          <a:xfrm>
            <a:off x="179512" y="1268760"/>
            <a:ext cx="8712968" cy="518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Методы и архитектуры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dirty="0" err="1">
                <a:solidFill>
                  <a:schemeClr val="accent2">
                    <a:lumMod val="75000"/>
                  </a:schemeClr>
                </a:solidFill>
              </a:rPr>
              <a:t>ResNet</a:t>
            </a:r>
            <a:endParaRPr lang="en-US" sz="3200" b="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chemeClr val="accent2">
                    <a:lumMod val="75000"/>
                  </a:schemeClr>
                </a:solidFill>
              </a:rPr>
              <a:t>Convolutional Neural Network</a:t>
            </a:r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3200" b="0" dirty="0">
                <a:solidFill>
                  <a:schemeClr val="accent2">
                    <a:lumMod val="75000"/>
                  </a:schemeClr>
                </a:solidFill>
              </a:rPr>
              <a:t>CNN</a:t>
            </a:r>
            <a:r>
              <a:rPr lang="ru-RU" sz="3200" b="0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3200" b="0" dirty="0">
              <a:solidFill>
                <a:schemeClr val="accent2">
                  <a:lumMod val="7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0" dirty="0">
                <a:solidFill>
                  <a:schemeClr val="accent2">
                    <a:lumMod val="75000"/>
                  </a:schemeClr>
                </a:solidFill>
              </a:rPr>
              <a:t>Vision transformers</a:t>
            </a:r>
            <a:endParaRPr lang="ru-RU" sz="3200" b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394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7D321-39C2-CDCC-96C9-B57D77E7CE57}"/>
              </a:ext>
            </a:extLst>
          </p:cNvPr>
          <p:cNvSpPr txBox="1"/>
          <p:nvPr/>
        </p:nvSpPr>
        <p:spPr>
          <a:xfrm>
            <a:off x="1663864" y="2924944"/>
            <a:ext cx="5816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Спасибо</a:t>
            </a:r>
            <a:r>
              <a:rPr lang="ru-RU" dirty="0"/>
              <a:t> </a:t>
            </a:r>
            <a:r>
              <a:rPr lang="ru-RU" sz="4000" b="1" cap="all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71725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2016_02_SPbU_template_4х3_ру</Template>
  <TotalTime>8023</TotalTime>
  <Words>223</Words>
  <Application>Microsoft Office PowerPoint</Application>
  <PresentationFormat>Экран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Тема Office</vt:lpstr>
      <vt:lpstr>Искусственный интеллект в дизайне</vt:lpstr>
      <vt:lpstr>Генерация изображений</vt:lpstr>
      <vt:lpstr>Генерация изображений</vt:lpstr>
      <vt:lpstr>Распознавание образов </vt:lpstr>
      <vt:lpstr>Распознавание образов</vt:lpstr>
      <vt:lpstr>Классификация</vt:lpstr>
      <vt:lpstr>Распознавание образов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Тимофей Назаров</dc:creator>
  <cp:lastModifiedBy>Полина Быкова</cp:lastModifiedBy>
  <cp:revision>11</cp:revision>
  <dcterms:created xsi:type="dcterms:W3CDTF">2025-04-21T07:33:33Z</dcterms:created>
  <dcterms:modified xsi:type="dcterms:W3CDTF">2026-05-15T17:30:14Z</dcterms:modified>
</cp:coreProperties>
</file>