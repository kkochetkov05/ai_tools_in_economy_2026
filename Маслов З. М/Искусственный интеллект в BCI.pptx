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89" r:id="rId2"/>
    <p:sldId id="258" r:id="rId3"/>
    <p:sldId id="259" r:id="rId4"/>
    <p:sldId id="260" r:id="rId5"/>
    <p:sldId id="261" r:id="rId6"/>
    <p:sldId id="268" r:id="rId7"/>
    <p:sldId id="269" r:id="rId8"/>
    <p:sldId id="272" r:id="rId9"/>
    <p:sldId id="270" r:id="rId10"/>
    <p:sldId id="290" r:id="rId11"/>
    <p:sldId id="291" r:id="rId12"/>
    <p:sldId id="292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FAE84BD-37EA-4A2F-9B0E-9E43EC7DAD4F}">
          <p14:sldIdLst>
            <p14:sldId id="289"/>
            <p14:sldId id="258"/>
            <p14:sldId id="259"/>
            <p14:sldId id="260"/>
            <p14:sldId id="261"/>
            <p14:sldId id="268"/>
            <p14:sldId id="269"/>
            <p14:sldId id="272"/>
            <p14:sldId id="270"/>
            <p14:sldId id="290"/>
            <p14:sldId id="291"/>
            <p14:sldId id="292"/>
          </p14:sldIdLst>
        </p14:section>
        <p14:section name="Раздел без заголовка" id="{2635D5DA-193C-4839-BE58-391B73F2A19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C7CA"/>
    <a:srgbClr val="C1C8CA"/>
    <a:srgbClr val="E4801C"/>
    <a:srgbClr val="EF9511"/>
    <a:srgbClr val="FF9801"/>
    <a:srgbClr val="FF9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1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9zhexo@gmail.com" userId="63104af2624b0cd6" providerId="LiveId" clId="{C814AFE3-48ED-4DCB-AF47-BBBD1CE3CF9A}"/>
    <pc:docChg chg="modSld">
      <pc:chgData name="r9zhexo@gmail.com" userId="63104af2624b0cd6" providerId="LiveId" clId="{C814AFE3-48ED-4DCB-AF47-BBBD1CE3CF9A}" dt="2025-05-19T22:00:49.065" v="17"/>
      <pc:docMkLst>
        <pc:docMk/>
      </pc:docMkLst>
      <pc:sldChg chg="addSp modSp mod">
        <pc:chgData name="r9zhexo@gmail.com" userId="63104af2624b0cd6" providerId="LiveId" clId="{C814AFE3-48ED-4DCB-AF47-BBBD1CE3CF9A}" dt="2025-05-19T22:00:42.507" v="16" actId="1076"/>
        <pc:sldMkLst>
          <pc:docMk/>
          <pc:sldMk cId="3884340244" sldId="290"/>
        </pc:sldMkLst>
        <pc:spChg chg="add mod">
          <ac:chgData name="r9zhexo@gmail.com" userId="63104af2624b0cd6" providerId="LiveId" clId="{C814AFE3-48ED-4DCB-AF47-BBBD1CE3CF9A}" dt="2025-05-19T22:00:42.507" v="16" actId="1076"/>
          <ac:spMkLst>
            <pc:docMk/>
            <pc:sldMk cId="3884340244" sldId="290"/>
            <ac:spMk id="5" creationId="{7B6E8B25-A596-F02F-FB5C-F61BD9BEE511}"/>
          </ac:spMkLst>
        </pc:spChg>
      </pc:sldChg>
      <pc:sldChg chg="addSp modSp">
        <pc:chgData name="r9zhexo@gmail.com" userId="63104af2624b0cd6" providerId="LiveId" clId="{C814AFE3-48ED-4DCB-AF47-BBBD1CE3CF9A}" dt="2025-05-19T22:00:49.065" v="17"/>
        <pc:sldMkLst>
          <pc:docMk/>
          <pc:sldMk cId="2236795422" sldId="291"/>
        </pc:sldMkLst>
        <pc:spChg chg="add mod">
          <ac:chgData name="r9zhexo@gmail.com" userId="63104af2624b0cd6" providerId="LiveId" clId="{C814AFE3-48ED-4DCB-AF47-BBBD1CE3CF9A}" dt="2025-05-19T22:00:49.065" v="17"/>
          <ac:spMkLst>
            <pc:docMk/>
            <pc:sldMk cId="2236795422" sldId="291"/>
            <ac:spMk id="2" creationId="{CE8087FC-27E9-F58F-A43C-513FFD85DB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e352a08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e352a08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a278640fb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a278640fb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a278640fb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a278640fb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a2ea74c1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a2ea74c1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a60d050b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a60d050b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2831fdc2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2831fdc2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2831fdc2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2831fdc2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2831fdc2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2831fdc2b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403648" y="2859782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8743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7" y="843559"/>
            <a:ext cx="8704741" cy="504056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7" y="1419622"/>
            <a:ext cx="8704741" cy="302433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67255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23528" y="1059582"/>
            <a:ext cx="4038600" cy="331236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4572000" y="1059582"/>
            <a:ext cx="4320480" cy="33843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4145206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0" y="1059582"/>
            <a:ext cx="9144000" cy="4083918"/>
          </a:xfrm>
          <a:solidFill>
            <a:schemeClr val="bg1">
              <a:lumMod val="75000"/>
            </a:schemeClr>
          </a:solidFill>
          <a:ln>
            <a:solidFill>
              <a:srgbClr val="000000">
                <a:alpha val="21176"/>
              </a:srgbClr>
            </a:solidFill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4299942"/>
            <a:ext cx="8820472" cy="504056"/>
          </a:xfrm>
          <a:prstGeom prst="rect">
            <a:avLst/>
          </a:prstGeom>
          <a:solidFill>
            <a:srgbClr val="FFFF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323528" y="4316113"/>
            <a:ext cx="8640960" cy="50405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sz="1600" baseline="0" dirty="0">
                <a:solidFill>
                  <a:schemeClr val="bg1"/>
                </a:solidFill>
              </a:rPr>
              <a:t>Санкт-Петербургский государственный университет</a:t>
            </a:r>
          </a:p>
        </p:txBody>
      </p:sp>
    </p:spTree>
    <p:extLst>
      <p:ext uri="{BB962C8B-B14F-4D97-AF65-F5344CB8AC3E}">
        <p14:creationId xmlns:p14="http://schemas.microsoft.com/office/powerpoint/2010/main" val="6373780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крывающ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8" y="1131590"/>
            <a:ext cx="8568952" cy="36004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995936" y="3939902"/>
            <a:ext cx="1201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5E7076"/>
                </a:solidFill>
                <a:latin typeface="+mj-lt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15865471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722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406C7-4D28-40E2-A2CB-00F1FE68E05F}" type="datetime1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7278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A2CD6-0AE3-0414-ECF4-F45112DC0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Неинвазивные</a:t>
            </a:r>
            <a:r>
              <a:rPr lang="ru-RU" dirty="0"/>
              <a:t> интерфейсы "мозг-компьютер" (BCI): ИИ в обработке </a:t>
            </a:r>
            <a:r>
              <a:rPr lang="ru-RU" dirty="0" err="1"/>
              <a:t>нейросигналов</a:t>
            </a:r>
            <a:r>
              <a:rPr lang="ru-RU" dirty="0"/>
              <a:t>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40E9436-C8B4-7B6C-CBCD-719064F72B69}"/>
              </a:ext>
            </a:extLst>
          </p:cNvPr>
          <p:cNvSpPr txBox="1">
            <a:spLocks/>
          </p:cNvSpPr>
          <p:nvPr/>
        </p:nvSpPr>
        <p:spPr>
          <a:xfrm>
            <a:off x="1280668" y="447675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Факультет Прикладной математики – Процессов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24631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 idx="4294967295"/>
          </p:nvPr>
        </p:nvSpPr>
        <p:spPr>
          <a:xfrm>
            <a:off x="213852" y="0"/>
            <a:ext cx="8930148" cy="954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ru-RU" b="1" dirty="0"/>
              <a:t>Дизайн-пространство современных </a:t>
            </a:r>
            <a:r>
              <a:rPr lang="ru-RU" b="1" dirty="0" smtClean="0"/>
              <a:t>BCI</a:t>
            </a:r>
            <a:endParaRPr lang="ru-RU" b="1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895949"/>
              </p:ext>
            </p:extLst>
          </p:nvPr>
        </p:nvGraphicFramePr>
        <p:xfrm>
          <a:off x="399996" y="836022"/>
          <a:ext cx="8557859" cy="37107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7201">
                  <a:extLst>
                    <a:ext uri="{9D8B030D-6E8A-4147-A177-3AD203B41FA5}">
                      <a16:colId xmlns:a16="http://schemas.microsoft.com/office/drawing/2014/main" val="940229434"/>
                    </a:ext>
                  </a:extLst>
                </a:gridCol>
                <a:gridCol w="1704703">
                  <a:extLst>
                    <a:ext uri="{9D8B030D-6E8A-4147-A177-3AD203B41FA5}">
                      <a16:colId xmlns:a16="http://schemas.microsoft.com/office/drawing/2014/main" val="2469585892"/>
                    </a:ext>
                  </a:extLst>
                </a:gridCol>
                <a:gridCol w="1361163">
                  <a:extLst>
                    <a:ext uri="{9D8B030D-6E8A-4147-A177-3AD203B41FA5}">
                      <a16:colId xmlns:a16="http://schemas.microsoft.com/office/drawing/2014/main" val="3295400930"/>
                    </a:ext>
                  </a:extLst>
                </a:gridCol>
                <a:gridCol w="1982929">
                  <a:extLst>
                    <a:ext uri="{9D8B030D-6E8A-4147-A177-3AD203B41FA5}">
                      <a16:colId xmlns:a16="http://schemas.microsoft.com/office/drawing/2014/main" val="972554736"/>
                    </a:ext>
                  </a:extLst>
                </a:gridCol>
                <a:gridCol w="1841863">
                  <a:extLst>
                    <a:ext uri="{9D8B030D-6E8A-4147-A177-3AD203B41FA5}">
                      <a16:colId xmlns:a16="http://schemas.microsoft.com/office/drawing/2014/main" val="187160409"/>
                    </a:ext>
                  </a:extLst>
                </a:gridCol>
              </a:tblGrid>
              <a:tr h="710293">
                <a:tc>
                  <a:txBody>
                    <a:bodyPr/>
                    <a:lstStyle/>
                    <a:p>
                      <a:pPr algn="l"/>
                      <a:r>
                        <a:rPr lang="ru-RU" sz="1400" dirty="0" smtClean="0"/>
                        <a:t>Тип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 smtClean="0"/>
                        <a:t>Технологии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SNR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 smtClean="0"/>
                        <a:t>Пространственное</a:t>
                      </a:r>
                      <a:r>
                        <a:rPr lang="ru-RU" sz="1400" baseline="0" dirty="0" smtClean="0"/>
                        <a:t> разрешение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Ограничения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extLst>
                  <a:ext uri="{0D108BD9-81ED-4DB2-BD59-A6C34878D82A}">
                    <a16:rowId xmlns:a16="http://schemas.microsoft.com/office/drawing/2014/main" val="2747393660"/>
                  </a:ext>
                </a:extLst>
              </a:tr>
              <a:tr h="710293"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Неинвазивные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EEG, MEG, </a:t>
                      </a:r>
                      <a:r>
                        <a:rPr lang="en-US" sz="1400" dirty="0" err="1" smtClean="0"/>
                        <a:t>fNIRS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Низкое</a:t>
                      </a:r>
                      <a:r>
                        <a:rPr lang="en-US" sz="1400" dirty="0" smtClean="0"/>
                        <a:t>  </a:t>
                      </a:r>
                      <a:r>
                        <a:rPr lang="ru-RU" sz="1400" dirty="0" smtClean="0"/>
                        <a:t>(</a:t>
                      </a:r>
                      <a:r>
                        <a:rPr lang="en-US" sz="1400" dirty="0" smtClean="0"/>
                        <a:t>EEG: ~1-10</a:t>
                      </a:r>
                      <a:r>
                        <a:rPr lang="ru-RU" sz="1400" dirty="0" smtClean="0"/>
                        <a:t> мкВ)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EEG: ~</a:t>
                      </a:r>
                      <a:r>
                        <a:rPr lang="ru-RU" sz="1400" dirty="0" smtClean="0"/>
                        <a:t>5-10 см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Высокая чувствительность к артефактам,</a:t>
                      </a:r>
                      <a:r>
                        <a:rPr lang="ru-RU" sz="1400" baseline="0" dirty="0" smtClean="0"/>
                        <a:t> слабый сигнал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extLst>
                  <a:ext uri="{0D108BD9-81ED-4DB2-BD59-A6C34878D82A}">
                    <a16:rowId xmlns:a16="http://schemas.microsoft.com/office/drawing/2014/main" val="1494670283"/>
                  </a:ext>
                </a:extLst>
              </a:tr>
              <a:tr h="71029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Малоинвазивные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en-US" sz="1400" baseline="0" dirty="0" err="1" smtClean="0"/>
                        <a:t>ECoG</a:t>
                      </a:r>
                      <a:r>
                        <a:rPr lang="en-US" sz="1400" baseline="0" dirty="0" smtClean="0"/>
                        <a:t>(</a:t>
                      </a:r>
                      <a:r>
                        <a:rPr lang="ru-RU" sz="1400" baseline="0" dirty="0" smtClean="0"/>
                        <a:t>электроды на коре)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Среднее-высокое (</a:t>
                      </a:r>
                      <a:r>
                        <a:rPr lang="en-US" sz="1400" dirty="0" smtClean="0"/>
                        <a:t>ECOG:</a:t>
                      </a:r>
                      <a:r>
                        <a:rPr lang="en-US" sz="1400" baseline="0" dirty="0" smtClean="0"/>
                        <a:t> ~10-100 </a:t>
                      </a:r>
                      <a:r>
                        <a:rPr lang="ru-RU" sz="1400" baseline="0" dirty="0" smtClean="0"/>
                        <a:t>мкВ)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ECoG</a:t>
                      </a:r>
                      <a:r>
                        <a:rPr lang="en-US" sz="1400" dirty="0" smtClean="0"/>
                        <a:t>:</a:t>
                      </a:r>
                      <a:r>
                        <a:rPr lang="en-US" sz="1400" baseline="0" dirty="0" smtClean="0"/>
                        <a:t> ~</a:t>
                      </a:r>
                      <a:r>
                        <a:rPr lang="ru-RU" sz="1400" baseline="0" dirty="0" smtClean="0"/>
                        <a:t>1-5 мм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Требуется</a:t>
                      </a:r>
                      <a:r>
                        <a:rPr lang="ru-RU" sz="1400" baseline="0" dirty="0" smtClean="0"/>
                        <a:t> проведение оперативного вмешательства</a:t>
                      </a:r>
                      <a:r>
                        <a:rPr lang="en-US" sz="1400" baseline="0" dirty="0" smtClean="0"/>
                        <a:t> (</a:t>
                      </a:r>
                      <a:r>
                        <a:rPr lang="en-US" sz="1400" baseline="0" dirty="0" err="1" smtClean="0"/>
                        <a:t>ECoG</a:t>
                      </a:r>
                      <a:r>
                        <a:rPr lang="en-US" sz="1400" baseline="0" dirty="0" smtClean="0"/>
                        <a:t>)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extLst>
                  <a:ext uri="{0D108BD9-81ED-4DB2-BD59-A6C34878D82A}">
                    <a16:rowId xmlns:a16="http://schemas.microsoft.com/office/drawing/2014/main" val="3155651972"/>
                  </a:ext>
                </a:extLst>
              </a:tr>
              <a:tr h="71029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Инвазивные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Neuralink</a:t>
                      </a:r>
                      <a:r>
                        <a:rPr lang="en-US" sz="1400" dirty="0" smtClean="0"/>
                        <a:t>,</a:t>
                      </a:r>
                      <a:r>
                        <a:rPr lang="en-US" sz="1400" baseline="0" dirty="0" smtClean="0"/>
                        <a:t>        Utah Array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Высокое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Отдельные</a:t>
                      </a:r>
                      <a:r>
                        <a:rPr lang="ru-RU" sz="1400" baseline="0" dirty="0" smtClean="0"/>
                        <a:t> нейроны(единичный разряд)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Биосовместимость</a:t>
                      </a:r>
                      <a:r>
                        <a:rPr lang="ru-RU" sz="1400" dirty="0" smtClean="0"/>
                        <a:t>, иммунный ответ,</a:t>
                      </a:r>
                      <a:r>
                        <a:rPr lang="ru-RU" sz="1400" baseline="0" dirty="0" smtClean="0"/>
                        <a:t> фиброз</a:t>
                      </a:r>
                      <a:endParaRPr lang="ru-RU" sz="1400" dirty="0"/>
                    </a:p>
                  </a:txBody>
                  <a:tcPr marL="146700" marR="146700" marT="73350" marB="73350"/>
                </a:tc>
                <a:extLst>
                  <a:ext uri="{0D108BD9-81ED-4DB2-BD59-A6C34878D82A}">
                    <a16:rowId xmlns:a16="http://schemas.microsoft.com/office/drawing/2014/main" val="198524925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 idx="4294967295"/>
          </p:nvPr>
        </p:nvSpPr>
        <p:spPr>
          <a:xfrm>
            <a:off x="250722" y="0"/>
            <a:ext cx="8233604" cy="954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/>
              <a:t>Неинвазивные технологии. </a:t>
            </a:r>
            <a:r>
              <a:rPr lang="en-US" b="1" dirty="0" smtClean="0"/>
              <a:t>EEG</a:t>
            </a:r>
            <a:endParaRPr b="1" dirty="0"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4294967295"/>
          </p:nvPr>
        </p:nvSpPr>
        <p:spPr>
          <a:xfrm>
            <a:off x="324466" y="954087"/>
            <a:ext cx="2783007" cy="3526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dirty="0"/>
              <a:t>ЭЭГ (Электроэнцефалография)</a:t>
            </a:r>
            <a:r>
              <a:rPr lang="ru-RU" sz="1200" dirty="0"/>
              <a:t/>
            </a:r>
            <a:br>
              <a:rPr lang="ru-RU" sz="1200" dirty="0"/>
            </a:br>
            <a:r>
              <a:rPr lang="ru-RU" sz="1200" dirty="0"/>
              <a:t>Считывает электрическую активность коры мозга. Характеризуется высоким временным разрешением и низкой стоимостью, но сигнал сильно зашумлен черепом</a:t>
            </a:r>
            <a:r>
              <a:rPr lang="ru-RU" sz="1200" dirty="0" smtClean="0"/>
              <a:t>.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ru-RU" sz="1200" dirty="0" smtClean="0"/>
              <a:t>ЭЭГ может измерять разность потенциалов между электродами, что показывает временную динамику на поверхности мозга: влияние различных триггеров, частоты ритмов и их амплитуда.</a:t>
            </a:r>
            <a:endParaRPr sz="1200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473" y="954087"/>
            <a:ext cx="2500653" cy="217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EG rhythms ch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26" y="954087"/>
            <a:ext cx="3462543" cy="264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 idx="4294967295"/>
          </p:nvPr>
        </p:nvSpPr>
        <p:spPr>
          <a:xfrm>
            <a:off x="235974" y="0"/>
            <a:ext cx="7505700" cy="954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l">
              <a:spcBef>
                <a:spcPts val="0"/>
              </a:spcBef>
            </a:pPr>
            <a:r>
              <a:rPr lang="ru" b="1" dirty="0"/>
              <a:t>Неинвазивные технологии. </a:t>
            </a:r>
            <a:r>
              <a:rPr lang="en-US" b="1" dirty="0" err="1" smtClean="0"/>
              <a:t>fNIRS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Google Shape;149;p16"/>
          <p:cNvSpPr txBox="1">
            <a:spLocks/>
          </p:cNvSpPr>
          <p:nvPr/>
        </p:nvSpPr>
        <p:spPr>
          <a:xfrm>
            <a:off x="324466" y="954087"/>
            <a:ext cx="3137192" cy="3526473"/>
          </a:xfrm>
          <a:prstGeom prst="rect">
            <a:avLst/>
          </a:prstGeom>
          <a:ln w="28575"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dirty="0" err="1"/>
              <a:t>фНИРС</a:t>
            </a:r>
            <a:r>
              <a:rPr lang="ru-RU" sz="1200" b="1" dirty="0"/>
              <a:t> (</a:t>
            </a:r>
            <a:r>
              <a:rPr lang="ru-RU" sz="1200" b="1" dirty="0" err="1"/>
              <a:t>fNIRS</a:t>
            </a:r>
            <a:r>
              <a:rPr lang="ru-RU" sz="1200" b="1" dirty="0" smtClean="0"/>
              <a:t>) </a:t>
            </a:r>
            <a:r>
              <a:rPr lang="ru-RU" sz="1200" dirty="0"/>
              <a:t/>
            </a:r>
            <a:br>
              <a:rPr lang="ru-RU" sz="1200" dirty="0"/>
            </a:br>
            <a:r>
              <a:rPr lang="ru-RU" sz="1200" dirty="0"/>
              <a:t>Функциональная ближняя инфракрасная </a:t>
            </a:r>
            <a:r>
              <a:rPr lang="ru-RU" sz="1200" dirty="0" smtClean="0"/>
              <a:t>спектроскопия, которая оценивает </a:t>
            </a:r>
            <a:r>
              <a:rPr lang="ru-RU" sz="1200" dirty="0"/>
              <a:t>активность коры мозга по изменениям </a:t>
            </a:r>
            <a:r>
              <a:rPr lang="ru-RU" sz="1200" b="1" dirty="0" err="1"/>
              <a:t>оксигенированного</a:t>
            </a:r>
            <a:r>
              <a:rPr lang="ru-RU" sz="1200" b="1" dirty="0"/>
              <a:t> и </a:t>
            </a:r>
            <a:r>
              <a:rPr lang="ru-RU" sz="1200" b="1" dirty="0" err="1"/>
              <a:t>дезоксигенированного</a:t>
            </a:r>
            <a:r>
              <a:rPr lang="ru-RU" sz="1200" b="1" dirty="0"/>
              <a:t> </a:t>
            </a:r>
            <a:r>
              <a:rPr lang="ru-RU" sz="1200" b="1" dirty="0" smtClean="0"/>
              <a:t>гемоглобина(гемодинамический отклик)</a:t>
            </a:r>
            <a:r>
              <a:rPr lang="ru-RU" sz="1200" dirty="0"/>
              <a:t> в </a:t>
            </a:r>
            <a:r>
              <a:rPr lang="ru-RU" sz="1200" dirty="0" smtClean="0"/>
              <a:t>ткани, иными словами, измеряет поток в сосудах мозга: больше поток – больше активность зоны мозга.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ru-RU" sz="1200" dirty="0" smtClean="0"/>
              <a:t> Удобнее</a:t>
            </a:r>
            <a:r>
              <a:rPr lang="ru-RU" sz="1200" dirty="0"/>
              <a:t>, чем МРТ, но медленнее </a:t>
            </a:r>
            <a:r>
              <a:rPr lang="ru-RU" sz="1200" dirty="0" smtClean="0"/>
              <a:t>ЭЭГ, также меньше подвержен влиянию движений, чем ЭЭГ.</a:t>
            </a:r>
            <a:br>
              <a:rPr lang="ru-RU" sz="1200" dirty="0" smtClean="0"/>
            </a:br>
            <a:r>
              <a:rPr lang="ru-RU" sz="1200" dirty="0" smtClean="0"/>
              <a:t>Имеет большее пространственное разрешение, чем ЭЭГ, поэтому подходит для анализа активности отдельных областей мозга.</a:t>
            </a: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564" y="954086"/>
            <a:ext cx="5331801" cy="290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>
            <a:spLocks noGrp="1"/>
          </p:cNvSpPr>
          <p:nvPr>
            <p:ph type="title" idx="4294967295"/>
          </p:nvPr>
        </p:nvSpPr>
        <p:spPr>
          <a:xfrm>
            <a:off x="243349" y="138799"/>
            <a:ext cx="9144000" cy="739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>
              <a:spcBef>
                <a:spcPts val="0"/>
              </a:spcBef>
            </a:pPr>
            <a:r>
              <a:rPr lang="ru" sz="3600" b="1" dirty="0"/>
              <a:t>Неинвазивные технологии. </a:t>
            </a:r>
            <a:r>
              <a:rPr lang="en-US" sz="3600" b="1" dirty="0" smtClean="0"/>
              <a:t>MEG</a:t>
            </a:r>
            <a:endParaRPr sz="3600" dirty="0">
              <a:solidFill>
                <a:srgbClr val="FFC000"/>
              </a:solidFill>
            </a:endParaRPr>
          </a:p>
        </p:txBody>
      </p:sp>
      <p:sp>
        <p:nvSpPr>
          <p:cNvPr id="5" name="Google Shape;149;p16"/>
          <p:cNvSpPr txBox="1">
            <a:spLocks/>
          </p:cNvSpPr>
          <p:nvPr/>
        </p:nvSpPr>
        <p:spPr>
          <a:xfrm>
            <a:off x="324465" y="954087"/>
            <a:ext cx="4286723" cy="35264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dirty="0"/>
              <a:t>МЭГ (</a:t>
            </a:r>
            <a:r>
              <a:rPr lang="ru-RU" sz="1200" b="1" dirty="0" err="1"/>
              <a:t>Магнитоэнцефалография</a:t>
            </a:r>
            <a:r>
              <a:rPr lang="ru-RU" sz="1200" b="1" dirty="0"/>
              <a:t>)</a:t>
            </a:r>
            <a:r>
              <a:rPr lang="ru-RU" sz="1200" dirty="0"/>
              <a:t/>
            </a:r>
            <a:br>
              <a:rPr lang="ru-RU" sz="1200" dirty="0"/>
            </a:br>
            <a:r>
              <a:rPr lang="ru-RU" sz="1200" dirty="0"/>
              <a:t>Фиксирует мельчайшие магнитные поля нейронной активности. Обладает высочайшей пространственной точностью, но требует громоздкого </a:t>
            </a:r>
            <a:r>
              <a:rPr lang="ru-RU" sz="1200" dirty="0" smtClean="0"/>
              <a:t>оборудования.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ru-RU" sz="1200" dirty="0" smtClean="0"/>
              <a:t>Сигналы </a:t>
            </a:r>
            <a:r>
              <a:rPr lang="ru-RU" sz="1200" dirty="0"/>
              <a:t>мозга создают очень слабые магнитные поля, и МЭГ улавливает их сверхчувствительными датчиками</a:t>
            </a:r>
            <a:r>
              <a:rPr lang="ru-RU" sz="1200" dirty="0" smtClean="0"/>
              <a:t>.</a:t>
            </a:r>
            <a:r>
              <a:rPr lang="ru-RU" sz="1200" dirty="0"/>
              <a:t/>
            </a:r>
            <a:br>
              <a:rPr lang="ru-RU" sz="1200" dirty="0"/>
            </a:br>
            <a:r>
              <a:rPr lang="ru-RU" sz="1200" dirty="0"/>
              <a:t>МЭГ хорошо показывает </a:t>
            </a:r>
            <a:r>
              <a:rPr lang="ru-RU" sz="1200" b="1" dirty="0"/>
              <a:t>временную динамику</a:t>
            </a:r>
            <a:r>
              <a:rPr lang="ru-RU" sz="1200" dirty="0"/>
              <a:t> активности мозга и позволяет довольно точно локализовать источники сигнала, особенно в коре.</a:t>
            </a:r>
            <a:br>
              <a:rPr lang="ru-RU" sz="1200" dirty="0"/>
            </a:br>
            <a:r>
              <a:rPr lang="ru-RU" sz="1200" dirty="0"/>
              <a:t>Поэтому её используют для изучения когнитивных процессов, сенсорной обработки и для поиска очагов патологической активности, например перед операциями.</a:t>
            </a:r>
            <a:endParaRPr lang="ru-RU" sz="1200" dirty="0" smtClean="0"/>
          </a:p>
        </p:txBody>
      </p:sp>
      <p:pic>
        <p:nvPicPr>
          <p:cNvPr id="3078" name="Picture 6" descr="https://www.hse.ru/mirror/pubs/share/direct/30819862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229" y="954087"/>
            <a:ext cx="3337667" cy="308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2;p18"/>
          <p:cNvSpPr txBox="1">
            <a:spLocks/>
          </p:cNvSpPr>
          <p:nvPr/>
        </p:nvSpPr>
        <p:spPr>
          <a:xfrm>
            <a:off x="243349" y="138799"/>
            <a:ext cx="9144000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3600" b="1" dirty="0" smtClean="0"/>
              <a:t>Вызовы в обработке сигналов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6" name="Google Shape;149;p16"/>
          <p:cNvSpPr txBox="1">
            <a:spLocks/>
          </p:cNvSpPr>
          <p:nvPr/>
        </p:nvSpPr>
        <p:spPr>
          <a:xfrm>
            <a:off x="243349" y="957780"/>
            <a:ext cx="6100762" cy="218802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b="1" dirty="0"/>
              <a:t>Низкое качество сигнала (</a:t>
            </a:r>
            <a:r>
              <a:rPr lang="ru-RU" sz="1050" b="1" dirty="0" smtClean="0"/>
              <a:t>SNR). </a:t>
            </a:r>
            <a:r>
              <a:rPr lang="ru-RU" sz="1050" dirty="0" smtClean="0"/>
              <a:t>Электрические </a:t>
            </a:r>
            <a:r>
              <a:rPr lang="ru-RU" sz="1050" dirty="0"/>
              <a:t>импульсы критически ослабевают при прохождении через ткани и кости черепа. В результате полезный </a:t>
            </a:r>
            <a:r>
              <a:rPr lang="ru-RU" sz="1050" dirty="0" err="1"/>
              <a:t>нейросигнал</a:t>
            </a:r>
            <a:r>
              <a:rPr lang="ru-RU" sz="1050" dirty="0"/>
              <a:t> маскируется мощным фоновым шумом и артефактами (например, морганием глаз или сокращением мышц</a:t>
            </a:r>
            <a:r>
              <a:rPr lang="ru-RU" sz="1050" dirty="0" smtClean="0"/>
              <a:t>). </a:t>
            </a:r>
            <a:br>
              <a:rPr lang="ru-RU" sz="1050" dirty="0" smtClean="0"/>
            </a:br>
            <a:r>
              <a:rPr lang="ru-RU" sz="1050" dirty="0" smtClean="0"/>
              <a:t>Амплитуда полезного сигнала </a:t>
            </a:r>
            <a:r>
              <a:rPr lang="en-US" sz="1050" dirty="0" smtClean="0"/>
              <a:t>~1-10 </a:t>
            </a:r>
            <a:r>
              <a:rPr lang="ru-RU" sz="1050" dirty="0" smtClean="0"/>
              <a:t>мкВ против </a:t>
            </a:r>
            <a:r>
              <a:rPr lang="en-US" sz="1050" dirty="0" smtClean="0"/>
              <a:t>~</a:t>
            </a:r>
            <a:r>
              <a:rPr lang="ru-RU" sz="1050" dirty="0" smtClean="0"/>
              <a:t>100 мкВ шума.</a:t>
            </a:r>
          </a:p>
          <a:p>
            <a:r>
              <a:rPr lang="ru-RU" sz="1050" b="1" dirty="0" err="1"/>
              <a:t>Нестационарность</a:t>
            </a:r>
            <a:r>
              <a:rPr lang="ru-RU" sz="1050" b="1" dirty="0"/>
              <a:t> </a:t>
            </a:r>
            <a:r>
              <a:rPr lang="ru-RU" sz="1050" b="1" dirty="0" smtClean="0"/>
              <a:t>данных. </a:t>
            </a:r>
            <a:r>
              <a:rPr lang="ru-RU" sz="1050" dirty="0" err="1" smtClean="0"/>
              <a:t>Нейросигналы</a:t>
            </a:r>
            <a:r>
              <a:rPr lang="ru-RU" sz="1050" dirty="0" smtClean="0"/>
              <a:t> </a:t>
            </a:r>
            <a:r>
              <a:rPr lang="ru-RU" sz="1050" dirty="0"/>
              <a:t>постоянно меняются со временем, зависят от усталости и индивидуальной анатомии каждого человека. Традиционным жестким фильтрам сложно адаптироваться, что делает ИИ ключевым элементом надежной классификации</a:t>
            </a:r>
            <a:r>
              <a:rPr lang="ru-RU" sz="1050" dirty="0" smtClean="0"/>
              <a:t>.</a:t>
            </a:r>
          </a:p>
          <a:p>
            <a:r>
              <a:rPr lang="ru-RU" sz="1050" b="1" dirty="0" smtClean="0"/>
              <a:t>Высокая размерность, мало данных. </a:t>
            </a:r>
            <a:r>
              <a:rPr lang="en-US" sz="1050" dirty="0" smtClean="0"/>
              <a:t>C * T ~ 64 * 1000, </a:t>
            </a:r>
            <a:r>
              <a:rPr lang="ru-RU" sz="1050" dirty="0" smtClean="0"/>
              <a:t>выборок – сотни.</a:t>
            </a:r>
          </a:p>
          <a:p>
            <a:r>
              <a:rPr lang="ru-RU" sz="1050" b="1" dirty="0" err="1" smtClean="0"/>
              <a:t>Межсубъективная</a:t>
            </a:r>
            <a:r>
              <a:rPr lang="ru-RU" sz="1050" b="1" dirty="0" smtClean="0"/>
              <a:t> вариативность. </a:t>
            </a:r>
            <a:r>
              <a:rPr lang="ru-RU" sz="1050" dirty="0" smtClean="0"/>
              <a:t>Геометрия черепа, импеданс электродов, толщина кости, слоя волос</a:t>
            </a:r>
          </a:p>
          <a:p>
            <a:r>
              <a:rPr lang="ru-RU" sz="1050" b="1" dirty="0" smtClean="0"/>
              <a:t>Прочие артефакты. </a:t>
            </a:r>
            <a:r>
              <a:rPr lang="ru-RU" sz="1050" dirty="0" smtClean="0"/>
              <a:t>Моргание, движение – амплитуда на порядок выше активности нейронов.</a:t>
            </a:r>
            <a:endParaRPr lang="ru-RU" sz="1050" b="1" dirty="0"/>
          </a:p>
        </p:txBody>
      </p:sp>
      <p:sp>
        <p:nvSpPr>
          <p:cNvPr id="9" name="Google Shape;149;p16"/>
          <p:cNvSpPr txBox="1">
            <a:spLocks/>
          </p:cNvSpPr>
          <p:nvPr/>
        </p:nvSpPr>
        <p:spPr>
          <a:xfrm>
            <a:off x="243349" y="3145809"/>
            <a:ext cx="1607753" cy="1277507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solidFill>
                  <a:srgbClr val="C2C7CA"/>
                </a:solidFill>
                <a:latin typeface="+mj-lt"/>
              </a:rPr>
              <a:t>01</a:t>
            </a:r>
            <a:br>
              <a:rPr lang="en-US" sz="1200" b="1" dirty="0" smtClean="0">
                <a:solidFill>
                  <a:srgbClr val="C2C7CA"/>
                </a:solidFill>
                <a:latin typeface="+mj-lt"/>
              </a:rPr>
            </a:br>
            <a:r>
              <a:rPr lang="en-US" sz="1200" b="1" dirty="0" smtClean="0">
                <a:latin typeface="+mj-lt"/>
              </a:rPr>
              <a:t/>
            </a:r>
            <a:br>
              <a:rPr lang="en-US" sz="1200" b="1" dirty="0" smtClean="0">
                <a:latin typeface="+mj-lt"/>
              </a:rPr>
            </a:br>
            <a:r>
              <a:rPr lang="ru-RU" sz="1050" b="1" dirty="0" smtClean="0">
                <a:latin typeface="+mj-lt"/>
              </a:rPr>
              <a:t>Регистрация</a:t>
            </a:r>
            <a:br>
              <a:rPr lang="ru-RU" sz="1050" b="1" dirty="0" smtClean="0">
                <a:latin typeface="+mj-lt"/>
              </a:rPr>
            </a:b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Усиление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, АЦП, </a:t>
            </a: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сетевая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помеха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 50 </a:t>
            </a: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Гц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артефакты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ЭМГ/ЭОГ.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endParaRPr lang="ru-RU" sz="1200" b="1" dirty="0">
              <a:latin typeface="+mj-lt"/>
            </a:endParaRPr>
          </a:p>
        </p:txBody>
      </p:sp>
      <p:sp>
        <p:nvSpPr>
          <p:cNvPr id="11" name="Google Shape;149;p16"/>
          <p:cNvSpPr txBox="1">
            <a:spLocks/>
          </p:cNvSpPr>
          <p:nvPr/>
        </p:nvSpPr>
        <p:spPr>
          <a:xfrm>
            <a:off x="1919748" y="3145809"/>
            <a:ext cx="1663510" cy="1277507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solidFill>
                  <a:srgbClr val="C2C7CA"/>
                </a:solidFill>
                <a:latin typeface="+mj-lt"/>
              </a:rPr>
              <a:t>02</a:t>
            </a:r>
            <a:br>
              <a:rPr lang="en-US" sz="1200" b="1" dirty="0" smtClean="0">
                <a:solidFill>
                  <a:srgbClr val="C2C7CA"/>
                </a:solidFill>
                <a:latin typeface="+mj-lt"/>
              </a:rPr>
            </a:br>
            <a:r>
              <a:rPr lang="en-US" sz="1200" b="1" dirty="0" smtClean="0">
                <a:latin typeface="+mj-lt"/>
              </a:rPr>
              <a:t/>
            </a:r>
            <a:br>
              <a:rPr lang="en-US" sz="1200" b="1" dirty="0" smtClean="0">
                <a:latin typeface="+mj-lt"/>
              </a:rPr>
            </a:br>
            <a:r>
              <a:rPr lang="ru-RU" sz="1050" b="1" dirty="0" smtClean="0">
                <a:latin typeface="+mj-lt"/>
              </a:rPr>
              <a:t>Предобработка</a:t>
            </a:r>
            <a:br>
              <a:rPr lang="ru-RU" sz="1050" b="1" dirty="0" smtClean="0">
                <a:latin typeface="+mj-lt"/>
              </a:rPr>
            </a:b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ICA-</a:t>
            </a: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удаление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артефактов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, ASR, </a:t>
            </a:r>
            <a:r>
              <a:rPr lang="en-US" sz="1050" dirty="0" err="1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ре-референс</a:t>
            </a:r>
            <a:r>
              <a:rPr lang="en-US" sz="1050" dirty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 (CAR / Laplacian).</a:t>
            </a:r>
            <a:endParaRPr lang="en-US" sz="1050" dirty="0">
              <a:latin typeface="+mj-lt"/>
            </a:endParaRPr>
          </a:p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2" name="Google Shape;149;p16"/>
          <p:cNvSpPr txBox="1">
            <a:spLocks/>
          </p:cNvSpPr>
          <p:nvPr/>
        </p:nvSpPr>
        <p:spPr>
          <a:xfrm>
            <a:off x="3651904" y="3145809"/>
            <a:ext cx="1778740" cy="1277507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solidFill>
                  <a:srgbClr val="C2C7CA"/>
                </a:solidFill>
                <a:latin typeface="+mj-lt"/>
              </a:rPr>
              <a:t>03</a:t>
            </a:r>
            <a:br>
              <a:rPr lang="en-US" sz="1200" b="1" dirty="0" smtClean="0">
                <a:solidFill>
                  <a:srgbClr val="C2C7CA"/>
                </a:solidFill>
                <a:latin typeface="+mj-lt"/>
              </a:rPr>
            </a:br>
            <a:r>
              <a:rPr lang="en-US" sz="1200" b="1" dirty="0" smtClean="0">
                <a:latin typeface="+mj-lt"/>
              </a:rPr>
              <a:t/>
            </a:r>
            <a:br>
              <a:rPr lang="en-US" sz="1200" b="1" dirty="0" smtClean="0">
                <a:latin typeface="+mj-lt"/>
              </a:rPr>
            </a:br>
            <a:r>
              <a:rPr lang="ru-RU" sz="1050" b="1" dirty="0" smtClean="0">
                <a:latin typeface="+mj-lt"/>
              </a:rPr>
              <a:t>Признаки</a:t>
            </a:r>
            <a:br>
              <a:rPr lang="ru-RU" sz="1050" b="1" dirty="0" smtClean="0">
                <a:latin typeface="+mj-lt"/>
              </a:rPr>
            </a:br>
            <a:r>
              <a:rPr lang="ru-RU" sz="1050" dirty="0" smtClean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Современный подход – обучаемые признаки внутри сети </a:t>
            </a:r>
            <a:r>
              <a:rPr lang="en-US" sz="1050" dirty="0" smtClean="0">
                <a:solidFill>
                  <a:srgbClr val="1C1D20"/>
                </a:solidFill>
                <a:latin typeface="+mj-lt"/>
                <a:ea typeface="Arial" pitchFamily="34" charset="-122"/>
                <a:cs typeface="Arial" pitchFamily="34" charset="-120"/>
              </a:rPr>
              <a:t>end-to-end</a:t>
            </a:r>
            <a:endParaRPr lang="en-US" sz="1050" dirty="0">
              <a:latin typeface="+mj-lt"/>
            </a:endParaRPr>
          </a:p>
          <a:p>
            <a:pPr marL="0" indent="0">
              <a:buNone/>
            </a:pPr>
            <a:endParaRPr lang="ru-RU" sz="1200" b="1" dirty="0">
              <a:latin typeface="+mj-lt"/>
            </a:endParaRPr>
          </a:p>
        </p:txBody>
      </p:sp>
      <p:sp>
        <p:nvSpPr>
          <p:cNvPr id="13" name="Google Shape;149;p16"/>
          <p:cNvSpPr txBox="1">
            <a:spLocks/>
          </p:cNvSpPr>
          <p:nvPr/>
        </p:nvSpPr>
        <p:spPr>
          <a:xfrm>
            <a:off x="5499290" y="3145809"/>
            <a:ext cx="1566867" cy="1277507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solidFill>
                  <a:srgbClr val="C2C7CA"/>
                </a:solidFill>
                <a:latin typeface="+mj-lt"/>
              </a:rPr>
              <a:t>04</a:t>
            </a:r>
            <a:br>
              <a:rPr lang="en-US" sz="1200" b="1" dirty="0" smtClean="0">
                <a:solidFill>
                  <a:srgbClr val="C2C7CA"/>
                </a:solidFill>
                <a:latin typeface="+mj-lt"/>
              </a:rPr>
            </a:br>
            <a:r>
              <a:rPr lang="en-US" sz="1200" b="1" dirty="0" smtClean="0">
                <a:latin typeface="+mj-lt"/>
              </a:rPr>
              <a:t/>
            </a:r>
            <a:br>
              <a:rPr lang="en-US" sz="1200" b="1" dirty="0" smtClean="0">
                <a:latin typeface="+mj-lt"/>
              </a:rPr>
            </a:br>
            <a:r>
              <a:rPr lang="ru-RU" sz="1050" b="1" dirty="0" smtClean="0">
                <a:latin typeface="+mj-lt"/>
              </a:rPr>
              <a:t>Классификация</a:t>
            </a:r>
            <a:br>
              <a:rPr lang="ru-RU" sz="1050" b="1" dirty="0" smtClean="0">
                <a:latin typeface="+mj-lt"/>
              </a:rPr>
            </a:br>
            <a:r>
              <a:rPr lang="ru-RU" sz="1050" dirty="0" smtClean="0">
                <a:latin typeface="+mj-lt"/>
              </a:rPr>
              <a:t>Решение о намерении пользователя: </a:t>
            </a:r>
            <a:r>
              <a:rPr lang="en-US" sz="1050" dirty="0" smtClean="0">
                <a:latin typeface="+mj-lt"/>
              </a:rPr>
              <a:t>K </a:t>
            </a:r>
            <a:r>
              <a:rPr lang="ru-RU" sz="1050" dirty="0" smtClean="0">
                <a:latin typeface="+mj-lt"/>
              </a:rPr>
              <a:t>классов</a:t>
            </a:r>
            <a:endParaRPr lang="ru-RU" sz="1050" b="1" dirty="0">
              <a:latin typeface="+mj-lt"/>
            </a:endParaRPr>
          </a:p>
        </p:txBody>
      </p:sp>
      <p:sp>
        <p:nvSpPr>
          <p:cNvPr id="14" name="Google Shape;149;p16"/>
          <p:cNvSpPr txBox="1">
            <a:spLocks/>
          </p:cNvSpPr>
          <p:nvPr/>
        </p:nvSpPr>
        <p:spPr>
          <a:xfrm>
            <a:off x="7134803" y="3145809"/>
            <a:ext cx="1566867" cy="1277507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solidFill>
                  <a:srgbClr val="C2C7CA"/>
                </a:solidFill>
                <a:latin typeface="+mj-lt"/>
              </a:rPr>
              <a:t>0</a:t>
            </a:r>
            <a:r>
              <a:rPr lang="ru-RU" sz="1200" b="1" dirty="0" smtClean="0">
                <a:solidFill>
                  <a:srgbClr val="C2C7CA"/>
                </a:solidFill>
                <a:latin typeface="+mj-lt"/>
              </a:rPr>
              <a:t>5</a:t>
            </a:r>
            <a:r>
              <a:rPr lang="en-US" sz="1200" b="1" dirty="0" smtClean="0">
                <a:solidFill>
                  <a:srgbClr val="C2C7CA"/>
                </a:solidFill>
                <a:latin typeface="+mj-lt"/>
              </a:rPr>
              <a:t/>
            </a:r>
            <a:br>
              <a:rPr lang="en-US" sz="1200" b="1" dirty="0" smtClean="0">
                <a:solidFill>
                  <a:srgbClr val="C2C7CA"/>
                </a:solidFill>
                <a:latin typeface="+mj-lt"/>
              </a:rPr>
            </a:br>
            <a:r>
              <a:rPr lang="en-US" sz="1200" b="1" dirty="0" smtClean="0">
                <a:latin typeface="+mj-lt"/>
              </a:rPr>
              <a:t/>
            </a:r>
            <a:br>
              <a:rPr lang="en-US" sz="1200" b="1" dirty="0" smtClean="0">
                <a:latin typeface="+mj-lt"/>
              </a:rPr>
            </a:br>
            <a:r>
              <a:rPr lang="ru-RU" sz="1050" b="1" dirty="0" smtClean="0">
                <a:latin typeface="+mj-lt"/>
              </a:rPr>
              <a:t>Управление</a:t>
            </a:r>
            <a:br>
              <a:rPr lang="ru-RU" sz="1050" b="1" dirty="0" smtClean="0">
                <a:latin typeface="+mj-lt"/>
              </a:rPr>
            </a:br>
            <a:r>
              <a:rPr lang="ru-RU" sz="1050" dirty="0" smtClean="0">
                <a:latin typeface="+mj-lt"/>
              </a:rPr>
              <a:t>Обратная связь пользователю</a:t>
            </a:r>
            <a:endParaRPr lang="ru-RU" sz="105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9;p16"/>
          <p:cNvSpPr txBox="1">
            <a:spLocks/>
          </p:cNvSpPr>
          <p:nvPr/>
        </p:nvSpPr>
        <p:spPr>
          <a:xfrm>
            <a:off x="324465" y="954087"/>
            <a:ext cx="4286723" cy="35264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smtClean="0"/>
              <a:t>Идея</a:t>
            </a:r>
            <a:r>
              <a:rPr lang="en-US" sz="1050" b="1" dirty="0" smtClean="0"/>
              <a:t> CSP(Common Spatial Patterns)</a:t>
            </a:r>
            <a:endParaRPr lang="ru-RU" sz="1050" b="1" dirty="0"/>
          </a:p>
          <a:p>
            <a:pPr marL="0" indent="0">
              <a:buNone/>
            </a:pPr>
            <a:r>
              <a:rPr lang="ru-RU" sz="1050" dirty="0"/>
              <a:t>Найти линейные комбинации каналов </a:t>
            </a:r>
            <a:r>
              <a:rPr lang="ru-RU" sz="1050" dirty="0" smtClean="0"/>
              <a:t>x(t</a:t>
            </a:r>
            <a:r>
              <a:rPr lang="ru-RU" sz="1050" dirty="0"/>
              <a:t>) — «пространственные фильтры», </a:t>
            </a:r>
            <a:r>
              <a:rPr lang="ru-RU" sz="1050" dirty="0" smtClean="0"/>
              <a:t>после того как нашли вектор весов</a:t>
            </a:r>
            <a:r>
              <a:rPr lang="en-US" sz="1050" dirty="0"/>
              <a:t> </a:t>
            </a:r>
            <a:r>
              <a:rPr lang="en-US" sz="1050" dirty="0" smtClean="0"/>
              <a:t>w</a:t>
            </a:r>
            <a:r>
              <a:rPr lang="ru-RU" sz="1050" dirty="0" smtClean="0"/>
              <a:t>, вычисляем на его основе вектор сигналов с примененными пространственными фильтрами, таким образом </a:t>
            </a:r>
            <a:r>
              <a:rPr lang="ru-RU" sz="1050" dirty="0" err="1" smtClean="0"/>
              <a:t>максимизируется</a:t>
            </a:r>
            <a:r>
              <a:rPr lang="ru-RU" sz="1050" dirty="0" smtClean="0"/>
              <a:t> дисперсия для 1 класса(если настраивали под него) и минимизируется дисперсия для 2 класса, затем вычисляются признаки </a:t>
            </a:r>
            <a:r>
              <a:rPr lang="en-US" sz="1050" dirty="0" smtClean="0"/>
              <a:t>f, </a:t>
            </a:r>
            <a:r>
              <a:rPr lang="ru-RU" sz="1050" dirty="0" smtClean="0"/>
              <a:t>на основе которых уже </a:t>
            </a:r>
            <a:r>
              <a:rPr lang="en-US" sz="1050" dirty="0" smtClean="0"/>
              <a:t>LDA </a:t>
            </a:r>
            <a:r>
              <a:rPr lang="ru-RU" sz="1050" dirty="0" smtClean="0"/>
              <a:t>и строит разделяющую гиперплоскость</a:t>
            </a:r>
          </a:p>
          <a:p>
            <a:pPr marL="0" indent="0">
              <a:buNone/>
            </a:pPr>
            <a:endParaRPr lang="ru-RU" sz="1050" dirty="0"/>
          </a:p>
          <a:p>
            <a:pPr marL="0" indent="0">
              <a:buNone/>
            </a:pPr>
            <a:r>
              <a:rPr lang="ru-RU" sz="1050" b="1" dirty="0" smtClean="0"/>
              <a:t>Ограничения</a:t>
            </a:r>
            <a:endParaRPr lang="ru-RU" sz="1050" b="1" dirty="0"/>
          </a:p>
          <a:p>
            <a:r>
              <a:rPr lang="ru-RU" sz="1050" dirty="0" smtClean="0"/>
              <a:t>Только парные классы</a:t>
            </a:r>
          </a:p>
          <a:p>
            <a:r>
              <a:rPr lang="ru-RU" sz="1050" dirty="0" smtClean="0"/>
              <a:t>Линеен по каналам, не моделирует временную структуру</a:t>
            </a:r>
          </a:p>
          <a:p>
            <a:r>
              <a:rPr lang="ru-RU" sz="1050" dirty="0" smtClean="0"/>
              <a:t>Чувствителен к артефактам</a:t>
            </a:r>
          </a:p>
          <a:p>
            <a:r>
              <a:rPr lang="ru-RU" sz="1050" dirty="0" smtClean="0"/>
              <a:t>Не переносится между субъектам без </a:t>
            </a:r>
            <a:r>
              <a:rPr lang="ru-RU" sz="1050" dirty="0" err="1" smtClean="0"/>
              <a:t>донастройки</a:t>
            </a:r>
            <a:endParaRPr lang="en-US" sz="1050" dirty="0" smtClean="0"/>
          </a:p>
          <a:p>
            <a:pPr marL="0" indent="0">
              <a:buNone/>
            </a:pPr>
            <a:endParaRPr lang="ru-RU" sz="1050" dirty="0"/>
          </a:p>
        </p:txBody>
      </p:sp>
      <p:sp>
        <p:nvSpPr>
          <p:cNvPr id="5" name="Google Shape;162;p18"/>
          <p:cNvSpPr txBox="1">
            <a:spLocks/>
          </p:cNvSpPr>
          <p:nvPr/>
        </p:nvSpPr>
        <p:spPr>
          <a:xfrm>
            <a:off x="243349" y="138799"/>
            <a:ext cx="9144000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600" kern="0" spc="-78" dirty="0" err="1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Базовый</a:t>
            </a:r>
            <a:r>
              <a:rPr lang="en-US" sz="3600" kern="0" spc="-78" dirty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kern="0" spc="-78" dirty="0" err="1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метод</a:t>
            </a:r>
            <a:r>
              <a:rPr lang="en-US" sz="3600" kern="0" spc="-78" dirty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 BCI </a:t>
            </a:r>
            <a:r>
              <a:rPr lang="en-US" sz="3600" kern="0" spc="-78" dirty="0" err="1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до</a:t>
            </a:r>
            <a:r>
              <a:rPr lang="en-US" sz="3600" kern="0" spc="-78" dirty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kern="0" spc="-78" dirty="0" err="1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эпохи</a:t>
            </a:r>
            <a:r>
              <a:rPr lang="en-US" sz="3600" kern="0" spc="-78" dirty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kern="0" spc="-78" dirty="0" err="1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нейросетей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685" y="909483"/>
            <a:ext cx="3960383" cy="219218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685" y="3141161"/>
            <a:ext cx="3960383" cy="133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2;p18"/>
          <p:cNvSpPr txBox="1">
            <a:spLocks/>
          </p:cNvSpPr>
          <p:nvPr/>
        </p:nvSpPr>
        <p:spPr>
          <a:xfrm>
            <a:off x="243349" y="138799"/>
            <a:ext cx="9144000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3600" kern="0" spc="-78" dirty="0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Стандарт индустрии. </a:t>
            </a:r>
            <a:r>
              <a:rPr lang="en-US" sz="3600" kern="0" spc="-78" dirty="0" err="1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EEGNet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8" name="Google Shape;149;p16"/>
          <p:cNvSpPr txBox="1">
            <a:spLocks/>
          </p:cNvSpPr>
          <p:nvPr/>
        </p:nvSpPr>
        <p:spPr>
          <a:xfrm>
            <a:off x="324465" y="954087"/>
            <a:ext cx="4286723" cy="35264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smtClean="0"/>
              <a:t>Идея</a:t>
            </a:r>
            <a:r>
              <a:rPr lang="en-US" sz="1050" b="1" dirty="0" smtClean="0"/>
              <a:t> </a:t>
            </a:r>
            <a:r>
              <a:rPr lang="en-US" sz="1050" b="1" dirty="0" err="1" smtClean="0"/>
              <a:t>EEGNet</a:t>
            </a:r>
            <a:r>
              <a:rPr lang="en-US" sz="1050" b="1" dirty="0" smtClean="0"/>
              <a:t/>
            </a:r>
            <a:br>
              <a:rPr lang="en-US" sz="1050" b="1" dirty="0" smtClean="0"/>
            </a:br>
            <a:r>
              <a:rPr lang="ru-RU" sz="1050" dirty="0"/>
              <a:t>Обычные "глубокие" сети переобучаются, а классические методы (CSP, фильтры) слишком жестко заточены под одну задачу. </a:t>
            </a:r>
            <a:r>
              <a:rPr lang="ru-RU" sz="1050" dirty="0" err="1"/>
              <a:t>EEGNet</a:t>
            </a:r>
            <a:r>
              <a:rPr lang="ru-RU" sz="1050" dirty="0"/>
              <a:t> </a:t>
            </a:r>
            <a:r>
              <a:rPr lang="en-US" sz="1050" dirty="0" smtClean="0"/>
              <a:t>–</a:t>
            </a:r>
            <a:r>
              <a:rPr lang="ru-RU" sz="1050" dirty="0" smtClean="0"/>
              <a:t>компромисс.</a:t>
            </a:r>
          </a:p>
          <a:p>
            <a:pPr marL="0" indent="0">
              <a:buNone/>
            </a:pPr>
            <a:r>
              <a:rPr lang="ru-RU" sz="1050" b="1" dirty="0" smtClean="0"/>
              <a:t>Что умеет</a:t>
            </a:r>
            <a:endParaRPr lang="ru-RU" sz="1050" dirty="0" smtClean="0"/>
          </a:p>
          <a:p>
            <a:r>
              <a:rPr lang="ru-RU" sz="1050" b="1" dirty="0" smtClean="0"/>
              <a:t>Классификация воображения движения</a:t>
            </a:r>
          </a:p>
          <a:p>
            <a:r>
              <a:rPr lang="ru-RU" sz="1050" b="1" dirty="0" smtClean="0"/>
              <a:t>Обнаружение </a:t>
            </a:r>
            <a:r>
              <a:rPr lang="en-US" sz="1050" b="1" dirty="0" smtClean="0"/>
              <a:t>P3000</a:t>
            </a:r>
          </a:p>
          <a:p>
            <a:r>
              <a:rPr lang="en-US" sz="1050" b="1" dirty="0" smtClean="0"/>
              <a:t>SSVEP</a:t>
            </a:r>
          </a:p>
          <a:p>
            <a:r>
              <a:rPr lang="ru-RU" sz="1050" b="1" dirty="0" smtClean="0"/>
              <a:t>Классификация сна</a:t>
            </a:r>
          </a:p>
          <a:p>
            <a:r>
              <a:rPr lang="ru-RU" sz="1050" b="1" dirty="0" smtClean="0"/>
              <a:t>Распознавание эмоций</a:t>
            </a:r>
          </a:p>
        </p:txBody>
      </p:sp>
      <p:sp>
        <p:nvSpPr>
          <p:cNvPr id="9" name="Google Shape;149;p16"/>
          <p:cNvSpPr txBox="1">
            <a:spLocks/>
          </p:cNvSpPr>
          <p:nvPr/>
        </p:nvSpPr>
        <p:spPr>
          <a:xfrm>
            <a:off x="5060675" y="954087"/>
            <a:ext cx="3614973" cy="749965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smtClean="0">
                <a:latin typeface="+mj-lt"/>
              </a:rPr>
              <a:t>Временные свертки</a:t>
            </a:r>
            <a:br>
              <a:rPr lang="ru-RU" sz="1050" b="1" dirty="0" smtClean="0">
                <a:latin typeface="+mj-lt"/>
              </a:rPr>
            </a:br>
            <a:r>
              <a:rPr lang="ru-RU" sz="1050" dirty="0" smtClean="0">
                <a:latin typeface="+mj-lt"/>
              </a:rPr>
              <a:t>Обучение полосовых фильтров, выделяющих определенные ритмы(</a:t>
            </a:r>
            <a:r>
              <a:rPr lang="ru-RU" sz="1050" dirty="0" err="1" smtClean="0">
                <a:latin typeface="+mj-lt"/>
              </a:rPr>
              <a:t>тета</a:t>
            </a:r>
            <a:r>
              <a:rPr lang="ru-RU" sz="1050" dirty="0" smtClean="0">
                <a:latin typeface="+mj-lt"/>
              </a:rPr>
              <a:t>, альфа, бета и прочие)</a:t>
            </a:r>
            <a:endParaRPr lang="ru-RU" sz="1050" b="1" dirty="0">
              <a:latin typeface="+mj-lt"/>
            </a:endParaRPr>
          </a:p>
        </p:txBody>
      </p:sp>
      <p:sp>
        <p:nvSpPr>
          <p:cNvPr id="10" name="Google Shape;149;p16"/>
          <p:cNvSpPr txBox="1">
            <a:spLocks/>
          </p:cNvSpPr>
          <p:nvPr/>
        </p:nvSpPr>
        <p:spPr>
          <a:xfrm>
            <a:off x="5060675" y="1762179"/>
            <a:ext cx="3614973" cy="749965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smtClean="0">
                <a:latin typeface="+mj-lt"/>
              </a:rPr>
              <a:t>Пространственные свертки</a:t>
            </a:r>
            <a:br>
              <a:rPr lang="ru-RU" sz="1050" b="1" dirty="0" smtClean="0">
                <a:latin typeface="+mj-lt"/>
              </a:rPr>
            </a:br>
            <a:r>
              <a:rPr lang="ru-RU" sz="1050" dirty="0" smtClean="0">
                <a:latin typeface="+mj-lt"/>
              </a:rPr>
              <a:t>Имея данные с отдельных электродов на разных областях превращаем их сигналы в один единый</a:t>
            </a:r>
            <a:endParaRPr lang="ru-RU" sz="1050" b="1" dirty="0">
              <a:latin typeface="+mj-lt"/>
            </a:endParaRPr>
          </a:p>
        </p:txBody>
      </p:sp>
      <p:sp>
        <p:nvSpPr>
          <p:cNvPr id="11" name="Google Shape;149;p16"/>
          <p:cNvSpPr txBox="1">
            <a:spLocks/>
          </p:cNvSpPr>
          <p:nvPr/>
        </p:nvSpPr>
        <p:spPr>
          <a:xfrm>
            <a:off x="5060675" y="2570271"/>
            <a:ext cx="3614973" cy="749965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smtClean="0">
                <a:latin typeface="+mj-lt"/>
              </a:rPr>
              <a:t>Разделимые свертки</a:t>
            </a:r>
            <a:r>
              <a:rPr lang="en-US" sz="1050" b="1" dirty="0" smtClean="0">
                <a:latin typeface="+mj-lt"/>
              </a:rPr>
              <a:t/>
            </a:r>
            <a:br>
              <a:rPr lang="en-US" sz="1050" b="1" dirty="0" smtClean="0">
                <a:latin typeface="+mj-lt"/>
              </a:rPr>
            </a:br>
            <a:r>
              <a:rPr lang="ru-RU" sz="1050" dirty="0" smtClean="0">
                <a:latin typeface="+mj-lt"/>
              </a:rPr>
              <a:t>Объединяем данные с пространственных и временных сверток для получения более сложных </a:t>
            </a:r>
            <a:r>
              <a:rPr lang="ru-RU" sz="1050" dirty="0" err="1" smtClean="0">
                <a:latin typeface="+mj-lt"/>
              </a:rPr>
              <a:t>паттерновв</a:t>
            </a:r>
            <a:r>
              <a:rPr lang="ru-RU" sz="1050" b="1" dirty="0" smtClean="0">
                <a:latin typeface="+mj-lt"/>
              </a:rPr>
              <a:t/>
            </a:r>
            <a:br>
              <a:rPr lang="ru-RU" sz="1050" b="1" dirty="0" smtClean="0">
                <a:latin typeface="+mj-lt"/>
              </a:rPr>
            </a:br>
            <a:endParaRPr lang="ru-RU" sz="1050" b="1" dirty="0">
              <a:latin typeface="+mj-lt"/>
            </a:endParaRPr>
          </a:p>
        </p:txBody>
      </p:sp>
      <p:sp>
        <p:nvSpPr>
          <p:cNvPr id="12" name="Google Shape;149;p16"/>
          <p:cNvSpPr txBox="1">
            <a:spLocks/>
          </p:cNvSpPr>
          <p:nvPr/>
        </p:nvSpPr>
        <p:spPr>
          <a:xfrm>
            <a:off x="5060675" y="3378363"/>
            <a:ext cx="3614973" cy="749965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smtClean="0">
                <a:latin typeface="+mj-lt"/>
              </a:rPr>
              <a:t>Выходной блок</a:t>
            </a:r>
            <a:r>
              <a:rPr lang="en-US" sz="1050" b="1" dirty="0" smtClean="0">
                <a:latin typeface="+mj-lt"/>
              </a:rPr>
              <a:t/>
            </a:r>
            <a:br>
              <a:rPr lang="en-US" sz="1050" b="1" dirty="0" smtClean="0">
                <a:latin typeface="+mj-lt"/>
              </a:rPr>
            </a:br>
            <a:r>
              <a:rPr lang="ru-RU" sz="1050" dirty="0" err="1" smtClean="0">
                <a:latin typeface="+mj-lt"/>
              </a:rPr>
              <a:t>Полносвязный</a:t>
            </a:r>
            <a:r>
              <a:rPr lang="ru-RU" sz="1050" dirty="0" smtClean="0">
                <a:latin typeface="+mj-lt"/>
              </a:rPr>
              <a:t> слой с </a:t>
            </a:r>
            <a:r>
              <a:rPr lang="en-US" sz="1050" dirty="0" err="1" smtClean="0">
                <a:latin typeface="+mj-lt"/>
              </a:rPr>
              <a:t>softmax</a:t>
            </a:r>
            <a:r>
              <a:rPr lang="en-US" sz="1050" dirty="0" smtClean="0">
                <a:latin typeface="+mj-lt"/>
              </a:rPr>
              <a:t>(</a:t>
            </a:r>
            <a:r>
              <a:rPr lang="ru-RU" sz="1050" dirty="0" smtClean="0">
                <a:latin typeface="+mj-lt"/>
              </a:rPr>
              <a:t>для классификации) или </a:t>
            </a:r>
            <a:r>
              <a:rPr lang="ru-RU" sz="1050" dirty="0" err="1" smtClean="0">
                <a:latin typeface="+mj-lt"/>
              </a:rPr>
              <a:t>сигмоида</a:t>
            </a:r>
            <a:r>
              <a:rPr lang="ru-RU" sz="1050" dirty="0" smtClean="0">
                <a:latin typeface="+mj-lt"/>
              </a:rPr>
              <a:t>(для бинарной задачи)</a:t>
            </a:r>
            <a:r>
              <a:rPr lang="ru-RU" sz="1050" b="1" dirty="0" smtClean="0">
                <a:latin typeface="+mj-lt"/>
              </a:rPr>
              <a:t/>
            </a:r>
            <a:br>
              <a:rPr lang="ru-RU" sz="1050" b="1" dirty="0" smtClean="0">
                <a:latin typeface="+mj-lt"/>
              </a:rPr>
            </a:br>
            <a:endParaRPr lang="ru-RU" sz="1050" b="1" dirty="0">
              <a:latin typeface="+mj-lt"/>
            </a:endParaRPr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38" y="2945253"/>
            <a:ext cx="3778176" cy="172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2;p18"/>
          <p:cNvSpPr txBox="1">
            <a:spLocks/>
          </p:cNvSpPr>
          <p:nvPr/>
        </p:nvSpPr>
        <p:spPr>
          <a:xfrm>
            <a:off x="243349" y="138799"/>
            <a:ext cx="9144000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3600" kern="0" spc="-78" dirty="0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Альтернативы </a:t>
            </a:r>
            <a:r>
              <a:rPr lang="en-US" sz="3600" kern="0" spc="-78" dirty="0" err="1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EEGNet</a:t>
            </a:r>
            <a:r>
              <a:rPr lang="en-US" sz="3600" kern="0" spc="-78" dirty="0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. </a:t>
            </a:r>
            <a:r>
              <a:rPr lang="en-US" sz="3600" kern="0" spc="-78" dirty="0" err="1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DeepConvNet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6" name="Google Shape;149;p16"/>
          <p:cNvSpPr txBox="1">
            <a:spLocks/>
          </p:cNvSpPr>
          <p:nvPr/>
        </p:nvSpPr>
        <p:spPr>
          <a:xfrm>
            <a:off x="324465" y="954087"/>
            <a:ext cx="4286723" cy="35264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smtClean="0"/>
              <a:t>Идея</a:t>
            </a:r>
            <a:r>
              <a:rPr lang="en-US" sz="1050" b="1" dirty="0" smtClean="0"/>
              <a:t> </a:t>
            </a:r>
            <a:r>
              <a:rPr lang="en-US" sz="1050" b="1" dirty="0" err="1" smtClean="0"/>
              <a:t>DeepConvNet</a:t>
            </a:r>
            <a:r>
              <a:rPr lang="en-US" sz="1050" b="1" dirty="0" smtClean="0"/>
              <a:t/>
            </a:r>
            <a:br>
              <a:rPr lang="en-US" sz="1050" b="1" dirty="0" smtClean="0"/>
            </a:br>
            <a:r>
              <a:rPr lang="ru-RU" sz="1050" dirty="0"/>
              <a:t>В то время как </a:t>
            </a:r>
            <a:r>
              <a:rPr lang="ru-RU" sz="1050" dirty="0" err="1"/>
              <a:t>EEGNet</a:t>
            </a:r>
            <a:r>
              <a:rPr lang="ru-RU" sz="1050" dirty="0"/>
              <a:t> — это компактная сеть (сотни параметров), созданная для работы в условиях жесткой нехватки данных, </a:t>
            </a:r>
            <a:r>
              <a:rPr lang="ru-RU" sz="1050" dirty="0" err="1"/>
              <a:t>DeepConvNet</a:t>
            </a:r>
            <a:r>
              <a:rPr lang="ru-RU" sz="1050" dirty="0"/>
              <a:t> — это "тяжелая артиллерия" (десятки или сотни тысяч параметров), рассчитанная на поиск сложных абстрактных паттернов на больших </a:t>
            </a:r>
            <a:r>
              <a:rPr lang="ru-RU" sz="1050" dirty="0" err="1" smtClean="0"/>
              <a:t>датасетах</a:t>
            </a:r>
            <a:endParaRPr lang="ru-RU" sz="1050" b="1" dirty="0" smtClean="0"/>
          </a:p>
          <a:p>
            <a:pPr marL="0" indent="0">
              <a:buNone/>
            </a:pPr>
            <a:r>
              <a:rPr lang="ru-RU" sz="1050" dirty="0" smtClean="0"/>
              <a:t>Учит многоуровневые временные паттерны, не пытаясь повторить классический сигнальный метод</a:t>
            </a:r>
            <a:r>
              <a:rPr lang="ru-RU" sz="1050" b="1" dirty="0" smtClean="0"/>
              <a:t/>
            </a:r>
            <a:br>
              <a:rPr lang="ru-RU" sz="1050" b="1" dirty="0" smtClean="0"/>
            </a:br>
            <a:endParaRPr lang="ru-RU" sz="1050" b="1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3" r="16878"/>
          <a:stretch/>
        </p:blipFill>
        <p:spPr>
          <a:xfrm>
            <a:off x="4973443" y="954086"/>
            <a:ext cx="3704253" cy="309752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49" y="2502847"/>
            <a:ext cx="2963753" cy="81902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65" y="3235779"/>
            <a:ext cx="2172003" cy="11717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2;p18"/>
          <p:cNvSpPr txBox="1">
            <a:spLocks/>
          </p:cNvSpPr>
          <p:nvPr/>
        </p:nvSpPr>
        <p:spPr>
          <a:xfrm>
            <a:off x="243349" y="138799"/>
            <a:ext cx="8766836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3600" kern="0" spc="-78" dirty="0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Альтернативы </a:t>
            </a:r>
            <a:r>
              <a:rPr lang="en-US" sz="3600" kern="0" spc="-78" dirty="0" err="1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EEGNet</a:t>
            </a:r>
            <a:r>
              <a:rPr lang="en-US" sz="3600" kern="0" spc="-78" dirty="0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. </a:t>
            </a:r>
            <a:r>
              <a:rPr lang="en-US" sz="3600" kern="0" spc="-78" dirty="0" err="1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DeepConvNet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4" name="Google Shape;149;p16"/>
          <p:cNvSpPr txBox="1">
            <a:spLocks/>
          </p:cNvSpPr>
          <p:nvPr/>
        </p:nvSpPr>
        <p:spPr>
          <a:xfrm>
            <a:off x="1154781" y="1006127"/>
            <a:ext cx="2314657" cy="15660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err="1"/>
              <a:t>ShallowConvNet</a:t>
            </a:r>
            <a:r>
              <a:rPr lang="ru-RU" sz="1050" b="1" dirty="0"/>
              <a:t>: </a:t>
            </a:r>
            <a:r>
              <a:rPr lang="ru-RU" sz="1050" b="1" dirty="0" err="1"/>
              <a:t>Нейросетевой</a:t>
            </a:r>
            <a:r>
              <a:rPr lang="ru-RU" sz="1050" b="1" dirty="0"/>
              <a:t> FBCSP</a:t>
            </a:r>
            <a:endParaRPr lang="ru-RU" sz="1050" dirty="0"/>
          </a:p>
          <a:p>
            <a:pPr marL="0" indent="0">
              <a:buNone/>
            </a:pPr>
            <a:r>
              <a:rPr lang="ru-RU" sz="1050" dirty="0"/>
              <a:t>"Мелкая" архитектура (всего 2 </a:t>
            </a:r>
            <a:r>
              <a:rPr lang="ru-RU" sz="1050" dirty="0" err="1"/>
              <a:t>сверточных</a:t>
            </a:r>
            <a:r>
              <a:rPr lang="ru-RU" sz="1050" dirty="0"/>
              <a:t> слоя).</a:t>
            </a:r>
          </a:p>
          <a:p>
            <a:pPr marL="0" indent="0">
              <a:buNone/>
            </a:pPr>
            <a:r>
              <a:rPr lang="ru-RU" sz="1050" dirty="0"/>
              <a:t>Спроектирована для точной имитации классического алгоритма FBCSP. Упор на спектральную мощность.</a:t>
            </a:r>
          </a:p>
        </p:txBody>
      </p:sp>
      <p:sp>
        <p:nvSpPr>
          <p:cNvPr id="5" name="Google Shape;149;p16"/>
          <p:cNvSpPr txBox="1">
            <a:spLocks/>
          </p:cNvSpPr>
          <p:nvPr/>
        </p:nvSpPr>
        <p:spPr>
          <a:xfrm>
            <a:off x="5784095" y="1006127"/>
            <a:ext cx="2314657" cy="15660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err="1"/>
              <a:t>Графовые</a:t>
            </a:r>
            <a:r>
              <a:rPr lang="ru-RU" sz="1050" b="1" dirty="0"/>
              <a:t> </a:t>
            </a:r>
            <a:r>
              <a:rPr lang="ru-RU" sz="1050" b="1" dirty="0" err="1"/>
              <a:t>нейросети</a:t>
            </a:r>
            <a:r>
              <a:rPr lang="ru-RU" sz="1050" b="1" dirty="0"/>
              <a:t> (GNN): Топология мозга</a:t>
            </a:r>
            <a:endParaRPr lang="ru-RU" sz="1050" dirty="0"/>
          </a:p>
          <a:p>
            <a:pPr marL="0" indent="0">
              <a:buNone/>
            </a:pPr>
            <a:r>
              <a:rPr lang="ru-RU" sz="1050" dirty="0"/>
              <a:t>Отказ от восприятия ЭЭГ как 2D-матрицы.</a:t>
            </a:r>
          </a:p>
          <a:p>
            <a:pPr marL="0" indent="0">
              <a:buNone/>
            </a:pPr>
            <a:r>
              <a:rPr lang="ru-RU" sz="1050" dirty="0"/>
              <a:t>Электроды представлены как узлы графа, что позволяет моделировать физиологические связи между зонами мозга.</a:t>
            </a:r>
          </a:p>
        </p:txBody>
      </p:sp>
      <p:sp>
        <p:nvSpPr>
          <p:cNvPr id="6" name="Google Shape;149;p16"/>
          <p:cNvSpPr txBox="1">
            <a:spLocks/>
          </p:cNvSpPr>
          <p:nvPr/>
        </p:nvSpPr>
        <p:spPr>
          <a:xfrm>
            <a:off x="3469438" y="1006127"/>
            <a:ext cx="2314657" cy="15660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 err="1"/>
              <a:t>Трансформеры</a:t>
            </a:r>
            <a:r>
              <a:rPr lang="ru-RU" sz="1050" b="1" dirty="0"/>
              <a:t> (EEG-</a:t>
            </a:r>
            <a:r>
              <a:rPr lang="ru-RU" sz="1050" b="1" dirty="0" err="1"/>
              <a:t>Conformer</a:t>
            </a:r>
            <a:r>
              <a:rPr lang="ru-RU" sz="1050" b="1" dirty="0"/>
              <a:t>, </a:t>
            </a:r>
            <a:r>
              <a:rPr lang="ru-RU" sz="1050" b="1" dirty="0" err="1"/>
              <a:t>Attention</a:t>
            </a:r>
            <a:r>
              <a:rPr lang="ru-RU" sz="1050" b="1" dirty="0"/>
              <a:t>): Глобальный контекст</a:t>
            </a:r>
            <a:endParaRPr lang="ru-RU" sz="1050" dirty="0"/>
          </a:p>
          <a:p>
            <a:pPr marL="0" indent="0">
              <a:buNone/>
            </a:pPr>
            <a:r>
              <a:rPr lang="ru-RU" sz="1050" dirty="0"/>
              <a:t>Комбинация CNN (локальные признаки) и </a:t>
            </a:r>
            <a:r>
              <a:rPr lang="ru-RU" sz="1050" dirty="0" err="1"/>
              <a:t>Self-Attention</a:t>
            </a:r>
            <a:r>
              <a:rPr lang="ru-RU" sz="1050" dirty="0"/>
              <a:t> (глобальные зависимости).</a:t>
            </a:r>
          </a:p>
          <a:p>
            <a:pPr marL="0" indent="0">
              <a:buNone/>
            </a:pPr>
            <a:r>
              <a:rPr lang="ru-RU" sz="1050" dirty="0"/>
              <a:t>Модель сама учится фокусироваться на самых информативных участках времени и конкретных электродах.</a:t>
            </a:r>
          </a:p>
        </p:txBody>
      </p:sp>
    </p:spTree>
    <p:extLst>
      <p:ext uri="{BB962C8B-B14F-4D97-AF65-F5344CB8AC3E}">
        <p14:creationId xmlns:p14="http://schemas.microsoft.com/office/powerpoint/2010/main" val="38217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2;p18"/>
          <p:cNvSpPr txBox="1">
            <a:spLocks/>
          </p:cNvSpPr>
          <p:nvPr/>
        </p:nvSpPr>
        <p:spPr>
          <a:xfrm>
            <a:off x="243349" y="138799"/>
            <a:ext cx="8737100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" name="Google Shape;162;p18"/>
          <p:cNvSpPr txBox="1">
            <a:spLocks/>
          </p:cNvSpPr>
          <p:nvPr/>
        </p:nvSpPr>
        <p:spPr>
          <a:xfrm>
            <a:off x="243349" y="138799"/>
            <a:ext cx="8766836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3600" kern="0" spc="-78" dirty="0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Парадигмы и лучшие модели для них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7" name="Google Shape;149;p16"/>
          <p:cNvSpPr txBox="1">
            <a:spLocks/>
          </p:cNvSpPr>
          <p:nvPr/>
        </p:nvSpPr>
        <p:spPr>
          <a:xfrm>
            <a:off x="384598" y="1554902"/>
            <a:ext cx="2432943" cy="1812766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latin typeface="+mj-lt"/>
              </a:rPr>
              <a:t>Motor Imagery</a:t>
            </a:r>
            <a:r>
              <a:rPr lang="ru-RU" sz="1200" b="1" dirty="0" smtClean="0">
                <a:latin typeface="+mj-lt"/>
              </a:rPr>
              <a:t/>
            </a:r>
            <a:br>
              <a:rPr lang="ru-RU" sz="1200" b="1" dirty="0" smtClean="0">
                <a:latin typeface="+mj-lt"/>
              </a:rPr>
            </a:br>
            <a:r>
              <a:rPr lang="ru-RU" sz="1200" dirty="0" err="1"/>
              <a:t>Биомаркер</a:t>
            </a:r>
            <a:r>
              <a:rPr lang="ru-RU" sz="1200" dirty="0"/>
              <a:t> — ERD/ERS в полосах (8–13 Гц) и (13–30 Гц) над сенсомоторной корой.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ru-RU" sz="1200" b="1" dirty="0" smtClean="0"/>
              <a:t>Модель</a:t>
            </a:r>
            <a:br>
              <a:rPr lang="ru-RU" sz="1200" b="1" dirty="0" smtClean="0"/>
            </a:br>
            <a:r>
              <a:rPr lang="en-US" sz="1200" dirty="0" err="1"/>
              <a:t>EEGNet</a:t>
            </a:r>
            <a:r>
              <a:rPr lang="en-US" sz="1200" dirty="0"/>
              <a:t> / </a:t>
            </a:r>
            <a:r>
              <a:rPr lang="en-US" sz="1200" dirty="0" err="1"/>
              <a:t>ShallowConvNet</a:t>
            </a:r>
            <a:r>
              <a:rPr lang="en-US" sz="1200" dirty="0"/>
              <a:t> / EEG Conformer</a:t>
            </a:r>
            <a:endParaRPr lang="ru-RU" sz="1200" b="1" dirty="0">
              <a:latin typeface="+mj-lt"/>
            </a:endParaRPr>
          </a:p>
        </p:txBody>
      </p:sp>
      <p:sp>
        <p:nvSpPr>
          <p:cNvPr id="8" name="Google Shape;149;p16"/>
          <p:cNvSpPr txBox="1">
            <a:spLocks/>
          </p:cNvSpPr>
          <p:nvPr/>
        </p:nvSpPr>
        <p:spPr>
          <a:xfrm>
            <a:off x="3395427" y="1554902"/>
            <a:ext cx="2432943" cy="1812766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latin typeface="+mj-lt"/>
              </a:rPr>
              <a:t>P300 Speller</a:t>
            </a:r>
            <a:r>
              <a:rPr lang="ru-RU" sz="1200" b="1" dirty="0" smtClean="0">
                <a:latin typeface="+mj-lt"/>
              </a:rPr>
              <a:t/>
            </a:r>
            <a:br>
              <a:rPr lang="ru-RU" sz="1200" b="1" dirty="0" smtClean="0">
                <a:latin typeface="+mj-lt"/>
              </a:rPr>
            </a:br>
            <a:r>
              <a:rPr lang="ru-RU" sz="1200" dirty="0" err="1"/>
              <a:t>Биомаркер</a:t>
            </a:r>
            <a:r>
              <a:rPr lang="ru-RU" sz="1200" dirty="0"/>
              <a:t> — положительный пик P300 через 300 </a:t>
            </a:r>
            <a:r>
              <a:rPr lang="ru-RU" sz="1200" dirty="0" err="1"/>
              <a:t>мс</a:t>
            </a:r>
            <a:r>
              <a:rPr lang="ru-RU" sz="1200" dirty="0"/>
              <a:t> после целевого мигания (</a:t>
            </a:r>
            <a:r>
              <a:rPr lang="ru-RU" sz="1200" dirty="0" err="1"/>
              <a:t>oddball</a:t>
            </a:r>
            <a:r>
              <a:rPr lang="ru-RU" sz="1200" dirty="0" smtClean="0"/>
              <a:t>).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ru-RU" sz="1200" b="1" dirty="0" smtClean="0"/>
              <a:t>Модель</a:t>
            </a:r>
            <a:br>
              <a:rPr lang="ru-RU" sz="1200" b="1" dirty="0" smtClean="0"/>
            </a:br>
            <a:r>
              <a:rPr lang="ru-RU" sz="1200" dirty="0" err="1"/>
              <a:t>EEGNet</a:t>
            </a:r>
            <a:r>
              <a:rPr lang="ru-RU" sz="1200" dirty="0"/>
              <a:t> + усреднение по повторениям, или </a:t>
            </a:r>
            <a:r>
              <a:rPr lang="ru-RU" sz="1200" dirty="0" err="1"/>
              <a:t>xDAWN+RGF</a:t>
            </a:r>
            <a:endParaRPr lang="ru-RU" sz="1200" b="1" dirty="0">
              <a:latin typeface="+mj-lt"/>
            </a:endParaRPr>
          </a:p>
        </p:txBody>
      </p:sp>
      <p:sp>
        <p:nvSpPr>
          <p:cNvPr id="9" name="Google Shape;149;p16"/>
          <p:cNvSpPr txBox="1">
            <a:spLocks/>
          </p:cNvSpPr>
          <p:nvPr/>
        </p:nvSpPr>
        <p:spPr>
          <a:xfrm>
            <a:off x="6406256" y="1554902"/>
            <a:ext cx="2432943" cy="1812766"/>
          </a:xfrm>
          <a:prstGeom prst="rect">
            <a:avLst/>
          </a:prstGeom>
          <a:solidFill>
            <a:srgbClr val="C2C7CA">
              <a:alpha val="35000"/>
            </a:srgbClr>
          </a:solidFill>
          <a:ln w="28575" cap="flat"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smtClean="0">
                <a:latin typeface="+mj-lt"/>
              </a:rPr>
              <a:t>SSVEP</a:t>
            </a:r>
            <a:r>
              <a:rPr lang="ru-RU" sz="1200" b="1" dirty="0" smtClean="0">
                <a:latin typeface="+mj-lt"/>
              </a:rPr>
              <a:t/>
            </a:r>
            <a:br>
              <a:rPr lang="ru-RU" sz="1200" b="1" dirty="0" smtClean="0">
                <a:latin typeface="+mj-lt"/>
              </a:rPr>
            </a:br>
            <a:r>
              <a:rPr lang="ru-RU" sz="1200" dirty="0" err="1"/>
              <a:t>Биомаркер</a:t>
            </a:r>
            <a:r>
              <a:rPr lang="ru-RU" sz="1200" dirty="0"/>
              <a:t> — узкополосный отклик зрительной </a:t>
            </a:r>
            <a:r>
              <a:rPr lang="ru-RU" sz="1200" dirty="0" smtClean="0"/>
              <a:t>коры. 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ru-RU" sz="1200" b="1" dirty="0" smtClean="0"/>
              <a:t>Модель</a:t>
            </a:r>
            <a:br>
              <a:rPr lang="ru-RU" sz="1200" b="1" dirty="0" smtClean="0"/>
            </a:br>
            <a:r>
              <a:rPr lang="ru-RU" sz="1200" dirty="0"/>
              <a:t>FBCCA / TRCA (классика, очень сильны), CNN-LSTM для коротких окон 0.5 c. </a:t>
            </a:r>
            <a:endParaRPr lang="ru-RU" sz="1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8176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2;p18"/>
          <p:cNvSpPr txBox="1">
            <a:spLocks/>
          </p:cNvSpPr>
          <p:nvPr/>
        </p:nvSpPr>
        <p:spPr>
          <a:xfrm>
            <a:off x="243349" y="138799"/>
            <a:ext cx="8766836" cy="73931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3600" kern="0" spc="-78" dirty="0" smtClean="0">
                <a:solidFill>
                  <a:srgbClr val="1C1D20"/>
                </a:solidFill>
                <a:ea typeface="Georgia" pitchFamily="34" charset="-122"/>
                <a:cs typeface="Georgia" pitchFamily="34" charset="-120"/>
              </a:rPr>
              <a:t>Вывод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7" name="Google Shape;149;p16"/>
          <p:cNvSpPr txBox="1">
            <a:spLocks/>
          </p:cNvSpPr>
          <p:nvPr/>
        </p:nvSpPr>
        <p:spPr>
          <a:xfrm>
            <a:off x="324465" y="954087"/>
            <a:ext cx="4286723" cy="35264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50" b="1" dirty="0"/>
              <a:t>ИИ — ключевой катализатор BCI:</a:t>
            </a:r>
            <a:r>
              <a:rPr lang="ru-RU" sz="1050" dirty="0"/>
              <a:t> Переход от жестких эвристических алгоритмов к адаптивным моделям машинного и глубокого обучения </a:t>
            </a:r>
            <a:r>
              <a:rPr lang="ru-RU" sz="1050" dirty="0" smtClean="0"/>
              <a:t>позволил </a:t>
            </a:r>
            <a:r>
              <a:rPr lang="ru-RU" sz="1050" dirty="0"/>
              <a:t>преодолеть главные проблемы </a:t>
            </a:r>
            <a:r>
              <a:rPr lang="ru-RU" sz="1050" dirty="0" err="1"/>
              <a:t>нейросигналов</a:t>
            </a:r>
            <a:r>
              <a:rPr lang="ru-RU" sz="1050" dirty="0"/>
              <a:t> </a:t>
            </a:r>
            <a:r>
              <a:rPr lang="en-US" sz="1050" dirty="0" smtClean="0"/>
              <a:t>–</a:t>
            </a:r>
            <a:r>
              <a:rPr lang="ru-RU" sz="1050" dirty="0" smtClean="0"/>
              <a:t> низкое </a:t>
            </a:r>
            <a:r>
              <a:rPr lang="ru-RU" sz="1050" dirty="0"/>
              <a:t>соотношение сигнал/шум и </a:t>
            </a:r>
            <a:r>
              <a:rPr lang="ru-RU" sz="1050" dirty="0" err="1"/>
              <a:t>межиндивидуальную</a:t>
            </a:r>
            <a:r>
              <a:rPr lang="ru-RU" sz="1050" dirty="0"/>
              <a:t> вариативность</a:t>
            </a:r>
            <a:r>
              <a:rPr lang="ru-RU" sz="1050" dirty="0" smtClean="0"/>
              <a:t>.</a:t>
            </a:r>
          </a:p>
          <a:p>
            <a:pPr marL="0" indent="0">
              <a:buNone/>
            </a:pPr>
            <a:endParaRPr lang="ru-RU" sz="1050" dirty="0" smtClean="0"/>
          </a:p>
          <a:p>
            <a:pPr marL="0" indent="0">
              <a:buNone/>
            </a:pPr>
            <a:r>
              <a:rPr lang="ru-RU" sz="1050" b="1" dirty="0"/>
              <a:t>Специализация архитектур:</a:t>
            </a:r>
            <a:r>
              <a:rPr lang="ru-RU" sz="1050" dirty="0"/>
              <a:t> </a:t>
            </a:r>
            <a:r>
              <a:rPr lang="ru-RU" sz="1050" dirty="0" smtClean="0"/>
              <a:t>Наилучшие </a:t>
            </a:r>
            <a:r>
              <a:rPr lang="ru-RU" sz="1050" dirty="0"/>
              <a:t>результаты показывают специализированные архитектуры (например, </a:t>
            </a:r>
            <a:r>
              <a:rPr lang="ru-RU" sz="1050" b="1" dirty="0" err="1"/>
              <a:t>EEGNet</a:t>
            </a:r>
            <a:r>
              <a:rPr lang="ru-RU" sz="1050" dirty="0"/>
              <a:t>, </a:t>
            </a:r>
            <a:r>
              <a:rPr lang="ru-RU" sz="1050" b="1" dirty="0" err="1"/>
              <a:t>DeepConvNet</a:t>
            </a:r>
            <a:r>
              <a:rPr lang="ru-RU" sz="1050" dirty="0"/>
              <a:t>, </a:t>
            </a:r>
            <a:r>
              <a:rPr lang="ru-RU" sz="1050" b="1" dirty="0"/>
              <a:t>GNN</a:t>
            </a:r>
            <a:r>
              <a:rPr lang="ru-RU" sz="1050" dirty="0"/>
              <a:t>), учитывающие временную структуру и пространственную топологию головного мозга</a:t>
            </a:r>
            <a:r>
              <a:rPr lang="ru-RU" sz="1050" dirty="0" smtClean="0"/>
              <a:t>.</a:t>
            </a:r>
          </a:p>
          <a:p>
            <a:pPr marL="0" indent="0">
              <a:buNone/>
            </a:pPr>
            <a:endParaRPr lang="ru-RU" sz="1050" dirty="0" smtClean="0"/>
          </a:p>
          <a:p>
            <a:pPr marL="0" indent="0">
              <a:buNone/>
            </a:pPr>
            <a:r>
              <a:rPr lang="ru-RU" sz="1050" b="1" dirty="0"/>
              <a:t>Будущее за гибридными системами:</a:t>
            </a:r>
            <a:r>
              <a:rPr lang="ru-RU" sz="1050" dirty="0"/>
              <a:t> Дальнейшее развитие </a:t>
            </a:r>
            <a:r>
              <a:rPr lang="ru-RU" sz="1050" dirty="0" err="1"/>
              <a:t>неинвазивных</a:t>
            </a:r>
            <a:r>
              <a:rPr lang="ru-RU" sz="1050" dirty="0"/>
              <a:t> ИМК лежит на стыке физиологически интерпретируемых механизмов внимания (</a:t>
            </a:r>
            <a:r>
              <a:rPr lang="ru-RU" sz="1050" dirty="0" err="1"/>
              <a:t>Attention</a:t>
            </a:r>
            <a:r>
              <a:rPr lang="ru-RU" sz="1050" dirty="0"/>
              <a:t>) и </a:t>
            </a:r>
            <a:r>
              <a:rPr lang="ru-RU" sz="1050" dirty="0" err="1"/>
              <a:t>графовых</a:t>
            </a:r>
            <a:r>
              <a:rPr lang="ru-RU" sz="1050" dirty="0"/>
              <a:t> </a:t>
            </a:r>
            <a:r>
              <a:rPr lang="ru-RU" sz="1050" dirty="0" smtClean="0"/>
              <a:t>сетей</a:t>
            </a:r>
            <a:r>
              <a:rPr lang="en-US" sz="1050" dirty="0" smtClean="0"/>
              <a:t>.</a:t>
            </a:r>
            <a:endParaRPr lang="ru-RU" sz="1050" dirty="0"/>
          </a:p>
        </p:txBody>
      </p:sp>
      <p:pic>
        <p:nvPicPr>
          <p:cNvPr id="10249" name="Picture 9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979" y="1256371"/>
            <a:ext cx="3941440" cy="246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415492"/>
      </p:ext>
    </p:extLst>
  </p:cSld>
  <p:clrMapOvr>
    <a:masterClrMapping/>
  </p:clrMapOvr>
</p:sld>
</file>

<file path=ppt/theme/theme1.xml><?xml version="1.0" encoding="utf-8"?>
<a:theme xmlns:a="http://schemas.openxmlformats.org/drawingml/2006/main" name="2016_05_SPbU_template_16х9_ру-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Языковые модели. Виды. Особенности</Template>
  <TotalTime>322</TotalTime>
  <Words>387</Words>
  <Application>Microsoft Office PowerPoint</Application>
  <PresentationFormat>Экран (16:9)</PresentationFormat>
  <Paragraphs>86</Paragraphs>
  <Slides>12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Calibri</vt:lpstr>
      <vt:lpstr>Georgia</vt:lpstr>
      <vt:lpstr>Arial</vt:lpstr>
      <vt:lpstr>2016_05_SPbU_template_16х9_ру-1</vt:lpstr>
      <vt:lpstr>Неинвазивные интерфейсы "мозг-компьютер" (BCI): ИИ в обработке нейросигналов.</vt:lpstr>
      <vt:lpstr>Дизайн-пространство современных BCI</vt:lpstr>
      <vt:lpstr>Неинвазивные технологии. EEG</vt:lpstr>
      <vt:lpstr>Неинвазивные технологии. fNIRS</vt:lpstr>
      <vt:lpstr>Неинвазивные технологии. MEG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Неинвазивные интерфейсы "мозг-компьютер" (BCI): ИИ в обработке нейросигналов.</dc:title>
  <dc:creator>r9zhexo@gmail.com</dc:creator>
  <cp:lastModifiedBy>Доктор</cp:lastModifiedBy>
  <cp:revision>28</cp:revision>
  <dcterms:created xsi:type="dcterms:W3CDTF">2025-04-26T07:20:13Z</dcterms:created>
  <dcterms:modified xsi:type="dcterms:W3CDTF">2026-05-16T08:39:22Z</dcterms:modified>
</cp:coreProperties>
</file>