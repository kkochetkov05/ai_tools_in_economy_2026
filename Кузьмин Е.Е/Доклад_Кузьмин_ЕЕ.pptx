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39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6153151" y="1"/>
            <a:ext cx="2990849" cy="27637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6153150" cy="51435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6153151" y="4650580"/>
            <a:ext cx="2990849" cy="4929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6153152" y="297588"/>
            <a:ext cx="2990848" cy="855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815197" y="2763798"/>
            <a:ext cx="5337954" cy="1886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876300" y="2809875"/>
            <a:ext cx="8267700" cy="17907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08" y="-200478"/>
            <a:ext cx="3429135" cy="18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95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6153151" y="1"/>
            <a:ext cx="2990849" cy="27637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6153150" cy="51434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6153151" y="4650580"/>
            <a:ext cx="2990849" cy="49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815197" y="2763798"/>
            <a:ext cx="5337954" cy="1886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876300" y="2809875"/>
            <a:ext cx="8267700" cy="17907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08" y="-485151"/>
            <a:ext cx="3429135" cy="18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529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3999" cy="84355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3999" cy="11235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313" y="884208"/>
            <a:ext cx="5253687" cy="309169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687" y="-591313"/>
            <a:ext cx="3752492" cy="20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206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4000" cy="8435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3999" cy="1123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313" y="884208"/>
            <a:ext cx="5253687" cy="309169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92" y="-504013"/>
            <a:ext cx="3429135" cy="18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16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4000" cy="84355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3999" cy="11235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431" y="884208"/>
            <a:ext cx="4684567" cy="309169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687" y="-591313"/>
            <a:ext cx="3752492" cy="20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38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4000" cy="8435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3999" cy="1123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431" y="884208"/>
            <a:ext cx="4684567" cy="309169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92" y="-504013"/>
            <a:ext cx="3429135" cy="18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704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4000" cy="84355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4000" cy="11235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452" y="884208"/>
            <a:ext cx="4637547" cy="309169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687" y="-591313"/>
            <a:ext cx="3752492" cy="20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478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4000" cy="8435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3999" cy="1123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grpSp>
        <p:nvGrpSpPr>
          <p:cNvPr id="53" name="Группа 52"/>
          <p:cNvGrpSpPr/>
          <p:nvPr/>
        </p:nvGrpSpPr>
        <p:grpSpPr>
          <a:xfrm>
            <a:off x="6857336" y="0"/>
            <a:ext cx="1895913" cy="11055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452" y="884208"/>
            <a:ext cx="4637547" cy="3091698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92" y="-504013"/>
            <a:ext cx="3429135" cy="18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7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587" y="874396"/>
            <a:ext cx="8889683" cy="4136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lnSpc>
                <a:spcPct val="100000"/>
              </a:lnSpc>
              <a:spcBef>
                <a:spcPts val="450"/>
              </a:spcBef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2pPr>
            <a:lvl3pPr marL="685800" indent="0">
              <a:lnSpc>
                <a:spcPct val="100000"/>
              </a:lnSpc>
              <a:spcBef>
                <a:spcPts val="450"/>
              </a:spcBef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3pPr>
            <a:lvl4pPr marL="1028700" indent="0">
              <a:lnSpc>
                <a:spcPct val="100000"/>
              </a:lnSpc>
              <a:spcBef>
                <a:spcPts val="45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4pPr>
            <a:lvl5pPr marL="1371600" indent="0">
              <a:lnSpc>
                <a:spcPct val="100000"/>
              </a:lnSpc>
              <a:spcBef>
                <a:spcPts val="45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67232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302" y="891541"/>
            <a:ext cx="4564856" cy="4114799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3pPr>
            <a:lvl4pPr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4pPr>
            <a:lvl5pPr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19747" y="887254"/>
            <a:ext cx="4185665" cy="4119086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3pPr>
            <a:lvl4pPr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4pPr>
            <a:lvl5pPr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70370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302" y="861536"/>
            <a:ext cx="8876824" cy="41148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600075" indent="-257175">
              <a:lnSpc>
                <a:spcPct val="100000"/>
              </a:lnSpc>
              <a:buFont typeface="+mj-lt"/>
              <a:buAutoNum type="arabicPeriod"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2pPr>
            <a:lvl3pPr marL="942975" indent="-257175">
              <a:lnSpc>
                <a:spcPct val="100000"/>
              </a:lnSpc>
              <a:buFont typeface="+mj-lt"/>
              <a:buAutoNum type="arabicPeriod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3pPr>
            <a:lvl4pPr marL="1285875" indent="-257175">
              <a:lnSpc>
                <a:spcPct val="100000"/>
              </a:lnSpc>
              <a:buFont typeface="+mj-lt"/>
              <a:buAutoNum type="arabicPeriod"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4pPr>
            <a:lvl5pPr marL="1628775" indent="-257175">
              <a:lnSpc>
                <a:spcPct val="100000"/>
              </a:lnSpc>
              <a:buFont typeface="+mj-lt"/>
              <a:buAutoNum type="arabicPeriod"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27406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88" y="882968"/>
            <a:ext cx="8859679" cy="4114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7657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1"/>
            <a:ext cx="5256610" cy="5143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88" y="854016"/>
            <a:ext cx="3623903" cy="413518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2" y="325819"/>
            <a:ext cx="3630454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67475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9144000" cy="4277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709" y="4389120"/>
            <a:ext cx="8914565" cy="4972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28908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4504849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9554" y="1339682"/>
            <a:ext cx="3932137" cy="4972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73" y="415830"/>
            <a:ext cx="3948257" cy="671099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667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4504849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8649" y="1339682"/>
            <a:ext cx="4261449" cy="4972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398" y="415830"/>
            <a:ext cx="3748742" cy="671099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682733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10005"/>
            <a:ext cx="9152600" cy="1513156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/>
        </p:nvSpPr>
        <p:spPr>
          <a:xfrm>
            <a:off x="5875021" y="1920241"/>
            <a:ext cx="2949965" cy="3000374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          </a:t>
            </a:r>
            <a:endParaRPr lang="ru-RU" sz="1350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6121142" y="2122637"/>
            <a:ext cx="2288480" cy="16578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32874" y="2554606"/>
            <a:ext cx="5486401" cy="23531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9971543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910005"/>
            <a:ext cx="5716910" cy="1513156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/>
        </p:nvSpPr>
        <p:spPr>
          <a:xfrm>
            <a:off x="5875021" y="910004"/>
            <a:ext cx="2949965" cy="3998426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          </a:t>
            </a:r>
            <a:endParaRPr lang="ru-RU" sz="1350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6121142" y="1112401"/>
            <a:ext cx="2288480" cy="16578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32874" y="2554606"/>
            <a:ext cx="5486401" cy="23531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181574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06692" y="917257"/>
            <a:ext cx="4181575" cy="40290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28588" y="921782"/>
            <a:ext cx="4539138" cy="40159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</a:lstStyle>
          <a:p>
            <a:r>
              <a:rPr lang="ru-RU"/>
              <a:t>Вставка диаграммы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221028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26249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/>
        </p:nvCxnSpPr>
        <p:spPr>
          <a:xfrm>
            <a:off x="124302" y="1062991"/>
            <a:ext cx="8816816" cy="895826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1434" y="1202522"/>
            <a:ext cx="1170174" cy="17721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033718" y="1202522"/>
            <a:ext cx="1170174" cy="17721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4731450" y="958206"/>
            <a:ext cx="4209667" cy="4219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409982" y="2085697"/>
            <a:ext cx="2563747" cy="760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109415" y="2085697"/>
            <a:ext cx="1831703" cy="760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261433" y="3616265"/>
            <a:ext cx="8709688" cy="11204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606030504020204" pitchFamily="34" charset="0"/>
                <a:ea typeface="Segoe UI" panose="020B0606030504020204" pitchFamily="34" charset="0"/>
                <a:cs typeface="Segoe UI" panose="020B06060305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1" y="325819"/>
            <a:ext cx="8145251" cy="419990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rgbClr val="923826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784414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0"/>
            <a:ext cx="9143999" cy="84355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4019908"/>
            <a:ext cx="9143999" cy="11235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/>
        </p:nvSpPr>
        <p:spPr>
          <a:xfrm>
            <a:off x="0" y="884208"/>
            <a:ext cx="9143999" cy="3091698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329374" y="1687134"/>
            <a:ext cx="3831431" cy="367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  <a:latin typeface="Segoe UI Light" panose="020B0306030504020204" pitchFamily="34" charset="0"/>
                <a:ea typeface="Segoe UI Light" panose="020B0306030504020204" pitchFamily="34" charset="0"/>
                <a:cs typeface="Segoe UI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29374" y="1016109"/>
            <a:ext cx="163217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  <a:latin typeface="Segoe UI" panose="020B0906030804020204" pitchFamily="34" charset="0"/>
                <a:ea typeface="Segoe UI" panose="020B0906030804020204" pitchFamily="34" charset="0"/>
                <a:cs typeface="Segoe UI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687" y="-591313"/>
            <a:ext cx="3752492" cy="20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6817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68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/>
        </p:nvCxnSpPr>
        <p:spPr>
          <a:xfrm>
            <a:off x="0" y="122915"/>
            <a:ext cx="7911035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860" y="-231943"/>
            <a:ext cx="1533709" cy="82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8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41851B87-4D66-AE86-1404-5F1594DCBCD4}"/>
              </a:ext>
            </a:extLst>
          </p:cNvPr>
          <p:cNvSpPr/>
          <p:nvPr/>
        </p:nvSpPr>
        <p:spPr>
          <a:xfrm>
            <a:off x="1143000" y="257175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Принципы</a:t>
            </a:r>
            <a:r>
              <a:rPr lang="en-US" sz="34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построения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34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моделей</a:t>
            </a:r>
            <a:r>
              <a:rPr lang="en-US" sz="34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 </a:t>
            </a:r>
            <a:r>
              <a:rPr lang="en-US" sz="34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анализе</a:t>
            </a:r>
            <a:r>
              <a:rPr lang="en-US" sz="34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данных</a:t>
            </a:r>
            <a:endParaRPr lang="en-US" sz="3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86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  <p:txBody>
          <a:bodyPr/>
          <a:lstStyle/>
          <a:p>
            <a:r>
              <a:rPr lang="ru-RU" dirty="0"/>
              <a:t>*</a:t>
            </a:r>
          </a:p>
        </p:txBody>
      </p:sp>
      <p:sp>
        <p:nvSpPr>
          <p:cNvPr id="3" name="Shape 1"/>
          <p:cNvSpPr/>
          <p:nvPr/>
        </p:nvSpPr>
        <p:spPr>
          <a:xfrm>
            <a:off x="0" y="51054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такое модель?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8046720" cy="100584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60120"/>
            <a:ext cx="64008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875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«Все модели неверны, но некоторые полезны»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Джордж Бокс, статистик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2651760" cy="73152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Упрощение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— это математическое упрощение реальности, а не её точная копия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01568" y="21945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2194560"/>
            <a:ext cx="2651760" cy="73152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Закономерности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1296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— выделить ключевые паттерны в исторических данных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219456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194560"/>
            <a:ext cx="2651760" cy="73152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Итоговая цель — принятие верных решений в будущем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1. Первичность бизнес-цели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Целеполагание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</a:t>
            </a:r>
            <a:r>
              <a:rPr lang="en-US" sz="12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строится не ради модели, а для решения конкретной задачи
</a:t>
            </a:r>
            <a:r>
              <a:rPr lang="en-US" sz="12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</a:t>
            </a:r>
            <a:r>
              <a:rPr lang="en-US" sz="12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Перевод бизнес-метрики (деньги, конверсия, отток) в ML-метрику (Accuracy, RMSE, Precision, Recall)
</a:t>
            </a:r>
            <a:r>
              <a:rPr lang="en-US" sz="12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</a:t>
            </a:r>
            <a:r>
              <a:rPr lang="en-US" sz="12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Понимание цены ошибки: False Positive vs False Negative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600200"/>
            <a:ext cx="2834640" cy="2651760"/>
          </a:xfrm>
          <a:prstGeom prst="rect">
            <a:avLst/>
          </a:prstGeom>
          <a:solidFill>
            <a:srgbClr val="FBF0EE"/>
          </a:solidFill>
          <a:ln w="9525">
            <a:solidFill>
              <a:srgbClr val="9F2D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600200"/>
            <a:ext cx="2834640" cy="38404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618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Пример: медицина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20574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Пропустить больного (FN) — критическая ошибка.</a:t>
            </a:r>
            <a:endParaRPr lang="en-US" sz="1100" dirty="0"/>
          </a:p>
          <a:p>
            <a:pPr marL="0" indent="0" algn="l">
              <a:spcAft>
                <a:spcPts val="600"/>
              </a:spcAft>
              <a:buNone/>
            </a:pPr>
            <a:endParaRPr lang="en-US" sz="11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Отправить здорового на доп. обследование (FP) — приемлемо.</a:t>
            </a:r>
            <a:endParaRPr lang="en-US" sz="1100" dirty="0"/>
          </a:p>
          <a:p>
            <a:pPr marL="0" indent="0" algn="l">
              <a:spcAft>
                <a:spcPts val="600"/>
              </a:spcAft>
              <a:buNone/>
            </a:pPr>
            <a:endParaRPr lang="en-US" sz="11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Цена ошибки определяет настройку модели.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2. Качество данных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Garbage In — Garbage Out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2560320" cy="26517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времени уходит на сбор, очистку и подготовку данных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5349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600200"/>
            <a:ext cx="54864" cy="804672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636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 один алгоритм не спасёт проект, если данные содержат ошибки и искажения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496312"/>
            <a:ext cx="5349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2496312"/>
            <a:ext cx="54864" cy="804672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Репрезентативность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93008" y="2816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должны отражать ту реальность, в которой модель будет работать после внедрения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392424"/>
            <a:ext cx="5349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3392424"/>
            <a:ext cx="54864" cy="804672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нельзя выучить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93008" y="3712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не способна обнаружить то, чего нет в обучающих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3. Бритва Оккама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простого к сложному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8092440" cy="658368"/>
          </a:xfrm>
          <a:prstGeom prst="rect">
            <a:avLst/>
          </a:prstGeom>
          <a:solidFill>
            <a:srgbClr val="FBF0EE"/>
          </a:solidFill>
          <a:ln w="6350">
            <a:solidFill>
              <a:srgbClr val="9F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276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«Не усложняйте без необходимости» — усложняйте решение только тогда, когда простое перестаёт справляться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423160"/>
            <a:ext cx="1920240" cy="146304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48716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Среднее / мода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4600" y="2971800"/>
            <a:ext cx="182880" cy="54864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2423160"/>
            <a:ext cx="1920240" cy="1463040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248716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Линейная модель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70632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Линейная / лог. регрессия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971800"/>
            <a:ext cx="182880" cy="54864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423160"/>
            <a:ext cx="1920240" cy="146304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48716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Дерево решений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73752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2971800"/>
            <a:ext cx="182880" cy="54864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423160"/>
            <a:ext cx="1920240" cy="14630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248716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Ансамбли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76872" y="301752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Forest, Boosting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4. Баланс смещения и разброса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Bias-Variance Tradeoff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2651760" cy="502920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Недообучение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Underfitting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130552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1945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слишком проста
</a:t>
            </a:r>
            <a:r>
              <a:rPr lang="en-US" sz="1150" b="1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улавливает закономерности
</a:t>
            </a:r>
            <a:r>
              <a:rPr lang="en-US" sz="1150" b="1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Высокое смещение (Bias)
</a:t>
            </a:r>
            <a:r>
              <a:rPr lang="en-US" sz="1150" b="1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Плохо и на train, и на test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01568" y="1627632"/>
            <a:ext cx="2651760" cy="50292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Идеальная модель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1938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Обобщение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01568" y="2130552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1296" y="21945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Находит общую логику
</a:t>
            </a:r>
            <a:r>
              <a:rPr lang="en-US" sz="115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Хорошо на обоих наборах
</a:t>
            </a:r>
            <a:r>
              <a:rPr lang="en-US" sz="115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Баланс Bias и Variance
</a:t>
            </a:r>
            <a:r>
              <a:rPr lang="en-US" sz="115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Способность к обобщению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8776" y="1627632"/>
            <a:ext cx="2651760" cy="50292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Переобучение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1938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Overfitting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2130552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21945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Вызубрила шум данных
</a:t>
            </a:r>
            <a:r>
              <a:rPr lang="en-US" sz="11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Отлично на train...
</a:t>
            </a:r>
            <a:r>
              <a:rPr lang="en-US" sz="11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...провал на новых данных
</a:t>
            </a:r>
            <a:r>
              <a:rPr lang="en-US" sz="11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Высокий разброс (Variance)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5. Корректная валидация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Никогда не тестируйте на обучающих данных!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8092440" cy="59436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00200"/>
            <a:ext cx="5669280" cy="59436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00200"/>
            <a:ext cx="1417320" cy="594360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600200"/>
            <a:ext cx="1005840" cy="5943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 70%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  15%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 15%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39572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395728"/>
            <a:ext cx="2651760" cy="54864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— Обучение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85292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изучает закономерности на этой части данных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01568" y="239572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01568" y="2395728"/>
            <a:ext cx="2651760" cy="54864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— Настройка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93008" y="285292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 гиперпараметров и сравнение моделей между собой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8776" y="2395728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2395728"/>
            <a:ext cx="2651760" cy="54864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— Экзамен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0216" y="285292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«Слепая» зона: финальная оценка, которая не участвовала в обучении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420624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надёжности — используйте кросс-валидацию (K-Fold CV)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6. Интерпретируемость vs Точность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зависит от контекста задачи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794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00200"/>
            <a:ext cx="3794760" cy="475488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184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White-box  (Белый ящик)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1488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Логистическая регрессия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Дерево решений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Линейные модели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Преимущества: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Можно объяснить каждый фактор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Прозрачность для регуляторов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Юридически применимо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 err="1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Области</a:t>
            </a: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банкинг, медицина, право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00200"/>
            <a:ext cx="4114800" cy="475488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184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Black-box  (Чёрный ящик)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214884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Нейронные сети (Deep Learning)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Gradient Boosting (XGBoost)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Random Forest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Преимущества: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Высокая точность предсказаний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Улавливает сложные паттерны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Области: реклама, NLP, CV, рекомендации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79392" y="2606040"/>
            <a:ext cx="402336" cy="402336"/>
          </a:xfrm>
          <a:prstGeom prst="ellipse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61435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7. Жизненный цикл и деградация модели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№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9601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Модели не вечны — мир меняется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1664208"/>
            <a:ext cx="731520" cy="731520"/>
          </a:xfrm>
          <a:prstGeom prst="ellipse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Сбор данных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37360" y="1993391"/>
            <a:ext cx="896112" cy="45719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1664208"/>
            <a:ext cx="731520" cy="731520"/>
          </a:xfrm>
          <a:prstGeom prst="ellipse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21992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Обучение модели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64992" y="1993391"/>
            <a:ext cx="991108" cy="45719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104" y="1664208"/>
            <a:ext cx="731520" cy="731520"/>
          </a:xfrm>
          <a:prstGeom prst="ellipse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9624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Внедрение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92624" y="1993391"/>
            <a:ext cx="950976" cy="45719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88736" y="1664208"/>
            <a:ext cx="731520" cy="731520"/>
          </a:xfrm>
          <a:prstGeom prst="ellipse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8736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77256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Мониторинг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0256" y="1993391"/>
            <a:ext cx="1088644" cy="45719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1664208"/>
            <a:ext cx="731520" cy="731520"/>
          </a:xfrm>
          <a:prstGeom prst="ellipse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04888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Дообучение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(Retraining)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127248"/>
            <a:ext cx="2651760" cy="1581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127248"/>
            <a:ext cx="54864" cy="1581912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Drift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" y="35478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статистических характеристик входных данных с течением времени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3127248"/>
            <a:ext cx="2651760" cy="1581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3127248"/>
            <a:ext cx="54864" cy="1581912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35478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зависимости между входными переменными и целевой переменной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08776" y="3127248"/>
            <a:ext cx="2651760" cy="1581912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3127248"/>
            <a:ext cx="54864" cy="1581912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 — пандемия 2020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73368" y="35478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прогноза спроса 2019 года полностью устарела за несколько недель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8092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Чек-лист успешной модели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3931920" cy="1005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E1E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0120"/>
            <a:ext cx="54864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1288" y="10332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Решает реальную задачу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4173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Первичность бизнес-цели и понимание цены ошибки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1005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E1E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54864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10332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Качественные данные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14173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GIGO: чистые, репрезентативные и полные данные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121408"/>
            <a:ext cx="3931920" cy="1005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E1E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21408"/>
            <a:ext cx="54864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94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2194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Достаточно проста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25786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Бритва Оккама: начинайте с baseline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121408"/>
            <a:ext cx="3931920" cy="1005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E1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21408"/>
            <a:ext cx="54864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94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194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Умеет обобщать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5786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Баланс Bias-Variance, нет переобучения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282696"/>
            <a:ext cx="3931920" cy="1005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E1E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282696"/>
            <a:ext cx="54864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55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61288" y="3355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Корректно протестирована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" y="373989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Разделение train / val / test, кросс-валидация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282696"/>
            <a:ext cx="3931920" cy="1005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E1E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282696"/>
            <a:ext cx="54864" cy="100584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55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3355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Постоянно мониторится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373989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Отслеживание Data Drift и регулярный Retraining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521708"/>
            <a:ext cx="9144000" cy="621792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491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Спасибо за внимание! </a:t>
            </a: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ответить на вопросы.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1A7B3F73-C7E9-4803-AE48-D6931696766C}" vid="{2BBBD693-5538-4F54-AD45-A87D896739D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653</Words>
  <Application>Microsoft Office PowerPoint</Application>
  <PresentationFormat>Экран (16:9)</PresentationFormat>
  <Paragraphs>146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Тема1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Принципы построения моделей в анализе данных</dc:title>
  <dc:subject>PptxGenJS Presentation</dc:subject>
  <dc:creator>PptxGenJS</dc:creator>
  <cp:lastModifiedBy>Egor</cp:lastModifiedBy>
  <cp:revision>2</cp:revision>
  <dcterms:created xsi:type="dcterms:W3CDTF">2026-04-10T17:00:26Z</dcterms:created>
  <dcterms:modified xsi:type="dcterms:W3CDTF">2026-04-10T17:32:27Z</dcterms:modified>
</cp:coreProperties>
</file>