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3"/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26edffcd1_0_80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" name="Google Shape;81;g3e26edffcd1_0_80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e26edffcd1_0_153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g3e26edffcd1_0_153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e26edffcd1_0_160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2" name="Google Shape;202;g3e26edffcd1_0_160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>
  <p:cSld name="Титульный слайд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6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Google Shape;25;p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8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8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Google Shape;41;p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p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1" name="Google Shape;51;p1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1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11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1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12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2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1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" name="Google Shape;65;p1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" name="Google Shape;66;p1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Google Shape;69;p13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p1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" name="Google Shape;72;p1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5" name="Google Shape;75;p14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p1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1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image" Target="../media/image15.jpg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3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0.png"/><Relationship Id="rId7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0.png"/><Relationship Id="rId4" Type="http://schemas.openxmlformats.org/officeDocument/2006/relationships/image" Target="../media/image28.png"/><Relationship Id="rId5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Relationship Id="rId4" Type="http://schemas.openxmlformats.org/officeDocument/2006/relationships/image" Target="../media/image22.png"/><Relationship Id="rId5" Type="http://schemas.openxmlformats.org/officeDocument/2006/relationships/image" Target="../media/image26.png"/><Relationship Id="rId6" Type="http://schemas.openxmlformats.org/officeDocument/2006/relationships/image" Target="../media/image24.png"/><Relationship Id="rId7" Type="http://schemas.openxmlformats.org/officeDocument/2006/relationships/image" Target="../media/image2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1.png"/></Relationships>
</file>

<file path=ppt/slides/_rels/slide18.xml.rels><?xml version="1.0" encoding="UTF-8" standalone="yes"?><Relationships xmlns="http://schemas.openxmlformats.org/package/2006/relationships"><Relationship Id="rId20" Type="http://schemas.openxmlformats.org/officeDocument/2006/relationships/hyperlink" Target="https://pdf.sciencedirectassets.com/313379/1-s2.0-S2405844021X00072/1-s2.0-S2405844022009215/main.pdf?X-Amz-Security-Token=IQoJb3JpZ2luX2VjELj%2F%2F%2F%2F%2F%2F%2F%2F%2F%2FwEaCXVzLWVhc3QtMSJHMEUCICDpUqYaIAdcTWKrap61zCV3b194ydVB0mLRzRmimbSoAiEAtyf9s91v1xcp%2BUtcHiUlUFgWEGX6gDpuS%2BbczEM7p6IquwUIgf%2F%2F%2F%2F%2F%2F%2F%2F%2F%2FARAFGgwwNTkwMDM1NDY4NjUiDGYyQC7xWTlWvwTZXyqPBeDu0v%2FnUex38pQrx58n2tn%2BPChOKgTD4qRw0jJQF%2FhYIL4NeE0kIRaomAzBqNyzkpJZw1B6%2F5XNHbjmSKqvbNyaFLQp3gbBRAwt7xNJSp8%2Fq5FWV7Z9ZaVGG33mwjMKYZ%2B9TFJkZ9vyzHnWzUGcJzApsjv3Cko9PNISUNT74pE%2BE2m94ohdGkl%2FLRjCY00iwMw%2BMyL4xEhQvYRkyAfAtiXbIDcEbwK5pLyN6g4KwzhY37v%2F4g6LvetzLFyl46x8dMwvh9GrIPp%2BPBb3OCCcX4rAIdPnJ86zh%2FQApY6L2zJXcOdqPEGyYY7If4XyvmUJyXCSxHp0Bt6NPNFoqH7Rebeswx5c4b9ktmeC1pwapems%2Fe2zoj6S0rc2lMtEQlM8XYBSnWxPrfL2DIDJcgImw082vM%2F8lTbSSTvNWhOKCeljbcepntJ1T2qSGkFfFcujB5nW2oFo1iCTbO4Lml1ecdkdlLsN86DCjSQ6lSagtybwEaallLTR%2FuO9jndghxZnb7hsdoCrbLQyo0TMYPyBqPUtKSwG66O%2BqWgrp57JIvz0RAz1KMw9toAyRz%2FfQVl9topCP7w4V8XK3z5BMay1mnPskK1g058jqXicqn07215B9VrOSqr%2FXw3Aqo%2BlNDyHNmwILhfSrgId5KEvO5M2LBGuq6RmjOSGKyQnzPuJ7%2F%2B9F2UjtRiVdNFNopt8BWRRMsb8Olf1uXBxMVQitAJDeN0R7wndB84fuPXyeJxUGyGMlSiQIwfIxEaa3kGqS%2BP9FTCcx4T1hEoOlLwpC0wNLk%2BXvhVZ2xgttsTXVqia0CZmd%2F%2BaB1wVAW2GFx2dicglur3igvIerD0%2BFgYF3VRXdNHZjJxS4d3S7AwwJTOu7K0wwdee0AY6sQEOfh8J03DF4USM3QWpyRGc3BCrG47XjuEFTkwObk8VvN3cdcAJcS0XgRgerWltEeU%2FW%2FX%2BeCtmHxcbnbQCsO%2BebvFshFrJIJBZBMs1jEV%2B32DdRka8Wz0ZY15%2BbhJOfO40Fv4rgUIqBYfQRBD2CP4pjrGHi8YnwMlcjJDpbAqe0Inn%2BZQtNaQ1WLlYGPejNDSbKrTTNpRyUMykGMJ2e9I%2B8BjT%2F3o9LSSSjdJUdO0OZPM%3D&amp;X-Amz-Algorithm=AWS4-HMAC-SHA256&amp;X-Amz-Date=20260516T004414Z&amp;X-Amz-SignedHeaders=host&amp;X-Amz-Expires=300&amp;X-Amz-Credential=ASIAQ3PHCVTYXORO7R4C%2F20260516%2Fus-east-1%2Fs3%2Faws4_request&amp;X-Amz-Signature=633629da602f28e12a2ceaf2f4c91457c0b36a173055c725b52329c6385af04e&amp;hash=7d14a17b77342f665edf7e671d90ef52a0751a70c0f3256265e089971ce1d730&amp;host=68042c943591013ac2b2430a89b270f6af2c76d8dfd086a07176afe7c76c2c61&amp;pii=S2405844022009215&amp;tid=spdf-6a0153c8-c285-4b51-8d81-663fc29a3090&amp;sid=99893a2f796aa04d5a7a0e082f7732ec18d9gxrqb&amp;type=client&amp;tsoh=d3d3LnNjaWVuY2VkaXJlY3QuY29t&amp;rh=d3d3LnNjaWVuY2VkaXJlY3QuY29t&amp;ua=0a105b0501545a055705&amp;rr=9fc65a4d0a26bc0f&amp;cc=lv" TargetMode="External"/><Relationship Id="rId11" Type="http://schemas.openxmlformats.org/officeDocument/2006/relationships/hyperlink" Target="https://openaccess.thecvf.com/content/CVPR2022/papers/Xu_FineDiving_A_Fine-Grained_Dataset_for_Procedure-Aware_Action_Quality_Assessment_CVPR_2022_paper.pdf" TargetMode="External"/><Relationship Id="rId10" Type="http://schemas.openxmlformats.org/officeDocument/2006/relationships/hyperlink" Target="https://openaccess.thecvf.com/content_CVPR_2019/papers/Parmar_What_and_How_Well_You_Performed_A_Multitask_Learning_Approach_CVPR_2019_paper.pdf" TargetMode="External"/><Relationship Id="rId21" Type="http://schemas.openxmlformats.org/officeDocument/2006/relationships/hyperlink" Target="https://www.mdpi.com/2076-3417/12/9/4429" TargetMode="External"/><Relationship Id="rId13" Type="http://schemas.openxmlformats.org/officeDocument/2006/relationships/hyperlink" Target="https://openaccess.thecvf.com/content_cvpr_2014/papers/Karpathy_Large-scale_Video_Classification_2014_CVPR_paper.pdf" TargetMode="External"/><Relationship Id="rId12" Type="http://schemas.openxmlformats.org/officeDocument/2006/relationships/hyperlink" Target="https://openaccess.thecvf.com/content_CVPRW_2019/papers/CVSports/McNally_GolfDB_A_Video_Database_for_Golf_Swing_Sequencing_CVPRW_2019_paper.pdf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jpg"/><Relationship Id="rId4" Type="http://schemas.openxmlformats.org/officeDocument/2006/relationships/hyperlink" Target="https://www.nature.com/articles/s41467-024-45965-x" TargetMode="External"/><Relationship Id="rId9" Type="http://schemas.openxmlformats.org/officeDocument/2006/relationships/hyperlink" Target="https://pubmed.ncbi.nlm.nih.gov/33855647/" TargetMode="External"/><Relationship Id="rId15" Type="http://schemas.openxmlformats.org/officeDocument/2006/relationships/hyperlink" Target="https://arxiv.org/pdf/2309.06006" TargetMode="External"/><Relationship Id="rId14" Type="http://schemas.openxmlformats.org/officeDocument/2006/relationships/hyperlink" Target="https://arxiv.org/pdf/2404.01891" TargetMode="External"/><Relationship Id="rId17" Type="http://schemas.openxmlformats.org/officeDocument/2006/relationships/hyperlink" Target="https://arxiv.org/pdf/2309.06006" TargetMode="External"/><Relationship Id="rId16" Type="http://schemas.openxmlformats.org/officeDocument/2006/relationships/hyperlink" Target="https://arxiv.org/pdf/2309.06006" TargetMode="External"/><Relationship Id="rId5" Type="http://schemas.openxmlformats.org/officeDocument/2006/relationships/hyperlink" Target="https://openaccess.thecvf.com/content_CVPR_2020/papers/Cioppa_A_Context-Aware_Loss_Function_for_Action_Spotting_in_Soccer_Videos_CVPR_2020_paper.pdf" TargetMode="External"/><Relationship Id="rId19" Type="http://schemas.openxmlformats.org/officeDocument/2006/relationships/hyperlink" Target="https://www.frontiersin.org/journals/sports-and-active-living/articles/10.3389/fspor.2021.682287/full?ref=https://githubhelp.com" TargetMode="External"/><Relationship Id="rId6" Type="http://schemas.openxmlformats.org/officeDocument/2006/relationships/hyperlink" Target="https://openaccess.thecvf.com/content_cvpr_2018_workshops/papers/w34/Giancola_SoccerNet_A_Scalable_CVPR_2018_paper.pdf" TargetMode="External"/><Relationship Id="rId18" Type="http://schemas.openxmlformats.org/officeDocument/2006/relationships/hyperlink" Target="https://openaccess.thecvf.com/content/CVPR2024/papers/Xu_FineParser_A_Fine-grained_Spatio-temporal_Action_Parser_for_Human-centric_Action_Quality_CVPR_2024_paper.pdf" TargetMode="External"/><Relationship Id="rId7" Type="http://schemas.openxmlformats.org/officeDocument/2006/relationships/hyperlink" Target="https://journals.plos.org/plosone/article?id=10.1371/journal.pone.0201264" TargetMode="External"/><Relationship Id="rId8" Type="http://schemas.openxmlformats.org/officeDocument/2006/relationships/hyperlink" Target="https://pubmed.ncbi.nlm.nih.gov/33855647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ctrTitle"/>
          </p:nvPr>
        </p:nvSpPr>
        <p:spPr>
          <a:xfrm>
            <a:off x="1188450" y="2043672"/>
            <a:ext cx="98151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400"/>
              <a:buFont typeface="Open Sans"/>
              <a:buNone/>
            </a:pPr>
            <a:r>
              <a:rPr b="1" i="0" lang="en-US" sz="3600" u="none" cap="none" strike="noStrike">
                <a:solidFill>
                  <a:srgbClr val="43434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Доклад на тему: “ИИ в сфере: спорта + Типы решаемых задач. Особенности”</a:t>
            </a:r>
            <a:endParaRPr b="1" i="0" sz="3600" u="none" cap="none" strike="noStrike">
              <a:solidFill>
                <a:srgbClr val="43434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400"/>
              <a:buFont typeface="Open Sans"/>
              <a:buNone/>
            </a:pPr>
            <a:r>
              <a:t/>
            </a:r>
            <a:endParaRPr b="1" i="0" sz="3600" u="none" cap="none" strike="noStrike">
              <a:solidFill>
                <a:srgbClr val="43434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400"/>
              <a:buFont typeface="Open Sans"/>
              <a:buNone/>
            </a:pPr>
            <a:r>
              <a:t/>
            </a:r>
            <a:endParaRPr b="1" i="0" sz="3600" u="none" cap="none" strike="noStrike">
              <a:solidFill>
                <a:srgbClr val="43434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400"/>
              <a:buFont typeface="Open Sans"/>
              <a:buNone/>
            </a:pPr>
            <a:r>
              <a:rPr b="1" i="0" lang="en-US" sz="3600" u="none" cap="none" strike="noStrike">
                <a:solidFill>
                  <a:srgbClr val="43434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Занина Мария, 301 группа</a:t>
            </a:r>
            <a:endParaRPr b="1" i="0" sz="3600" u="none" cap="none" strike="noStrike">
              <a:solidFill>
                <a:srgbClr val="43434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9380775" y="6137100"/>
            <a:ext cx="2617800" cy="72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000">
                <a:solidFill>
                  <a:schemeClr val="lt1"/>
                </a:solidFill>
              </a:rPr>
              <a:t>1</a:t>
            </a:r>
            <a:endParaRPr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/>
          <p:nvPr>
            <p:ph type="ctrTitle"/>
          </p:nvPr>
        </p:nvSpPr>
        <p:spPr>
          <a:xfrm>
            <a:off x="6261500" y="-2"/>
            <a:ext cx="3402300" cy="13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400"/>
              <a:buFont typeface="Open Sans"/>
              <a:buNone/>
            </a:pPr>
            <a:r>
              <a:rPr b="1" lang="en-US" sz="3600">
                <a:solidFill>
                  <a:srgbClr val="43434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Содержание</a:t>
            </a:r>
            <a:endParaRPr b="1" i="0" sz="3600" u="none" cap="none" strike="noStrike">
              <a:solidFill>
                <a:srgbClr val="43434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6"/>
          <p:cNvSpPr txBox="1"/>
          <p:nvPr>
            <p:ph idx="12" type="sldNum"/>
          </p:nvPr>
        </p:nvSpPr>
        <p:spPr>
          <a:xfrm>
            <a:off x="9380775" y="6137100"/>
            <a:ext cx="2617800" cy="72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000">
                <a:solidFill>
                  <a:schemeClr val="lt1"/>
                </a:solidFill>
              </a:rPr>
              <a:t>2</a:t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530700" y="1846513"/>
            <a:ext cx="51873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/>
              <a:t>Данные в спортивной сфере и как с ними работать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/>
              <a:t>Постановки основных задач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/>
              <a:t>Архитектуры моделей машинного обучения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/>
              <a:t>Разбор статей: используемых моделей, метрик, результатов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/>
              <a:t>Реальные продукты и их ограничения</a:t>
            </a:r>
            <a:endParaRPr sz="2400"/>
          </a:p>
        </p:txBody>
      </p:sp>
      <p:pic>
        <p:nvPicPr>
          <p:cNvPr id="92" name="Google Shape;9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92150" y="1901011"/>
            <a:ext cx="4876800" cy="340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merlin\Documents\New project 5\outputs\ai_sport_report_spbgu\slides_png\slide-03.png" id="98" name="Google Shape;9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merlin\Documents\New project 5\outputs\ai_sport_report_spbgu\slides_png\slide-04.png" id="104" name="Google Shape;10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merlin\Documents\New project 5\outputs\ai_sport_report_spbgu\slides_png\slide-05.png" id="110" name="Google Shape;11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16924" y="5004825"/>
            <a:ext cx="2308850" cy="76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90950" y="5065237"/>
            <a:ext cx="2034075" cy="64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98350" y="4785452"/>
            <a:ext cx="4188224" cy="107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merlin\Documents\New project 5\outputs\ai_sport_report_spbgu\slides_png\slide-06.png" id="119" name="Google Shape;11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7575" y="1902100"/>
            <a:ext cx="4010501" cy="101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2375" y="1902100"/>
            <a:ext cx="3222750" cy="68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80050" y="3619876"/>
            <a:ext cx="4010500" cy="659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02375" y="3619875"/>
            <a:ext cx="4365250" cy="866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0"/>
          <p:cNvSpPr txBox="1"/>
          <p:nvPr/>
        </p:nvSpPr>
        <p:spPr>
          <a:xfrm>
            <a:off x="6102375" y="4486650"/>
            <a:ext cx="465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 - классы событий, D - временные допуски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merlin\Documents\New project 5\outputs\ai_sport_report_spbgu\slides_png\slide-07.png" id="130" name="Google Shape;13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merlin\Documents\New project 5\outputs\ai_sport_report_spbgu\slides_png\slide-08.png" id="136" name="Google Shape;13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merlin\Documents\New project 5\outputs\ai_sport_report_spbgu\slides_png\slide-09.png" id="142" name="Google Shape;14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merlin\Documents\New project 5\outputs\ai_sport_report_spbgu\slides_png\slide-10.png" id="148" name="Google Shape;14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merlin\Documents\New project 5\outputs\ai_sport_report_spbgu\slides_png\slide-11.png" id="154" name="Google Shape;15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merlin\Documents\New project 5\outputs\ai_sport_report_spbgu\slides_png\slide-12.png" id="160" name="Google Shape;16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6902" y="4234177"/>
            <a:ext cx="4351950" cy="73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98700" y="4365764"/>
            <a:ext cx="5126775" cy="47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merlin\Documents\New project 5\outputs\ai_sport_report_spbgu\slides_png\slide-13.png" id="168" name="Google Shape;16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3400" y="5327750"/>
            <a:ext cx="6979351" cy="32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72738" y="5545188"/>
            <a:ext cx="71532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88150" y="1563200"/>
            <a:ext cx="1755925" cy="339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976900" y="1643825"/>
            <a:ext cx="1331950" cy="257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910725" y="2255457"/>
            <a:ext cx="1398125" cy="2705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8588" y="1643825"/>
            <a:ext cx="5114925" cy="350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43325" y="1603513"/>
            <a:ext cx="2953585" cy="358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merlin\Documents\New project 5\outputs\ai_sport_report_spbgu\slides_png\slide-14.png" id="181" name="Google Shape;18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merlin\Documents\New project 5\outputs\ai_sport_report_spbgu\slides_png\slide-15.png" id="187" name="Google Shape;18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merlin\Documents\New project 5\outputs\ai_sport_report_spbgu\slides_png\slide-16.png" id="193" name="Google Shape;19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merlin\Documents\New project 5\outputs\ai_sport_report_spbgu\slides_png\slide-17.png" id="199" name="Google Shape;19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2"/>
          <p:cNvSpPr txBox="1"/>
          <p:nvPr>
            <p:ph type="ctrTitle"/>
          </p:nvPr>
        </p:nvSpPr>
        <p:spPr>
          <a:xfrm>
            <a:off x="405600" y="1478100"/>
            <a:ext cx="10680000" cy="49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 u="sng">
                <a:solidFill>
                  <a:schemeClr val="hlink"/>
                </a:solidFill>
                <a:hlinkClick r:id="rId4"/>
              </a:rPr>
              <a:t>[1] Wang et al. TacticAI: an AI assistant for football tactics // Nature Communications. 2024.</a:t>
            </a:r>
            <a:endParaRPr b="1" sz="1700"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 u="sng">
                <a:solidFill>
                  <a:schemeClr val="hlink"/>
                </a:solidFill>
                <a:hlinkClick r:id="rId5"/>
              </a:rPr>
              <a:t>[2] Cioppa et al. A Context-Aware Loss Function for Action Spotting in Soccer Videos // CVPR. 2020.</a:t>
            </a:r>
            <a:endParaRPr b="1" sz="1700"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 u="sng">
                <a:solidFill>
                  <a:schemeClr val="hlink"/>
                </a:solidFill>
                <a:hlinkClick r:id="rId6"/>
              </a:rPr>
              <a:t>[3] Giancola et al. SoccerNet: A Scalable Dataset for Action Spotting in Soccer Videos // CVRP 2018.</a:t>
            </a:r>
            <a:endParaRPr b="1" sz="1700"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 u="sng">
                <a:solidFill>
                  <a:schemeClr val="hlink"/>
                </a:solidFill>
                <a:hlinkClick r:id="rId7"/>
              </a:rPr>
              <a:t>[4] Rossi et al. Effective injury forecasting in soccer with GPS training data and ML / PLOS ONE. 2018</a:t>
            </a:r>
            <a:r>
              <a:rPr b="1" lang="en-US" sz="1700">
                <a:solidFill>
                  <a:srgbClr val="434343"/>
                </a:solidFill>
              </a:rPr>
              <a:t>.</a:t>
            </a:r>
            <a:endParaRPr b="1" sz="1700"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 u="sng">
                <a:solidFill>
                  <a:schemeClr val="hlink"/>
                </a:solidFill>
                <a:hlinkClick r:id="rId8"/>
              </a:rPr>
              <a:t>[5] Van Eetvelde et al. Machine learning methods in sport injury prediction and prevention.</a:t>
            </a:r>
            <a:endParaRPr b="1" sz="1700"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 u="sng">
                <a:solidFill>
                  <a:schemeClr val="hlink"/>
                </a:solidFill>
                <a:hlinkClick r:id="rId9"/>
              </a:rPr>
              <a:t>2021.</a:t>
            </a:r>
            <a:endParaRPr b="1" sz="1700"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 u="sng">
                <a:solidFill>
                  <a:schemeClr val="hlink"/>
                </a:solidFill>
                <a:hlinkClick r:id="rId10"/>
              </a:rPr>
              <a:t>[6] Parmar &amp; Morris. What and How Well You Performed? MTL-AQA // CVPR. 2019.</a:t>
            </a:r>
            <a:endParaRPr b="1" sz="1700"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 u="sng">
                <a:solidFill>
                  <a:schemeClr val="hlink"/>
                </a:solidFill>
                <a:hlinkClick r:id="rId11"/>
              </a:rPr>
              <a:t>[7] Xu et al. FineDiving: Procedure-Aware Action Quality Assessment // CVPR. 2022.</a:t>
            </a:r>
            <a:endParaRPr b="1" sz="1700"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 u="sng">
                <a:solidFill>
                  <a:schemeClr val="hlink"/>
                </a:solidFill>
                <a:hlinkClick r:id="rId12"/>
              </a:rPr>
              <a:t>[8] McNally et al. GolfDB: A Video Database for Golf Swing Sequencing // CVPRW. 2019.</a:t>
            </a:r>
            <a:endParaRPr b="1" sz="1700"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 u="sng">
                <a:solidFill>
                  <a:schemeClr val="hlink"/>
                </a:solidFill>
                <a:hlinkClick r:id="rId13"/>
              </a:rPr>
              <a:t>[9] Karpathy et al. Large-scale Video Classification with CNNs // CVPR. 2014.</a:t>
            </a:r>
            <a:endParaRPr b="1" sz="1700"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 u="sng">
                <a:solidFill>
                  <a:schemeClr val="hlink"/>
                </a:solidFill>
                <a:hlinkClick r:id="rId14"/>
              </a:rPr>
              <a:t>[10] Xarles et al. ASTRA: An Action Spotting TRAnsformer for Soccer Videos. 2024.</a:t>
            </a:r>
            <a:endParaRPr b="1" sz="1700"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 u="sng">
                <a:solidFill>
                  <a:schemeClr val="hlink"/>
                </a:solidFill>
                <a:hlinkClick r:id="rId15"/>
              </a:rPr>
              <a:t>[11] Deliege et al. </a:t>
            </a:r>
            <a:r>
              <a:rPr b="1" lang="en-US" sz="1700" u="sng">
                <a:solidFill>
                  <a:schemeClr val="hlink"/>
                </a:solidFill>
                <a:hlinkClick r:id="rId16"/>
              </a:rPr>
              <a:t>Soccer</a:t>
            </a:r>
            <a:r>
              <a:rPr b="1" lang="en-US" sz="1700" u="sng">
                <a:solidFill>
                  <a:schemeClr val="hlink"/>
                </a:solidFill>
                <a:hlinkClick r:id="rId17"/>
              </a:rPr>
              <a:t>:Net 2023 Challenges Results. 2023.</a:t>
            </a:r>
            <a:endParaRPr b="1" sz="1700"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 u="sng">
                <a:solidFill>
                  <a:schemeClr val="hlink"/>
                </a:solidFill>
                <a:hlinkClick r:id="rId18"/>
              </a:rPr>
              <a:t>[12] Xu et al. FineParser: A Fine-grained Spatio-temporal Action Parser // CVPR. 2024.</a:t>
            </a:r>
            <a:endParaRPr b="1" sz="1700"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 u="sng">
                <a:solidFill>
                  <a:schemeClr val="hlink"/>
                </a:solidFill>
                <a:hlinkClick r:id="rId19"/>
              </a:rPr>
              <a:t>[13] Chmait &amp; Westerbeek. Artificial Intelligence and Machine Learning in Sport Research. 2021.</a:t>
            </a:r>
            <a:endParaRPr b="1" sz="1700"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 u="sng">
                <a:solidFill>
                  <a:schemeClr val="hlink"/>
                </a:solidFill>
                <a:hlinkClick r:id="rId20"/>
              </a:rPr>
              <a:t>[14] Host &amp; Ivasic-Kos. Human Action Recognition in sports based on Computer Vision. 2022.</a:t>
            </a:r>
            <a:endParaRPr b="1" sz="1700"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 u="sng">
                <a:solidFill>
                  <a:schemeClr val="hlink"/>
                </a:solidFill>
                <a:hlinkClick r:id="rId21"/>
              </a:rPr>
              <a:t>[15] Thomas et al. A Comprehensive Review of Computer Vision in Sports. 2022.</a:t>
            </a:r>
            <a:endParaRPr b="1" sz="1700">
              <a:solidFill>
                <a:srgbClr val="434343"/>
              </a:solidFill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400"/>
              <a:buFont typeface="Open Sans"/>
              <a:buNone/>
            </a:pPr>
            <a:r>
              <a:t/>
            </a:r>
            <a:endParaRPr b="1" sz="3600">
              <a:solidFill>
                <a:srgbClr val="43434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" name="Google Shape;205;p32"/>
          <p:cNvSpPr txBox="1"/>
          <p:nvPr>
            <p:ph idx="12" type="sldNum"/>
          </p:nvPr>
        </p:nvSpPr>
        <p:spPr>
          <a:xfrm>
            <a:off x="9380775" y="6137100"/>
            <a:ext cx="2617800" cy="72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000">
                <a:solidFill>
                  <a:schemeClr val="lt1"/>
                </a:solidFill>
              </a:rPr>
              <a:t>18</a:t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206" name="Google Shape;206;p32"/>
          <p:cNvSpPr txBox="1"/>
          <p:nvPr/>
        </p:nvSpPr>
        <p:spPr>
          <a:xfrm>
            <a:off x="6078250" y="569950"/>
            <a:ext cx="47724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Список литературы:</a:t>
            </a:r>
            <a:endParaRPr sz="2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