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83" r:id="rId3"/>
    <p:sldId id="285" r:id="rId4"/>
    <p:sldId id="284" r:id="rId5"/>
    <p:sldId id="286" r:id="rId6"/>
    <p:sldId id="288" r:id="rId7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A1D"/>
    <a:srgbClr val="5E707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E57AF-17F8-4074-B199-13EDC5C91164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D7599-D370-4ABF-BD0A-1BED5BC5FD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1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403648" y="2859782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7" name="Подзаголовок 2"/>
          <p:cNvSpPr txBox="1">
            <a:spLocks/>
          </p:cNvSpPr>
          <p:nvPr userDrawn="1"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31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7" y="843559"/>
            <a:ext cx="8704741" cy="504056"/>
          </a:xfrm>
        </p:spPr>
        <p:txBody>
          <a:bodyPr>
            <a:noAutofit/>
          </a:bodyPr>
          <a:lstStyle>
            <a:lvl1pPr algn="l">
              <a:defRPr sz="2800" b="1">
                <a:solidFill>
                  <a:srgbClr val="5E7076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7" y="1419622"/>
            <a:ext cx="8704741" cy="302433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fld id="{CB07D4DF-2351-4A60-A90B-60ED82532F7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Подзаголовок 2"/>
          <p:cNvSpPr txBox="1">
            <a:spLocks/>
          </p:cNvSpPr>
          <p:nvPr userDrawn="1"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 userDrawn="1"/>
        </p:nvSpPr>
        <p:spPr>
          <a:xfrm>
            <a:off x="323528" y="267494"/>
            <a:ext cx="3610744" cy="421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15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и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395536" y="4659982"/>
            <a:ext cx="1512168" cy="216024"/>
          </a:xfrm>
        </p:spPr>
        <p:txBody>
          <a:bodyPr/>
          <a:lstStyle>
            <a:lvl1pPr algn="l">
              <a:defRPr/>
            </a:lvl1pPr>
          </a:lstStyle>
          <a:p>
            <a:fld id="{CB07D4DF-2351-4A60-A90B-60ED82532F7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одзаголовок 2"/>
          <p:cNvSpPr txBox="1">
            <a:spLocks/>
          </p:cNvSpPr>
          <p:nvPr userDrawn="1"/>
        </p:nvSpPr>
        <p:spPr>
          <a:xfrm>
            <a:off x="7956376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323528" y="1059582"/>
            <a:ext cx="4038600" cy="331236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4572000" y="1059582"/>
            <a:ext cx="4320480" cy="33843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533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0" y="1059582"/>
            <a:ext cx="9144000" cy="4083918"/>
          </a:xfrm>
          <a:solidFill>
            <a:schemeClr val="bg1">
              <a:lumMod val="75000"/>
            </a:schemeClr>
          </a:solidFill>
          <a:ln>
            <a:solidFill>
              <a:srgbClr val="000000">
                <a:alpha val="21176"/>
              </a:srgbClr>
            </a:solidFill>
          </a:ln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фото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23528" y="267494"/>
            <a:ext cx="3610744" cy="421555"/>
          </a:xfrm>
        </p:spPr>
        <p:txBody>
          <a:bodyPr>
            <a:noAutofit/>
          </a:bodyPr>
          <a:lstStyle>
            <a:lvl1pPr algn="l"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323528" y="4299942"/>
            <a:ext cx="8820472" cy="504056"/>
          </a:xfrm>
          <a:prstGeom prst="rect">
            <a:avLst/>
          </a:prstGeom>
          <a:solidFill>
            <a:srgbClr val="FFFFFF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дзаголовок 2"/>
          <p:cNvSpPr>
            <a:spLocks noGrp="1"/>
          </p:cNvSpPr>
          <p:nvPr>
            <p:ph type="subTitle" idx="13" hasCustomPrompt="1"/>
          </p:nvPr>
        </p:nvSpPr>
        <p:spPr>
          <a:xfrm>
            <a:off x="323528" y="4316113"/>
            <a:ext cx="8640960" cy="50405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sz="1600" baseline="0" dirty="0">
                <a:solidFill>
                  <a:schemeClr val="bg1"/>
                </a:solidFill>
              </a:rPr>
              <a:t>Санкт-Петербургский государственный университет</a:t>
            </a:r>
          </a:p>
        </p:txBody>
      </p:sp>
    </p:spTree>
    <p:extLst>
      <p:ext uri="{BB962C8B-B14F-4D97-AF65-F5344CB8AC3E}">
        <p14:creationId xmlns:p14="http://schemas.microsoft.com/office/powerpoint/2010/main" val="402579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 userDrawn="1"/>
        </p:nvSpPr>
        <p:spPr>
          <a:xfrm>
            <a:off x="380057" y="4587974"/>
            <a:ext cx="1071893" cy="36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rgbClr val="5E707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aseline="0" dirty="0">
                <a:solidFill>
                  <a:schemeClr val="bg1"/>
                </a:solidFill>
              </a:rPr>
              <a:t>spbu.ru</a:t>
            </a:r>
            <a:endParaRPr lang="ru-RU" sz="1800" baseline="0" dirty="0">
              <a:solidFill>
                <a:schemeClr val="bg1"/>
              </a:solidFill>
            </a:endParaRPr>
          </a:p>
        </p:txBody>
      </p:sp>
      <p:sp>
        <p:nvSpPr>
          <p:cNvPr id="7" name="Заголовок 1"/>
          <p:cNvSpPr txBox="1">
            <a:spLocks/>
          </p:cNvSpPr>
          <p:nvPr userDrawn="1"/>
        </p:nvSpPr>
        <p:spPr>
          <a:xfrm>
            <a:off x="323528" y="267494"/>
            <a:ext cx="3610744" cy="421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Колонтитул</a:t>
            </a:r>
            <a:endParaRPr lang="ru-RU" dirty="0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323528" y="1131590"/>
            <a:ext cx="8568952" cy="36004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5E7076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995936" y="3939902"/>
            <a:ext cx="1201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5E7076"/>
                </a:solidFill>
                <a:latin typeface="+mj-lt"/>
              </a:rPr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403919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7D4DF-2351-4A60-A90B-60ED82532F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19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0" r:id="rId3"/>
    <p:sldLayoutId id="214748366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Искусственный интеллект в сфере образования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075806"/>
            <a:ext cx="6400800" cy="1314450"/>
          </a:xfrm>
        </p:spPr>
        <p:txBody>
          <a:bodyPr>
            <a:normAutofit/>
          </a:bodyPr>
          <a:lstStyle/>
          <a:p>
            <a:r>
              <a:rPr lang="ru-RU" sz="2400" dirty="0"/>
              <a:t>Выполнила: Мозоль Инга</a:t>
            </a:r>
          </a:p>
          <a:p>
            <a:r>
              <a:rPr lang="ru-RU" sz="2400" dirty="0"/>
              <a:t>Группа: 305</a:t>
            </a:r>
          </a:p>
        </p:txBody>
      </p:sp>
    </p:spTree>
    <p:extLst>
      <p:ext uri="{BB962C8B-B14F-4D97-AF65-F5344CB8AC3E}">
        <p14:creationId xmlns:p14="http://schemas.microsoft.com/office/powerpoint/2010/main" val="350287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Архитектуры 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Ансамблевые модели;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Рекуррентные нейросети (LSTM и GRU) – анализ временных траекторий ученика;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/>
              <a:t>Свёрточные</a:t>
            </a:r>
            <a:r>
              <a:rPr lang="ru-RU" sz="2000" dirty="0"/>
              <a:t> сети (</a:t>
            </a:r>
            <a:r>
              <a:rPr lang="en-US" sz="2000" dirty="0"/>
              <a:t>CNN</a:t>
            </a:r>
            <a:r>
              <a:rPr lang="ru-RU" sz="2000" dirty="0"/>
              <a:t>)- визуальные задачи;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Трансформеры (</a:t>
            </a:r>
            <a:r>
              <a:rPr lang="en-US" sz="2000" dirty="0"/>
              <a:t>GPT, BERT) – </a:t>
            </a:r>
            <a:r>
              <a:rPr lang="ru-RU" sz="2000" dirty="0"/>
              <a:t>диалоговые репетиторы;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/>
              <a:t>Графовые</a:t>
            </a:r>
            <a:r>
              <a:rPr lang="ru-RU" sz="2000" dirty="0"/>
              <a:t> нейросети (</a:t>
            </a:r>
            <a:r>
              <a:rPr lang="en-US" sz="2000" dirty="0"/>
              <a:t>GNN</a:t>
            </a:r>
            <a:r>
              <a:rPr lang="ru-RU" sz="2000" dirty="0"/>
              <a:t>) – рекомендация тем;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Вариационные </a:t>
            </a:r>
            <a:r>
              <a:rPr lang="ru-RU" sz="2000" dirty="0" err="1"/>
              <a:t>автоэнкодеры</a:t>
            </a:r>
            <a:r>
              <a:rPr lang="ru-RU" sz="2000" dirty="0"/>
              <a:t> (</a:t>
            </a:r>
            <a:r>
              <a:rPr lang="en-US" sz="2000" dirty="0"/>
              <a:t>VAE</a:t>
            </a:r>
            <a:r>
              <a:rPr lang="ru-RU" sz="2000" dirty="0"/>
              <a:t>) – генерация новых задач;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Shadow deep learning</a:t>
            </a:r>
            <a:r>
              <a:rPr lang="ru-RU" sz="2000" dirty="0"/>
              <a:t> – запуск ИИ на доступном оборудовании;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Большие языковые модели (</a:t>
            </a:r>
            <a:r>
              <a:rPr lang="en-US" sz="2000" dirty="0" err="1"/>
              <a:t>ChatGPT</a:t>
            </a:r>
            <a:r>
              <a:rPr lang="en-US" sz="2000" dirty="0"/>
              <a:t>, </a:t>
            </a:r>
            <a:r>
              <a:rPr lang="en-US" sz="2000" dirty="0" err="1"/>
              <a:t>YandexGPT</a:t>
            </a:r>
            <a:r>
              <a:rPr lang="en-US" sz="2000" dirty="0"/>
              <a:t>)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51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Архитектуры 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97AE901-6005-4E44-827F-E1BB18330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334031"/>
              </p:ext>
            </p:extLst>
          </p:nvPr>
        </p:nvGraphicFramePr>
        <p:xfrm>
          <a:off x="1835696" y="1411172"/>
          <a:ext cx="5205936" cy="3032786"/>
        </p:xfrm>
        <a:graphic>
          <a:graphicData uri="http://schemas.openxmlformats.org/drawingml/2006/table">
            <a:tbl>
              <a:tblPr/>
              <a:tblGrid>
                <a:gridCol w="1735312">
                  <a:extLst>
                    <a:ext uri="{9D8B030D-6E8A-4147-A177-3AD203B41FA5}">
                      <a16:colId xmlns:a16="http://schemas.microsoft.com/office/drawing/2014/main" val="424347366"/>
                    </a:ext>
                  </a:extLst>
                </a:gridCol>
                <a:gridCol w="1735312">
                  <a:extLst>
                    <a:ext uri="{9D8B030D-6E8A-4147-A177-3AD203B41FA5}">
                      <a16:colId xmlns:a16="http://schemas.microsoft.com/office/drawing/2014/main" val="1232031830"/>
                    </a:ext>
                  </a:extLst>
                </a:gridCol>
                <a:gridCol w="1735312">
                  <a:extLst>
                    <a:ext uri="{9D8B030D-6E8A-4147-A177-3AD203B41FA5}">
                      <a16:colId xmlns:a16="http://schemas.microsoft.com/office/drawing/2014/main" val="3519559273"/>
                    </a:ext>
                  </a:extLst>
                </a:gridCol>
              </a:tblGrid>
              <a:tr h="212019">
                <a:tc>
                  <a:txBody>
                    <a:bodyPr/>
                    <a:lstStyle/>
                    <a:p>
                      <a:pPr algn="l"/>
                      <a:r>
                        <a:rPr lang="ru-RU" sz="600" b="0" dirty="0">
                          <a:effectLst/>
                          <a:latin typeface="quote-cjk-patch"/>
                        </a:rPr>
                        <a:t>Архитектура</a:t>
                      </a: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600" b="0">
                          <a:effectLst/>
                          <a:latin typeface="quote-cjk-patch"/>
                        </a:rPr>
                        <a:t>Что делает в образовании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600" b="0">
                          <a:effectLst/>
                          <a:latin typeface="quote-cjk-patch"/>
                        </a:rPr>
                        <a:t>Ключевая фишка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672640"/>
                  </a:ext>
                </a:extLst>
              </a:tr>
              <a:tr h="294982">
                <a:tc>
                  <a:txBody>
                    <a:bodyPr/>
                    <a:lstStyle/>
                    <a:p>
                      <a:r>
                        <a:rPr lang="ru-RU" sz="600" b="1">
                          <a:effectLst/>
                          <a:latin typeface="quote-cjk-patch"/>
                        </a:rPr>
                        <a:t>Ансамбли (</a:t>
                      </a:r>
                      <a:r>
                        <a:rPr lang="en-US" sz="600" b="1">
                          <a:effectLst/>
                          <a:latin typeface="quote-cjk-patch"/>
                        </a:rPr>
                        <a:t>RF, XGBoost)</a:t>
                      </a:r>
                      <a:endParaRPr lang="en-US" sz="600" b="0">
                        <a:effectLst/>
                        <a:latin typeface="quote-cjk-patch"/>
                      </a:endParaRP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Прогноз успеваемости, отсева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Работа на малых данных, объяснимость</a:t>
                      </a:r>
                    </a:p>
                  </a:txBody>
                  <a:tcPr marL="41265" marR="30949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171638"/>
                  </a:ext>
                </a:extLst>
              </a:tr>
              <a:tr h="377946">
                <a:tc>
                  <a:txBody>
                    <a:bodyPr/>
                    <a:lstStyle/>
                    <a:p>
                      <a:r>
                        <a:rPr lang="en-US" sz="600" b="1">
                          <a:effectLst/>
                          <a:latin typeface="quote-cjk-patch"/>
                        </a:rPr>
                        <a:t>LSTM / GRU</a:t>
                      </a:r>
                      <a:endParaRPr lang="en-US" sz="600" b="0">
                        <a:effectLst/>
                        <a:latin typeface="quote-cjk-patch"/>
                      </a:endParaRP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Анализ временных траекторий ученика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Помнит, что было давно</a:t>
                      </a:r>
                    </a:p>
                  </a:txBody>
                  <a:tcPr marL="41265" marR="30949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20580"/>
                  </a:ext>
                </a:extLst>
              </a:tr>
              <a:tr h="377946">
                <a:tc>
                  <a:txBody>
                    <a:bodyPr/>
                    <a:lstStyle/>
                    <a:p>
                      <a:r>
                        <a:rPr lang="en-US" sz="600" b="1">
                          <a:effectLst/>
                          <a:latin typeface="quote-cjk-patch"/>
                        </a:rPr>
                        <a:t>CNN</a:t>
                      </a:r>
                      <a:endParaRPr lang="en-US" sz="600" b="0">
                        <a:effectLst/>
                        <a:latin typeface="quote-cjk-patch"/>
                      </a:endParaRP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Распознавание формул, почерка, внимания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Работа с изображениями</a:t>
                      </a:r>
                    </a:p>
                  </a:txBody>
                  <a:tcPr marL="41265" marR="30949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987668"/>
                  </a:ext>
                </a:extLst>
              </a:tr>
              <a:tr h="377946">
                <a:tc>
                  <a:txBody>
                    <a:bodyPr/>
                    <a:lstStyle/>
                    <a:p>
                      <a:r>
                        <a:rPr lang="ru-RU" sz="600" b="1">
                          <a:effectLst/>
                          <a:latin typeface="quote-cjk-patch"/>
                        </a:rPr>
                        <a:t>Трансформеры (</a:t>
                      </a:r>
                      <a:r>
                        <a:rPr lang="en-US" sz="600" b="1">
                          <a:effectLst/>
                          <a:latin typeface="quote-cjk-patch"/>
                        </a:rPr>
                        <a:t>BERT, GPT)</a:t>
                      </a:r>
                      <a:endParaRPr lang="en-US" sz="600" b="0">
                        <a:effectLst/>
                        <a:latin typeface="quote-cjk-patch"/>
                      </a:endParaRP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Диалоговые репетиторы, генерация пояснений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Понимание контекста</a:t>
                      </a:r>
                    </a:p>
                  </a:txBody>
                  <a:tcPr marL="41265" marR="30949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345539"/>
                  </a:ext>
                </a:extLst>
              </a:tr>
              <a:tr h="294982">
                <a:tc>
                  <a:txBody>
                    <a:bodyPr/>
                    <a:lstStyle/>
                    <a:p>
                      <a:r>
                        <a:rPr lang="en-US" sz="600" b="1">
                          <a:effectLst/>
                          <a:latin typeface="quote-cjk-patch"/>
                        </a:rPr>
                        <a:t>GNN</a:t>
                      </a:r>
                      <a:endParaRPr lang="en-US" sz="600" b="0">
                        <a:effectLst/>
                        <a:latin typeface="quote-cjk-patch"/>
                      </a:endParaRP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Графы знаний, рекомендация тем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Учитывает связи между темами</a:t>
                      </a:r>
                    </a:p>
                  </a:txBody>
                  <a:tcPr marL="41265" marR="30949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262405"/>
                  </a:ext>
                </a:extLst>
              </a:tr>
              <a:tr h="294982">
                <a:tc>
                  <a:txBody>
                    <a:bodyPr/>
                    <a:lstStyle/>
                    <a:p>
                      <a:r>
                        <a:rPr lang="en-US" sz="600" b="1">
                          <a:effectLst/>
                          <a:latin typeface="quote-cjk-patch"/>
                        </a:rPr>
                        <a:t>VAE</a:t>
                      </a:r>
                      <a:endParaRPr lang="en-US" sz="600" b="0">
                        <a:effectLst/>
                        <a:latin typeface="quote-cjk-patch"/>
                      </a:endParaRP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Генерация новых задач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Решение проблемы малых данных</a:t>
                      </a:r>
                    </a:p>
                  </a:txBody>
                  <a:tcPr marL="41265" marR="30949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09256"/>
                  </a:ext>
                </a:extLst>
              </a:tr>
              <a:tr h="212019">
                <a:tc>
                  <a:txBody>
                    <a:bodyPr/>
                    <a:lstStyle/>
                    <a:p>
                      <a:r>
                        <a:rPr lang="en-US" sz="600" b="1">
                          <a:effectLst/>
                          <a:latin typeface="quote-cjk-patch"/>
                        </a:rPr>
                        <a:t>Shadow Deep Learning</a:t>
                      </a:r>
                      <a:endParaRPr lang="en-US" sz="600" b="0">
                        <a:effectLst/>
                        <a:latin typeface="quote-cjk-patch"/>
                      </a:endParaRP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Запуск ИИ на слабом железе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Дистилляция, работа офлайн</a:t>
                      </a:r>
                    </a:p>
                  </a:txBody>
                  <a:tcPr marL="41265" marR="30949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308972"/>
                  </a:ext>
                </a:extLst>
              </a:tr>
              <a:tr h="294982">
                <a:tc>
                  <a:txBody>
                    <a:bodyPr/>
                    <a:lstStyle/>
                    <a:p>
                      <a:r>
                        <a:rPr lang="en-US" sz="600" b="1">
                          <a:effectLst/>
                          <a:latin typeface="quote-cjk-patch"/>
                        </a:rPr>
                        <a:t>LLM (ChatGPT, YandexGPT)</a:t>
                      </a:r>
                      <a:endParaRPr lang="en-US" sz="600" b="0">
                        <a:effectLst/>
                        <a:latin typeface="quote-cjk-patch"/>
                      </a:endParaRP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Генерация материалов, проверка эссе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Создание нового контента</a:t>
                      </a:r>
                    </a:p>
                  </a:txBody>
                  <a:tcPr marL="41265" marR="30949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8089"/>
                  </a:ext>
                </a:extLst>
              </a:tr>
              <a:tr h="294982">
                <a:tc>
                  <a:txBody>
                    <a:bodyPr/>
                    <a:lstStyle/>
                    <a:p>
                      <a:r>
                        <a:rPr lang="ru-RU" sz="600" b="1">
                          <a:effectLst/>
                          <a:latin typeface="quote-cjk-patch"/>
                        </a:rPr>
                        <a:t>Гибридные (символьный ИИ + нейросети)</a:t>
                      </a:r>
                      <a:endParaRPr lang="ru-RU" sz="600" b="0">
                        <a:effectLst/>
                        <a:latin typeface="quote-cjk-patch"/>
                      </a:endParaRPr>
                    </a:p>
                  </a:txBody>
                  <a:tcPr marL="30949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>
                          <a:effectLst/>
                          <a:latin typeface="quote-cjk-patch"/>
                        </a:rPr>
                        <a:t>Доказательство теорем, строгая логика</a:t>
                      </a:r>
                    </a:p>
                  </a:txBody>
                  <a:tcPr marL="41265" marR="41265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600" b="0" dirty="0">
                          <a:effectLst/>
                          <a:latin typeface="quote-cjk-patch"/>
                        </a:rPr>
                        <a:t>Точность, а не интуиция</a:t>
                      </a:r>
                    </a:p>
                  </a:txBody>
                  <a:tcPr marL="41265" marR="30949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306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94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843558"/>
            <a:ext cx="8704741" cy="504056"/>
          </a:xfrm>
        </p:spPr>
        <p:txBody>
          <a:bodyPr/>
          <a:lstStyle/>
          <a:p>
            <a:r>
              <a:rPr lang="ru-RU" dirty="0"/>
              <a:t>Типы решаемых задач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Прогнозирование успеваемости;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Отслеживание знаний (</a:t>
            </a:r>
            <a:r>
              <a:rPr lang="en-US" dirty="0"/>
              <a:t>Knowledge Tracing</a:t>
            </a:r>
            <a:r>
              <a:rPr lang="ru-RU" dirty="0"/>
              <a:t>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 Автоматическая оценка текста;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 Рекомендация образовательного контента;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Детекция плагиата;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Кластеризация учеников;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Создание интерактивных образовательных ресурсов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22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843558"/>
            <a:ext cx="8704741" cy="504056"/>
          </a:xfrm>
        </p:spPr>
        <p:txBody>
          <a:bodyPr/>
          <a:lstStyle/>
          <a:p>
            <a:r>
              <a:rPr lang="ru-RU" dirty="0"/>
              <a:t>Особенности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272" y="1419622"/>
            <a:ext cx="8704741" cy="302433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125C6C6-4573-4639-971D-26C031131A6E}"/>
              </a:ext>
            </a:extLst>
          </p:cNvPr>
          <p:cNvSpPr/>
          <p:nvPr/>
        </p:nvSpPr>
        <p:spPr>
          <a:xfrm>
            <a:off x="539552" y="1563638"/>
            <a:ext cx="2448272" cy="1008112"/>
          </a:xfrm>
          <a:prstGeom prst="rect">
            <a:avLst/>
          </a:prstGeom>
          <a:solidFill>
            <a:srgbClr val="A02A1D"/>
          </a:solidFill>
          <a:ln>
            <a:solidFill>
              <a:srgbClr val="A02A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7512DC1-DC10-420A-9411-85E3CAF071B0}"/>
              </a:ext>
            </a:extLst>
          </p:cNvPr>
          <p:cNvSpPr/>
          <p:nvPr/>
        </p:nvSpPr>
        <p:spPr>
          <a:xfrm>
            <a:off x="2335274" y="3178791"/>
            <a:ext cx="2448272" cy="1008112"/>
          </a:xfrm>
          <a:prstGeom prst="rect">
            <a:avLst/>
          </a:prstGeom>
          <a:solidFill>
            <a:srgbClr val="A02A1D"/>
          </a:solidFill>
          <a:ln>
            <a:solidFill>
              <a:srgbClr val="A02A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E32B34-C169-4A28-B582-78BB345D4147}"/>
              </a:ext>
            </a:extLst>
          </p:cNvPr>
          <p:cNvSpPr/>
          <p:nvPr/>
        </p:nvSpPr>
        <p:spPr>
          <a:xfrm>
            <a:off x="4211960" y="1566394"/>
            <a:ext cx="2448272" cy="1008112"/>
          </a:xfrm>
          <a:prstGeom prst="rect">
            <a:avLst/>
          </a:prstGeom>
          <a:solidFill>
            <a:srgbClr val="A02A1D"/>
          </a:solidFill>
          <a:ln>
            <a:solidFill>
              <a:srgbClr val="A02A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E5621D-AE3E-4958-821B-79AF58456138}"/>
              </a:ext>
            </a:extLst>
          </p:cNvPr>
          <p:cNvSpPr/>
          <p:nvPr/>
        </p:nvSpPr>
        <p:spPr>
          <a:xfrm>
            <a:off x="6142256" y="3134860"/>
            <a:ext cx="2448272" cy="1008112"/>
          </a:xfrm>
          <a:prstGeom prst="rect">
            <a:avLst/>
          </a:prstGeom>
          <a:solidFill>
            <a:srgbClr val="A02A1D"/>
          </a:solidFill>
          <a:ln>
            <a:solidFill>
              <a:srgbClr val="A02A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BC6ED-B30A-4C52-8D71-2CE0B7F58D0E}"/>
              </a:ext>
            </a:extLst>
          </p:cNvPr>
          <p:cNvSpPr txBox="1"/>
          <p:nvPr/>
        </p:nvSpPr>
        <p:spPr>
          <a:xfrm>
            <a:off x="728063" y="1822052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Объяснимость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90EAEC-64AC-4EE1-BDE2-6DDE5EC17590}"/>
              </a:ext>
            </a:extLst>
          </p:cNvPr>
          <p:cNvSpPr txBox="1"/>
          <p:nvPr/>
        </p:nvSpPr>
        <p:spPr>
          <a:xfrm>
            <a:off x="4103948" y="1836861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Дефицит данных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EE3A1D-A24F-45C0-8C69-8B0A1537557B}"/>
              </a:ext>
            </a:extLst>
          </p:cNvPr>
          <p:cNvSpPr txBox="1"/>
          <p:nvPr/>
        </p:nvSpPr>
        <p:spPr>
          <a:xfrm>
            <a:off x="2483768" y="3435846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Этика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60F32-80C8-44B3-9F98-08D7C9DE3CB3}"/>
              </a:ext>
            </a:extLst>
          </p:cNvPr>
          <p:cNvSpPr txBox="1"/>
          <p:nvPr/>
        </p:nvSpPr>
        <p:spPr>
          <a:xfrm>
            <a:off x="6315240" y="3267348"/>
            <a:ext cx="2102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Готовность педагогов</a:t>
            </a:r>
          </a:p>
        </p:txBody>
      </p:sp>
    </p:spTree>
    <p:extLst>
      <p:ext uri="{BB962C8B-B14F-4D97-AF65-F5344CB8AC3E}">
        <p14:creationId xmlns:p14="http://schemas.microsoft.com/office/powerpoint/2010/main" val="920611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7" y="843558"/>
            <a:ext cx="8704741" cy="504056"/>
          </a:xfrm>
        </p:spPr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Нет универсальной архитектуры ИИ для образования;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ИИ в образовании не заменяет учителя, а становится его инструментом.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Наиболее перспективный подход в ближайшие годы — гибридные системы, сочетающие символьный ИИ и нейросети, а не чистые глубокие модели.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7D4DF-2351-4A60-A90B-60ED82532F73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6E0E42-8EF8-4100-8202-5F2D88A5D1A4}"/>
              </a:ext>
            </a:extLst>
          </p:cNvPr>
          <p:cNvSpPr/>
          <p:nvPr/>
        </p:nvSpPr>
        <p:spPr>
          <a:xfrm>
            <a:off x="323527" y="267494"/>
            <a:ext cx="1944217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0983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292</Words>
  <Application>Microsoft Office PowerPoint</Application>
  <PresentationFormat>Экран (16:9)</PresentationFormat>
  <Paragraphs>71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quote-cjk-patch</vt:lpstr>
      <vt:lpstr>Тема Office</vt:lpstr>
      <vt:lpstr>Искусственный интеллект в сфере образования</vt:lpstr>
      <vt:lpstr>Архитектуры ИИ</vt:lpstr>
      <vt:lpstr>Архитектуры Ии</vt:lpstr>
      <vt:lpstr>Типы решаемых задач </vt:lpstr>
      <vt:lpstr>Особенности</vt:lpstr>
      <vt:lpstr>Выводы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</dc:title>
  <dc:creator>Баранова Ольга Владимировна</dc:creator>
  <cp:lastModifiedBy>Inga</cp:lastModifiedBy>
  <cp:revision>44</cp:revision>
  <dcterms:created xsi:type="dcterms:W3CDTF">2015-06-15T09:44:47Z</dcterms:created>
  <dcterms:modified xsi:type="dcterms:W3CDTF">2026-04-11T10:15:10Z</dcterms:modified>
</cp:coreProperties>
</file>