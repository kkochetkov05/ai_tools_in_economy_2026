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97" r:id="rId4"/>
    <p:sldId id="283" r:id="rId5"/>
    <p:sldId id="285" r:id="rId6"/>
    <p:sldId id="290" r:id="rId7"/>
    <p:sldId id="284" r:id="rId8"/>
    <p:sldId id="291" r:id="rId9"/>
    <p:sldId id="292" r:id="rId10"/>
    <p:sldId id="293" r:id="rId11"/>
    <p:sldId id="294" r:id="rId12"/>
    <p:sldId id="296" r:id="rId13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7076"/>
    <a:srgbClr val="A02A1D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7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4E57AF-17F8-4074-B199-13EDC5C91164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D7599-D370-4ABF-BD0A-1BED5BC5FD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16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>
                <a:solidFill>
                  <a:srgbClr val="5E7076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403648" y="2859782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7" name="Подзаголовок 2"/>
          <p:cNvSpPr txBox="1">
            <a:spLocks/>
          </p:cNvSpPr>
          <p:nvPr userDrawn="1"/>
        </p:nvSpPr>
        <p:spPr>
          <a:xfrm>
            <a:off x="380057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31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323527" y="843559"/>
            <a:ext cx="8704741" cy="504056"/>
          </a:xfrm>
        </p:spPr>
        <p:txBody>
          <a:bodyPr>
            <a:noAutofit/>
          </a:bodyPr>
          <a:lstStyle>
            <a:lvl1pPr algn="l">
              <a:defRPr sz="2800" b="1">
                <a:solidFill>
                  <a:srgbClr val="5E7076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323527" y="1419622"/>
            <a:ext cx="8704741" cy="3024336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395536" y="4659982"/>
            <a:ext cx="1512168" cy="216024"/>
          </a:xfrm>
        </p:spPr>
        <p:txBody>
          <a:bodyPr/>
          <a:lstStyle>
            <a:lvl1pPr algn="l">
              <a:defRPr/>
            </a:lvl1pPr>
          </a:lstStyle>
          <a:p>
            <a:fld id="{CB07D4DF-2351-4A60-A90B-60ED82532F7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Подзаголовок 2"/>
          <p:cNvSpPr txBox="1">
            <a:spLocks/>
          </p:cNvSpPr>
          <p:nvPr userDrawn="1"/>
        </p:nvSpPr>
        <p:spPr>
          <a:xfrm>
            <a:off x="7956376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  <p:sp>
        <p:nvSpPr>
          <p:cNvPr id="8" name="Заголовок 1"/>
          <p:cNvSpPr txBox="1">
            <a:spLocks/>
          </p:cNvSpPr>
          <p:nvPr userDrawn="1"/>
        </p:nvSpPr>
        <p:spPr>
          <a:xfrm>
            <a:off x="323528" y="267494"/>
            <a:ext cx="3610744" cy="4215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Колонтитул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1540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бочий слайд с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23528" y="267494"/>
            <a:ext cx="3610744" cy="421555"/>
          </a:xfrm>
        </p:spPr>
        <p:txBody>
          <a:bodyPr>
            <a:noAutofit/>
          </a:bodyPr>
          <a:lstStyle>
            <a:lvl1pPr algn="l">
              <a:defRPr sz="28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395536" y="4659982"/>
            <a:ext cx="1512168" cy="216024"/>
          </a:xfrm>
        </p:spPr>
        <p:txBody>
          <a:bodyPr/>
          <a:lstStyle>
            <a:lvl1pPr algn="l">
              <a:defRPr/>
            </a:lvl1pPr>
          </a:lstStyle>
          <a:p>
            <a:fld id="{CB07D4DF-2351-4A60-A90B-60ED82532F7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Подзаголовок 2"/>
          <p:cNvSpPr txBox="1">
            <a:spLocks/>
          </p:cNvSpPr>
          <p:nvPr userDrawn="1"/>
        </p:nvSpPr>
        <p:spPr>
          <a:xfrm>
            <a:off x="7956376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  <p:sp>
        <p:nvSpPr>
          <p:cNvPr id="10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323528" y="1059582"/>
            <a:ext cx="4038600" cy="331236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фото</a:t>
            </a:r>
          </a:p>
        </p:txBody>
      </p:sp>
      <p:sp>
        <p:nvSpPr>
          <p:cNvPr id="11" name="Подзаголовок 2"/>
          <p:cNvSpPr>
            <a:spLocks noGrp="1"/>
          </p:cNvSpPr>
          <p:nvPr>
            <p:ph type="subTitle" idx="13" hasCustomPrompt="1"/>
          </p:nvPr>
        </p:nvSpPr>
        <p:spPr>
          <a:xfrm>
            <a:off x="4572000" y="1059582"/>
            <a:ext cx="4320480" cy="33843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9533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большой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0" y="1059582"/>
            <a:ext cx="9144000" cy="4083918"/>
          </a:xfrm>
          <a:solidFill>
            <a:schemeClr val="bg1">
              <a:lumMod val="75000"/>
            </a:schemeClr>
          </a:solidFill>
          <a:ln>
            <a:solidFill>
              <a:srgbClr val="000000">
                <a:alpha val="21176"/>
              </a:srgbClr>
            </a:solidFill>
          </a:ln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фото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23528" y="267494"/>
            <a:ext cx="3610744" cy="421555"/>
          </a:xfrm>
        </p:spPr>
        <p:txBody>
          <a:bodyPr>
            <a:noAutofit/>
          </a:bodyPr>
          <a:lstStyle>
            <a:lvl1pPr algn="l">
              <a:defRPr sz="28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3" name="Прямоугольник 2"/>
          <p:cNvSpPr/>
          <p:nvPr userDrawn="1"/>
        </p:nvSpPr>
        <p:spPr>
          <a:xfrm>
            <a:off x="323528" y="4299942"/>
            <a:ext cx="8820472" cy="504056"/>
          </a:xfrm>
          <a:prstGeom prst="rect">
            <a:avLst/>
          </a:prstGeom>
          <a:solidFill>
            <a:srgbClr val="FFFFFF">
              <a:alpha val="5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одзаголовок 2"/>
          <p:cNvSpPr>
            <a:spLocks noGrp="1"/>
          </p:cNvSpPr>
          <p:nvPr>
            <p:ph type="subTitle" idx="13" hasCustomPrompt="1"/>
          </p:nvPr>
        </p:nvSpPr>
        <p:spPr>
          <a:xfrm>
            <a:off x="323528" y="4316113"/>
            <a:ext cx="8640960" cy="50405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ru-RU" sz="1600" baseline="0" dirty="0">
                <a:solidFill>
                  <a:schemeClr val="bg1"/>
                </a:solidFill>
              </a:rPr>
              <a:t>Санкт-Петербургский государственный университет</a:t>
            </a:r>
          </a:p>
        </p:txBody>
      </p:sp>
    </p:spTree>
    <p:extLst>
      <p:ext uri="{BB962C8B-B14F-4D97-AF65-F5344CB8AC3E}">
        <p14:creationId xmlns:p14="http://schemas.microsoft.com/office/powerpoint/2010/main" val="4025799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/>
          <p:cNvSpPr txBox="1">
            <a:spLocks/>
          </p:cNvSpPr>
          <p:nvPr userDrawn="1"/>
        </p:nvSpPr>
        <p:spPr>
          <a:xfrm>
            <a:off x="380057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  <p:sp>
        <p:nvSpPr>
          <p:cNvPr id="7" name="Заголовок 1"/>
          <p:cNvSpPr txBox="1">
            <a:spLocks/>
          </p:cNvSpPr>
          <p:nvPr userDrawn="1"/>
        </p:nvSpPr>
        <p:spPr>
          <a:xfrm>
            <a:off x="323528" y="267494"/>
            <a:ext cx="3610744" cy="4215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Колонтитул</a:t>
            </a:r>
            <a:endParaRPr lang="ru-RU" dirty="0"/>
          </a:p>
        </p:txBody>
      </p:sp>
      <p:sp>
        <p:nvSpPr>
          <p:cNvPr id="9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323528" y="1131590"/>
            <a:ext cx="8568952" cy="360040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995936" y="3939902"/>
            <a:ext cx="1201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5E7076"/>
                </a:solidFill>
                <a:latin typeface="+mj-lt"/>
              </a:rPr>
              <a:t>СПАСИБО!</a:t>
            </a:r>
          </a:p>
        </p:txBody>
      </p:sp>
    </p:spTree>
    <p:extLst>
      <p:ext uri="{BB962C8B-B14F-4D97-AF65-F5344CB8AC3E}">
        <p14:creationId xmlns:p14="http://schemas.microsoft.com/office/powerpoint/2010/main" val="403919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7D4DF-2351-4A60-A90B-60ED82532F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8191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0" r:id="rId3"/>
    <p:sldLayoutId id="2147483661" r:id="rId4"/>
    <p:sldLayoutId id="2147483654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Искусственный интеллект в сфере образования. Типы решаемых задач. Особенности.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075806"/>
            <a:ext cx="6400800" cy="1314450"/>
          </a:xfrm>
        </p:spPr>
        <p:txBody>
          <a:bodyPr>
            <a:normAutofit/>
          </a:bodyPr>
          <a:lstStyle/>
          <a:p>
            <a:r>
              <a:rPr lang="ru-RU" sz="2400" dirty="0"/>
              <a:t>Выполнила: Мозоль Инга</a:t>
            </a:r>
          </a:p>
          <a:p>
            <a:r>
              <a:rPr lang="ru-RU" sz="2400" dirty="0"/>
              <a:t>Группа: 305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4BE04147-3733-4037-85A1-FD0E02DD9260}"/>
              </a:ext>
            </a:extLst>
          </p:cNvPr>
          <p:cNvSpPr txBox="1">
            <a:spLocks/>
          </p:cNvSpPr>
          <p:nvPr/>
        </p:nvSpPr>
        <p:spPr>
          <a:xfrm>
            <a:off x="1280668" y="447675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/>
              <a:t>Факультет Прикладной математики – Процессов управления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350287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86E0E42-8EF8-4100-8202-5F2D88A5D1A4}"/>
              </a:ext>
            </a:extLst>
          </p:cNvPr>
          <p:cNvSpPr/>
          <p:nvPr/>
        </p:nvSpPr>
        <p:spPr>
          <a:xfrm>
            <a:off x="323527" y="267494"/>
            <a:ext cx="1944217" cy="4320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23527" y="195486"/>
            <a:ext cx="8704741" cy="504056"/>
          </a:xfrm>
        </p:spPr>
        <p:txBody>
          <a:bodyPr/>
          <a:lstStyle/>
          <a:p>
            <a:r>
              <a:rPr lang="ru-RU" dirty="0"/>
              <a:t>Данные и их особенности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511" y="923117"/>
            <a:ext cx="4248473" cy="3024336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A02A1D"/>
                </a:solidFill>
              </a:rPr>
              <a:t>Цифровой след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A02A1D"/>
                </a:solidFill>
              </a:rPr>
              <a:t>Логины;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A02A1D"/>
                </a:solidFill>
              </a:rPr>
              <a:t>Время, проведенное на платформе;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A02A1D"/>
                </a:solidFill>
              </a:rPr>
              <a:t>Количество попыток теста;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A02A1D"/>
                </a:solidFill>
              </a:rPr>
              <a:t>Просмотры видео;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A02A1D"/>
                </a:solidFill>
              </a:rPr>
              <a:t>Время между действиями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3A1222-E660-4D6D-93D0-FD41AF0FAFE7}"/>
              </a:ext>
            </a:extLst>
          </p:cNvPr>
          <p:cNvSpPr txBox="1"/>
          <p:nvPr/>
        </p:nvSpPr>
        <p:spPr>
          <a:xfrm>
            <a:off x="4572000" y="983798"/>
            <a:ext cx="40324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A02A1D"/>
                </a:solidFill>
              </a:rPr>
              <a:t>Проблемы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A02A1D"/>
                </a:solidFill>
              </a:rPr>
              <a:t>Шум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A02A1D"/>
                </a:solidFill>
              </a:rPr>
              <a:t>Несбалансированность</a:t>
            </a:r>
          </a:p>
        </p:txBody>
      </p:sp>
      <p:sp>
        <p:nvSpPr>
          <p:cNvPr id="6" name="Левая фигурная скобка 5">
            <a:extLst>
              <a:ext uri="{FF2B5EF4-FFF2-40B4-BE49-F238E27FC236}">
                <a16:creationId xmlns:a16="http://schemas.microsoft.com/office/drawing/2014/main" id="{03338BB1-E498-4441-92BC-5B61FE823AE8}"/>
              </a:ext>
            </a:extLst>
          </p:cNvPr>
          <p:cNvSpPr/>
          <p:nvPr/>
        </p:nvSpPr>
        <p:spPr>
          <a:xfrm flipH="1">
            <a:off x="3412600" y="1491630"/>
            <a:ext cx="720080" cy="2160240"/>
          </a:xfrm>
          <a:prstGeom prst="leftBrace">
            <a:avLst/>
          </a:prstGeom>
          <a:ln>
            <a:solidFill>
              <a:srgbClr val="5E70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D433B4-7B4A-478C-82C7-6BEF6A63FC69}"/>
              </a:ext>
            </a:extLst>
          </p:cNvPr>
          <p:cNvSpPr txBox="1"/>
          <p:nvPr/>
        </p:nvSpPr>
        <p:spPr>
          <a:xfrm>
            <a:off x="4063829" y="2321467"/>
            <a:ext cx="1224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i="1" dirty="0">
                <a:solidFill>
                  <a:srgbClr val="5E7076"/>
                </a:solidFill>
              </a:rPr>
              <a:t>Сырые данные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F1B053-E16D-4BCF-9B64-7604D97C522E}"/>
              </a:ext>
            </a:extLst>
          </p:cNvPr>
          <p:cNvSpPr txBox="1"/>
          <p:nvPr/>
        </p:nvSpPr>
        <p:spPr>
          <a:xfrm>
            <a:off x="575556" y="4144857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0" i="1" dirty="0">
                <a:solidFill>
                  <a:srgbClr val="5E7076"/>
                </a:solidFill>
                <a:effectLst/>
              </a:rPr>
              <a:t>Без правильной оценки качества модели мы рискуем принимать неверные решения о студентах!</a:t>
            </a:r>
            <a:endParaRPr lang="ru-RU" sz="1400" dirty="0">
              <a:solidFill>
                <a:srgbClr val="5E70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45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86E0E42-8EF8-4100-8202-5F2D88A5D1A4}"/>
              </a:ext>
            </a:extLst>
          </p:cNvPr>
          <p:cNvSpPr/>
          <p:nvPr/>
        </p:nvSpPr>
        <p:spPr>
          <a:xfrm>
            <a:off x="323527" y="267494"/>
            <a:ext cx="1944217" cy="4320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23527" y="218244"/>
            <a:ext cx="8704741" cy="504056"/>
          </a:xfrm>
        </p:spPr>
        <p:txBody>
          <a:bodyPr/>
          <a:lstStyle/>
          <a:p>
            <a:r>
              <a:rPr lang="ru-RU" dirty="0"/>
              <a:t>Архитектуры 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D5E09-8D2D-4945-B3C2-A858D07BE4A9}"/>
              </a:ext>
            </a:extLst>
          </p:cNvPr>
          <p:cNvSpPr txBox="1"/>
          <p:nvPr/>
        </p:nvSpPr>
        <p:spPr>
          <a:xfrm>
            <a:off x="539552" y="1059582"/>
            <a:ext cx="79208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5E7076"/>
                </a:solidFill>
                <a:effectLst/>
              </a:rPr>
              <a:t>Ансамбли алгоритмов (</a:t>
            </a:r>
            <a:r>
              <a:rPr lang="en-US" b="0" i="0" dirty="0">
                <a:solidFill>
                  <a:srgbClr val="5E7076"/>
                </a:solidFill>
                <a:effectLst/>
              </a:rPr>
              <a:t>Random Forest, </a:t>
            </a:r>
            <a:r>
              <a:rPr lang="en-US" b="0" i="0" dirty="0" err="1">
                <a:solidFill>
                  <a:srgbClr val="5E7076"/>
                </a:solidFill>
                <a:effectLst/>
              </a:rPr>
              <a:t>XGBoost</a:t>
            </a:r>
            <a:r>
              <a:rPr lang="en-US" b="0" i="0" dirty="0">
                <a:solidFill>
                  <a:srgbClr val="5E7076"/>
                </a:solidFill>
                <a:effectLst/>
              </a:rPr>
              <a:t>, </a:t>
            </a:r>
            <a:r>
              <a:rPr lang="en-US" b="0" i="0" dirty="0" err="1">
                <a:solidFill>
                  <a:srgbClr val="5E7076"/>
                </a:solidFill>
                <a:effectLst/>
              </a:rPr>
              <a:t>LightGBM</a:t>
            </a:r>
            <a:r>
              <a:rPr lang="en-US" b="0" i="0" dirty="0">
                <a:solidFill>
                  <a:srgbClr val="5E7076"/>
                </a:solidFill>
                <a:effectLst/>
              </a:rPr>
              <a:t>)</a:t>
            </a:r>
            <a:r>
              <a:rPr lang="ru-RU" b="0" i="0" dirty="0">
                <a:solidFill>
                  <a:srgbClr val="5E7076"/>
                </a:solidFill>
                <a:effectLst/>
              </a:rPr>
              <a:t>;</a:t>
            </a:r>
            <a:endParaRPr lang="en-US" b="0" i="0" dirty="0">
              <a:solidFill>
                <a:srgbClr val="5E7076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5E7076"/>
                </a:solidFill>
                <a:effectLst/>
              </a:rPr>
              <a:t>Рекуррентные нейросети (</a:t>
            </a:r>
            <a:r>
              <a:rPr lang="en-US" b="0" i="0" dirty="0">
                <a:solidFill>
                  <a:srgbClr val="5E7076"/>
                </a:solidFill>
                <a:effectLst/>
              </a:rPr>
              <a:t>LSTM, GRU)</a:t>
            </a:r>
            <a:r>
              <a:rPr lang="ru-RU" b="0" i="0" dirty="0">
                <a:solidFill>
                  <a:srgbClr val="5E7076"/>
                </a:solidFill>
                <a:effectLst/>
              </a:rPr>
              <a:t>;</a:t>
            </a:r>
            <a:endParaRPr lang="en-US" b="0" i="0" dirty="0">
              <a:solidFill>
                <a:srgbClr val="5E7076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 err="1">
                <a:solidFill>
                  <a:srgbClr val="5E7076"/>
                </a:solidFill>
                <a:effectLst/>
              </a:rPr>
              <a:t>Свёрточные</a:t>
            </a:r>
            <a:r>
              <a:rPr lang="ru-RU" b="0" i="0" dirty="0">
                <a:solidFill>
                  <a:srgbClr val="5E7076"/>
                </a:solidFill>
                <a:effectLst/>
              </a:rPr>
              <a:t> нейросети (</a:t>
            </a:r>
            <a:r>
              <a:rPr lang="en-US" b="0" i="0" dirty="0">
                <a:solidFill>
                  <a:srgbClr val="5E7076"/>
                </a:solidFill>
                <a:effectLst/>
              </a:rPr>
              <a:t>CNN)</a:t>
            </a:r>
            <a:r>
              <a:rPr lang="ru-RU" b="0" i="0" dirty="0">
                <a:solidFill>
                  <a:srgbClr val="5E7076"/>
                </a:solidFill>
                <a:effectLst/>
              </a:rPr>
              <a:t>;</a:t>
            </a:r>
            <a:endParaRPr lang="en-US" b="0" i="0" dirty="0">
              <a:solidFill>
                <a:srgbClr val="5E7076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5E7076"/>
                </a:solidFill>
                <a:effectLst/>
              </a:rPr>
              <a:t>Трансформеры (</a:t>
            </a:r>
            <a:r>
              <a:rPr lang="en-US" b="0" i="0" dirty="0">
                <a:solidFill>
                  <a:srgbClr val="5E7076"/>
                </a:solidFill>
                <a:effectLst/>
              </a:rPr>
              <a:t>BERT)</a:t>
            </a:r>
            <a:r>
              <a:rPr lang="ru-RU" b="0" i="0" dirty="0">
                <a:solidFill>
                  <a:srgbClr val="5E7076"/>
                </a:solidFill>
                <a:effectLst/>
              </a:rPr>
              <a:t>;</a:t>
            </a:r>
            <a:endParaRPr lang="en-US" b="0" i="0" dirty="0">
              <a:solidFill>
                <a:srgbClr val="5E7076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 err="1">
                <a:solidFill>
                  <a:srgbClr val="5E7076"/>
                </a:solidFill>
                <a:effectLst/>
              </a:rPr>
              <a:t>Графовые</a:t>
            </a:r>
            <a:r>
              <a:rPr lang="ru-RU" b="0" i="0" dirty="0">
                <a:solidFill>
                  <a:srgbClr val="5E7076"/>
                </a:solidFill>
                <a:effectLst/>
              </a:rPr>
              <a:t> нейросети (</a:t>
            </a:r>
            <a:r>
              <a:rPr lang="en-US" b="0" i="0" dirty="0">
                <a:solidFill>
                  <a:srgbClr val="5E7076"/>
                </a:solidFill>
                <a:effectLst/>
              </a:rPr>
              <a:t>GNN)</a:t>
            </a:r>
            <a:r>
              <a:rPr lang="ru-RU" b="0" i="0" dirty="0">
                <a:solidFill>
                  <a:srgbClr val="5E7076"/>
                </a:solidFill>
                <a:effectLst/>
              </a:rPr>
              <a:t>;</a:t>
            </a:r>
            <a:endParaRPr lang="en-US" b="0" i="0" dirty="0">
              <a:solidFill>
                <a:srgbClr val="5E7076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5E7076"/>
                </a:solidFill>
                <a:effectLst/>
              </a:rPr>
              <a:t>Вариационные </a:t>
            </a:r>
            <a:r>
              <a:rPr lang="ru-RU" b="0" i="0" dirty="0" err="1">
                <a:solidFill>
                  <a:srgbClr val="5E7076"/>
                </a:solidFill>
                <a:effectLst/>
              </a:rPr>
              <a:t>автоэнкодеры</a:t>
            </a:r>
            <a:r>
              <a:rPr lang="ru-RU" b="0" i="0" dirty="0">
                <a:solidFill>
                  <a:srgbClr val="5E7076"/>
                </a:solidFill>
                <a:effectLst/>
              </a:rPr>
              <a:t> (</a:t>
            </a:r>
            <a:r>
              <a:rPr lang="en-US" b="0" i="0" dirty="0">
                <a:solidFill>
                  <a:srgbClr val="5E7076"/>
                </a:solidFill>
                <a:effectLst/>
              </a:rPr>
              <a:t>VAE)</a:t>
            </a:r>
            <a:r>
              <a:rPr lang="ru-RU" b="0" i="0" dirty="0">
                <a:solidFill>
                  <a:srgbClr val="5E7076"/>
                </a:solidFill>
                <a:effectLst/>
              </a:rPr>
              <a:t>;</a:t>
            </a:r>
            <a:endParaRPr lang="en-US" b="0" i="0" dirty="0">
              <a:solidFill>
                <a:srgbClr val="5E7076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5E7076"/>
                </a:solidFill>
                <a:effectLst/>
              </a:rPr>
              <a:t>Дистилляция знаний (</a:t>
            </a:r>
            <a:r>
              <a:rPr lang="en-US" b="0" i="0" dirty="0">
                <a:solidFill>
                  <a:srgbClr val="5E7076"/>
                </a:solidFill>
                <a:effectLst/>
              </a:rPr>
              <a:t>Knowledge Distillation)</a:t>
            </a:r>
            <a:r>
              <a:rPr lang="ru-RU" b="0" i="0" dirty="0">
                <a:solidFill>
                  <a:srgbClr val="5E7076"/>
                </a:solidFill>
                <a:effectLst/>
              </a:rPr>
              <a:t>;</a:t>
            </a:r>
            <a:endParaRPr lang="en-US" b="0" i="0" dirty="0">
              <a:solidFill>
                <a:srgbClr val="5E7076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5E7076"/>
                </a:solidFill>
                <a:effectLst/>
              </a:rPr>
              <a:t>Большие языковые модели (</a:t>
            </a:r>
            <a:r>
              <a:rPr lang="en-US" b="0" i="0" dirty="0">
                <a:solidFill>
                  <a:srgbClr val="5E7076"/>
                </a:solidFill>
                <a:effectLst/>
              </a:rPr>
              <a:t>LLM) — GPT, </a:t>
            </a:r>
            <a:r>
              <a:rPr lang="en-US" b="0" i="0" dirty="0" err="1">
                <a:solidFill>
                  <a:srgbClr val="5E7076"/>
                </a:solidFill>
                <a:effectLst/>
              </a:rPr>
              <a:t>LLaMA</a:t>
            </a:r>
            <a:r>
              <a:rPr lang="en-US" b="0" i="0" dirty="0">
                <a:solidFill>
                  <a:srgbClr val="5E7076"/>
                </a:solidFill>
                <a:effectLst/>
              </a:rPr>
              <a:t>, Mistral</a:t>
            </a:r>
            <a:r>
              <a:rPr lang="ru-RU" dirty="0">
                <a:solidFill>
                  <a:srgbClr val="5E7076"/>
                </a:solidFill>
              </a:rPr>
              <a:t>.</a:t>
            </a:r>
            <a:endParaRPr lang="en-US" b="0" i="0" dirty="0">
              <a:solidFill>
                <a:srgbClr val="5E7076"/>
              </a:solidFill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5337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86E0E42-8EF8-4100-8202-5F2D88A5D1A4}"/>
              </a:ext>
            </a:extLst>
          </p:cNvPr>
          <p:cNvSpPr/>
          <p:nvPr/>
        </p:nvSpPr>
        <p:spPr>
          <a:xfrm>
            <a:off x="323527" y="238694"/>
            <a:ext cx="1944217" cy="4320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23527" y="202690"/>
            <a:ext cx="8704741" cy="504056"/>
          </a:xfrm>
        </p:spPr>
        <p:txBody>
          <a:bodyPr/>
          <a:lstStyle/>
          <a:p>
            <a:r>
              <a:rPr lang="ru-RU" dirty="0"/>
              <a:t>Типы задач: 1. Кластеризация студентов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-180528" y="1704316"/>
            <a:ext cx="8704741" cy="302433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  <a:p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89515E-6007-425B-9038-997EC51EB2D0}"/>
              </a:ext>
            </a:extLst>
          </p:cNvPr>
          <p:cNvSpPr txBox="1"/>
          <p:nvPr/>
        </p:nvSpPr>
        <p:spPr>
          <a:xfrm>
            <a:off x="258164" y="883350"/>
            <a:ext cx="3600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A02A1D"/>
                </a:solidFill>
              </a:rPr>
              <a:t>Тип: </a:t>
            </a:r>
            <a:r>
              <a:rPr lang="ru-RU" dirty="0">
                <a:solidFill>
                  <a:srgbClr val="A02A1D"/>
                </a:solidFill>
              </a:rPr>
              <a:t>обучение без учителя (кластеризация)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A02A1D"/>
                </a:solidFill>
              </a:rPr>
              <a:t>Цель: </a:t>
            </a:r>
            <a:r>
              <a:rPr lang="ru-RU" dirty="0">
                <a:solidFill>
                  <a:srgbClr val="A02A1D"/>
                </a:solidFill>
              </a:rPr>
              <a:t>разбить студентов на группы по сходству поведения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A02A1D"/>
                </a:solidFill>
              </a:rPr>
              <a:t>Алгоритм: </a:t>
            </a:r>
            <a:r>
              <a:rPr lang="ru-RU" dirty="0">
                <a:solidFill>
                  <a:srgbClr val="A02A1D"/>
                </a:solidFill>
              </a:rPr>
              <a:t>K‑</a:t>
            </a:r>
            <a:r>
              <a:rPr lang="ru-RU" dirty="0" err="1">
                <a:solidFill>
                  <a:srgbClr val="A02A1D"/>
                </a:solidFill>
              </a:rPr>
              <a:t>means</a:t>
            </a:r>
            <a:r>
              <a:rPr lang="ru-RU" dirty="0">
                <a:solidFill>
                  <a:srgbClr val="A02A1D"/>
                </a:solidFill>
              </a:rPr>
              <a:t> (k — число групп)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DDBECC-8CF4-47E1-A225-46DB9B4C84A6}"/>
              </a:ext>
            </a:extLst>
          </p:cNvPr>
          <p:cNvSpPr txBox="1"/>
          <p:nvPr/>
        </p:nvSpPr>
        <p:spPr>
          <a:xfrm>
            <a:off x="4754700" y="3967195"/>
            <a:ext cx="4477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0" i="0" dirty="0">
                <a:solidFill>
                  <a:srgbClr val="5E7076"/>
                </a:solidFill>
                <a:effectLst/>
              </a:rPr>
              <a:t>Хорошая кластеризация: </a:t>
            </a:r>
            <a:r>
              <a:rPr lang="en-US" sz="1400" b="1" i="0" dirty="0">
                <a:solidFill>
                  <a:srgbClr val="5E7076"/>
                </a:solidFill>
                <a:effectLst/>
              </a:rPr>
              <a:t>S → 1</a:t>
            </a:r>
            <a:r>
              <a:rPr lang="en-US" sz="1400" b="0" i="0" dirty="0">
                <a:solidFill>
                  <a:srgbClr val="5E7076"/>
                </a:solidFill>
                <a:effectLst/>
              </a:rPr>
              <a:t>, </a:t>
            </a:r>
            <a:r>
              <a:rPr lang="en-US" sz="1400" b="1" i="0" dirty="0">
                <a:solidFill>
                  <a:srgbClr val="5E7076"/>
                </a:solidFill>
                <a:effectLst/>
              </a:rPr>
              <a:t>DBI → 0</a:t>
            </a:r>
            <a:br>
              <a:rPr lang="en-US" sz="1400" dirty="0">
                <a:solidFill>
                  <a:srgbClr val="5E7076"/>
                </a:solidFill>
              </a:rPr>
            </a:br>
            <a:r>
              <a:rPr lang="ru-RU" sz="1400" b="0" i="0" dirty="0">
                <a:solidFill>
                  <a:srgbClr val="5E7076"/>
                </a:solidFill>
                <a:effectLst/>
              </a:rPr>
              <a:t>Плохая: </a:t>
            </a:r>
            <a:r>
              <a:rPr lang="en-US" sz="1400" b="0" i="0" dirty="0">
                <a:solidFill>
                  <a:srgbClr val="5E7076"/>
                </a:solidFill>
                <a:effectLst/>
              </a:rPr>
              <a:t>S ≤ 0 </a:t>
            </a:r>
            <a:r>
              <a:rPr lang="ru-RU" sz="1400" b="0" i="0" dirty="0">
                <a:solidFill>
                  <a:srgbClr val="5E7076"/>
                </a:solidFill>
                <a:effectLst/>
              </a:rPr>
              <a:t>или </a:t>
            </a:r>
            <a:r>
              <a:rPr lang="en-US" sz="1400" b="0" i="0" dirty="0">
                <a:solidFill>
                  <a:srgbClr val="5E7076"/>
                </a:solidFill>
                <a:effectLst/>
              </a:rPr>
              <a:t>DBI </a:t>
            </a:r>
            <a:r>
              <a:rPr lang="ru-RU" sz="1400" b="0" i="0" dirty="0">
                <a:solidFill>
                  <a:srgbClr val="5E7076"/>
                </a:solidFill>
                <a:effectLst/>
              </a:rPr>
              <a:t>большой</a:t>
            </a:r>
            <a:endParaRPr lang="ru-RU" sz="1400" dirty="0">
              <a:solidFill>
                <a:srgbClr val="5E7076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1533267-43FB-49C3-B00F-C0B4BF3309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178" t="15564" r="13090" b="20078"/>
          <a:stretch/>
        </p:blipFill>
        <p:spPr>
          <a:xfrm>
            <a:off x="323527" y="2857116"/>
            <a:ext cx="2324425" cy="75410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784AA04-B592-4D0A-9EB5-0B0DCC661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1397077"/>
            <a:ext cx="2324424" cy="64779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2FC5FC5-7B9C-4B10-91D3-AB5B72E37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784" y="2622793"/>
            <a:ext cx="3086531" cy="8954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853762-D326-47E3-B28D-1DA3C41FF2CB}"/>
              </a:ext>
            </a:extLst>
          </p:cNvPr>
          <p:cNvSpPr txBox="1"/>
          <p:nvPr/>
        </p:nvSpPr>
        <p:spPr>
          <a:xfrm>
            <a:off x="365344" y="2487784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i="0" dirty="0">
                <a:solidFill>
                  <a:srgbClr val="5E7076"/>
                </a:solidFill>
                <a:effectLst/>
                <a:latin typeface="quote-cjk-patch"/>
              </a:rPr>
              <a:t>Формула </a:t>
            </a:r>
            <a:r>
              <a:rPr lang="en-US" b="1" i="0" dirty="0">
                <a:solidFill>
                  <a:srgbClr val="5E7076"/>
                </a:solidFill>
                <a:effectLst/>
                <a:latin typeface="quote-cjk-patch"/>
              </a:rPr>
              <a:t>K‑means</a:t>
            </a:r>
            <a:r>
              <a:rPr lang="ru-RU" b="1" i="0" dirty="0">
                <a:solidFill>
                  <a:srgbClr val="5E7076"/>
                </a:solidFill>
                <a:effectLst/>
                <a:latin typeface="quote-cjk-patch"/>
              </a:rPr>
              <a:t>:</a:t>
            </a:r>
            <a:endParaRPr lang="ru-RU" dirty="0">
              <a:solidFill>
                <a:srgbClr val="5E7076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6D9A10-D4F3-482E-AEAD-2F73AC084FC7}"/>
              </a:ext>
            </a:extLst>
          </p:cNvPr>
          <p:cNvSpPr txBox="1"/>
          <p:nvPr/>
        </p:nvSpPr>
        <p:spPr>
          <a:xfrm>
            <a:off x="323527" y="3561385"/>
            <a:ext cx="28083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E7076"/>
                </a:solidFill>
              </a:rPr>
              <a:t>Минимизируем сумму квадратов расстояний от точек до центров кластеров.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221A33-2434-4F3E-AFEF-08AAF1B75F49}"/>
              </a:ext>
            </a:extLst>
          </p:cNvPr>
          <p:cNvSpPr txBox="1"/>
          <p:nvPr/>
        </p:nvSpPr>
        <p:spPr>
          <a:xfrm>
            <a:off x="4639101" y="706746"/>
            <a:ext cx="396044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5E7076"/>
                </a:solidFill>
              </a:rPr>
              <a:t>Метрики качества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5E7076"/>
                </a:solidFill>
              </a:rPr>
              <a:t>Индекс силуэта: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solidFill>
                <a:srgbClr val="5E7076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ru-RU" dirty="0">
              <a:solidFill>
                <a:srgbClr val="5E7076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ru-RU" dirty="0">
              <a:solidFill>
                <a:srgbClr val="5E7076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ru-RU" sz="1400" dirty="0">
              <a:solidFill>
                <a:srgbClr val="5E7076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5E7076"/>
                </a:solidFill>
              </a:rPr>
              <a:t>Индекс Дэвиса–Болдуина (</a:t>
            </a:r>
            <a:r>
              <a:rPr lang="en-US" dirty="0">
                <a:solidFill>
                  <a:srgbClr val="5E7076"/>
                </a:solidFill>
              </a:rPr>
              <a:t>DBI):</a:t>
            </a:r>
            <a:endParaRPr lang="ru-RU" dirty="0">
              <a:solidFill>
                <a:srgbClr val="5E7076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ru-RU" sz="1400" dirty="0">
              <a:solidFill>
                <a:srgbClr val="5E70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517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86E0E42-8EF8-4100-8202-5F2D88A5D1A4}"/>
              </a:ext>
            </a:extLst>
          </p:cNvPr>
          <p:cNvSpPr/>
          <p:nvPr/>
        </p:nvSpPr>
        <p:spPr>
          <a:xfrm>
            <a:off x="323527" y="267494"/>
            <a:ext cx="1944217" cy="4320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23527" y="218244"/>
            <a:ext cx="8704741" cy="504056"/>
          </a:xfrm>
        </p:spPr>
        <p:txBody>
          <a:bodyPr/>
          <a:lstStyle/>
          <a:p>
            <a:r>
              <a:rPr lang="ru-RU" dirty="0"/>
              <a:t>Типы задач: 1. Кластеризация студентов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5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1652B3C-C7DA-4604-9EA2-68AEE6152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076" y="1111380"/>
            <a:ext cx="6481848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945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86E0E42-8EF8-4100-8202-5F2D88A5D1A4}"/>
              </a:ext>
            </a:extLst>
          </p:cNvPr>
          <p:cNvSpPr/>
          <p:nvPr/>
        </p:nvSpPr>
        <p:spPr>
          <a:xfrm>
            <a:off x="323527" y="267494"/>
            <a:ext cx="1944217" cy="4320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23527" y="218244"/>
            <a:ext cx="8704741" cy="504056"/>
          </a:xfrm>
        </p:spPr>
        <p:txBody>
          <a:bodyPr/>
          <a:lstStyle/>
          <a:p>
            <a:r>
              <a:rPr lang="ru-RU" dirty="0"/>
              <a:t>Типы задач: 2. Прогноз успеваемости и отчислений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6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2159830-1434-4DAA-9CA3-0118C9F97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3503933"/>
            <a:ext cx="4448796" cy="72400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981FED3-292D-42D0-AC85-03A6D9EC9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500" y="1406524"/>
            <a:ext cx="3162741" cy="5715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CB5649-3518-4104-99C4-1F0CAB773F71}"/>
              </a:ext>
            </a:extLst>
          </p:cNvPr>
          <p:cNvSpPr txBox="1"/>
          <p:nvPr/>
        </p:nvSpPr>
        <p:spPr>
          <a:xfrm>
            <a:off x="316055" y="915566"/>
            <a:ext cx="39604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A02A1D"/>
                </a:solidFill>
                <a:effectLst/>
              </a:rPr>
              <a:t>Тип: </a:t>
            </a:r>
            <a:r>
              <a:rPr lang="ru-RU" i="0" dirty="0">
                <a:solidFill>
                  <a:srgbClr val="A02A1D"/>
                </a:solidFill>
                <a:effectLst/>
              </a:rPr>
              <a:t>обучение с учителем </a:t>
            </a:r>
            <a:r>
              <a:rPr lang="ru-RU" b="0" i="0" dirty="0">
                <a:solidFill>
                  <a:srgbClr val="A02A1D"/>
                </a:solidFill>
                <a:effectLst/>
              </a:rPr>
              <a:t>(классификация)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A02A1D"/>
                </a:solidFill>
                <a:effectLst/>
              </a:rPr>
              <a:t>Цель: </a:t>
            </a:r>
            <a:r>
              <a:rPr lang="ru-RU" b="0" i="0" dirty="0">
                <a:solidFill>
                  <a:srgbClr val="A02A1D"/>
                </a:solidFill>
                <a:effectLst/>
              </a:rPr>
              <a:t>предсказать «сдаст/не сдаст», «отчислится/закончит»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A02A1D"/>
                </a:solidFill>
              </a:rPr>
              <a:t>Алгоритм</a:t>
            </a:r>
            <a:r>
              <a:rPr lang="ru-RU" b="1" i="0" dirty="0">
                <a:solidFill>
                  <a:srgbClr val="A02A1D"/>
                </a:solidFill>
                <a:effectLst/>
              </a:rPr>
              <a:t>: </a:t>
            </a:r>
            <a:r>
              <a:rPr lang="ru-RU" i="0" dirty="0">
                <a:solidFill>
                  <a:srgbClr val="A02A1D"/>
                </a:solidFill>
                <a:effectLst/>
              </a:rPr>
              <a:t>Метод опорных векторов (</a:t>
            </a:r>
            <a:r>
              <a:rPr lang="en-US" i="0" dirty="0">
                <a:solidFill>
                  <a:srgbClr val="A02A1D"/>
                </a:solidFill>
                <a:effectLst/>
              </a:rPr>
              <a:t>SVM) 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27AE4D-432B-4DA7-8F29-69880C1EF8BA}"/>
              </a:ext>
            </a:extLst>
          </p:cNvPr>
          <p:cNvSpPr txBox="1"/>
          <p:nvPr/>
        </p:nvSpPr>
        <p:spPr>
          <a:xfrm>
            <a:off x="286661" y="2783055"/>
            <a:ext cx="331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i="0" dirty="0">
                <a:solidFill>
                  <a:srgbClr val="5E7076"/>
                </a:solidFill>
                <a:effectLst/>
              </a:rPr>
              <a:t>Функция потерь (SVM с регуляризацией):</a:t>
            </a:r>
            <a:endParaRPr lang="ru-RU" dirty="0">
              <a:solidFill>
                <a:srgbClr val="5E707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2E46AB-56D6-4CE7-8C59-FC805B6CD27B}"/>
              </a:ext>
            </a:extLst>
          </p:cNvPr>
          <p:cNvSpPr txBox="1"/>
          <p:nvPr/>
        </p:nvSpPr>
        <p:spPr>
          <a:xfrm>
            <a:off x="5622596" y="903263"/>
            <a:ext cx="2775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Случай нелинейности данных!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E13F73-5130-4E81-A6FD-5AE693832B4A}"/>
              </a:ext>
            </a:extLst>
          </p:cNvPr>
          <p:cNvSpPr txBox="1"/>
          <p:nvPr/>
        </p:nvSpPr>
        <p:spPr>
          <a:xfrm>
            <a:off x="4612650" y="1478456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5E7076"/>
                </a:solidFill>
                <a:effectLst/>
                <a:latin typeface="quote-cjk-patch"/>
              </a:rPr>
              <a:t>RBF-</a:t>
            </a:r>
            <a:r>
              <a:rPr lang="ru-RU" b="1" i="0" dirty="0">
                <a:solidFill>
                  <a:srgbClr val="5E7076"/>
                </a:solidFill>
                <a:effectLst/>
                <a:latin typeface="quote-cjk-patch"/>
              </a:rPr>
              <a:t>ядро: </a:t>
            </a:r>
            <a:endParaRPr lang="ru-RU" dirty="0">
              <a:solidFill>
                <a:srgbClr val="5E7076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3DD67B-979C-4BDC-AF14-543E07479818}"/>
              </a:ext>
            </a:extLst>
          </p:cNvPr>
          <p:cNvSpPr txBox="1"/>
          <p:nvPr/>
        </p:nvSpPr>
        <p:spPr>
          <a:xfrm>
            <a:off x="5393473" y="1926326"/>
            <a:ext cx="3025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i="1" dirty="0">
                <a:solidFill>
                  <a:srgbClr val="5E7076"/>
                </a:solidFill>
              </a:rPr>
              <a:t>И</a:t>
            </a:r>
            <a:r>
              <a:rPr lang="ru-RU" sz="1400" b="0" i="1" dirty="0">
                <a:solidFill>
                  <a:srgbClr val="5E7076"/>
                </a:solidFill>
                <a:effectLst/>
              </a:rPr>
              <a:t>змеряет «похожесть» точек; γ — параметр чувствительности</a:t>
            </a:r>
            <a:endParaRPr lang="ru-RU" sz="1400" i="1" dirty="0">
              <a:solidFill>
                <a:srgbClr val="5E7076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A240B3-4F60-4947-ABCA-D69D25D4BECF}"/>
              </a:ext>
            </a:extLst>
          </p:cNvPr>
          <p:cNvSpPr txBox="1"/>
          <p:nvPr/>
        </p:nvSpPr>
        <p:spPr>
          <a:xfrm>
            <a:off x="5594719" y="256423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5E7076"/>
                </a:solidFill>
              </a:rPr>
              <a:t>Метрика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B10BC2-7492-4BA4-A66B-F09B1DEF8C85}"/>
              </a:ext>
            </a:extLst>
          </p:cNvPr>
          <p:cNvSpPr txBox="1"/>
          <p:nvPr/>
        </p:nvSpPr>
        <p:spPr>
          <a:xfrm>
            <a:off x="5255612" y="2903663"/>
            <a:ext cx="319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5E7076"/>
                </a:solidFill>
                <a:effectLst/>
              </a:rPr>
              <a:t>ROC-AUC</a:t>
            </a:r>
            <a:r>
              <a:rPr lang="en-US" b="0" i="0" dirty="0">
                <a:solidFill>
                  <a:srgbClr val="5E7076"/>
                </a:solidFill>
                <a:effectLst/>
              </a:rPr>
              <a:t> (Area Under the ROC Curve)</a:t>
            </a:r>
            <a:endParaRPr lang="ru-RU" dirty="0">
              <a:solidFill>
                <a:srgbClr val="5E70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418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86E0E42-8EF8-4100-8202-5F2D88A5D1A4}"/>
              </a:ext>
            </a:extLst>
          </p:cNvPr>
          <p:cNvSpPr/>
          <p:nvPr/>
        </p:nvSpPr>
        <p:spPr>
          <a:xfrm>
            <a:off x="323527" y="267494"/>
            <a:ext cx="1944217" cy="4320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73840" y="203844"/>
            <a:ext cx="8704741" cy="504056"/>
          </a:xfrm>
        </p:spPr>
        <p:txBody>
          <a:bodyPr/>
          <a:lstStyle/>
          <a:p>
            <a:r>
              <a:rPr lang="ru-RU" dirty="0"/>
              <a:t>Типы задач: 2. Прогноз успеваемости и отчислений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7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54AF4C0-F569-4E9A-82C9-8EC7727C7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987574"/>
            <a:ext cx="4014922" cy="3133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EE7745-A76C-4691-9D8D-8ED4CF440DB4}"/>
              </a:ext>
            </a:extLst>
          </p:cNvPr>
          <p:cNvSpPr txBox="1"/>
          <p:nvPr/>
        </p:nvSpPr>
        <p:spPr>
          <a:xfrm>
            <a:off x="1682917" y="4157100"/>
            <a:ext cx="28890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5E7076"/>
                </a:solidFill>
                <a:effectLst/>
              </a:rPr>
              <a:t>ROC</a:t>
            </a:r>
            <a:r>
              <a:rPr lang="ru-RU" sz="1400" b="1" i="1" dirty="0">
                <a:solidFill>
                  <a:srgbClr val="5E7076"/>
                </a:solidFill>
                <a:effectLst/>
              </a:rPr>
              <a:t> </a:t>
            </a:r>
            <a:r>
              <a:rPr lang="ru-RU" sz="1400" i="1" dirty="0">
                <a:solidFill>
                  <a:srgbClr val="5E7076"/>
                </a:solidFill>
                <a:effectLst/>
              </a:rPr>
              <a:t>кривая с площадью под ней.</a:t>
            </a:r>
            <a:r>
              <a:rPr lang="en-US" sz="1400" i="1" dirty="0">
                <a:solidFill>
                  <a:srgbClr val="5E7076"/>
                </a:solidFill>
                <a:effectLst/>
              </a:rPr>
              <a:t> </a:t>
            </a:r>
            <a:endParaRPr lang="ru-RU" sz="1400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49067-3BE7-48A6-87CB-B9276A2B5611}"/>
              </a:ext>
            </a:extLst>
          </p:cNvPr>
          <p:cNvSpPr txBox="1"/>
          <p:nvPr/>
        </p:nvSpPr>
        <p:spPr>
          <a:xfrm>
            <a:off x="5436096" y="946261"/>
            <a:ext cx="280831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0" dirty="0">
                <a:solidFill>
                  <a:srgbClr val="A02A1D"/>
                </a:solidFill>
                <a:effectLst/>
                <a:latin typeface="quote-cjk-patch"/>
              </a:rPr>
              <a:t>ROC-AUC</a:t>
            </a:r>
            <a:r>
              <a:rPr lang="ru-RU" b="1" i="0" dirty="0">
                <a:solidFill>
                  <a:srgbClr val="A02A1D"/>
                </a:solidFill>
                <a:effectLst/>
                <a:latin typeface="quote-cjk-patch"/>
              </a:rPr>
              <a:t>:</a:t>
            </a:r>
            <a:endParaRPr lang="ru-RU" b="0" i="0" dirty="0">
              <a:solidFill>
                <a:srgbClr val="A02A1D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A02A1D"/>
                </a:solidFill>
                <a:effectLst/>
              </a:rPr>
              <a:t>Показывает, насколько хорошо модель различает классы;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A02A1D"/>
                </a:solidFill>
                <a:effectLst/>
              </a:rPr>
              <a:t>Не зависит от дисбаланса классов;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A02A1D"/>
                </a:solidFill>
                <a:effectLst/>
              </a:rPr>
              <a:t>0,5 — случайное угадывание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A02A1D"/>
                </a:solidFill>
                <a:effectLst/>
              </a:rPr>
              <a:t>1,0 — идеальное разделение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A02A1D"/>
                </a:solidFill>
                <a:effectLst/>
              </a:rPr>
              <a:t>&gt;0,8 — хорошо, &gt;0,9 — отлично</a:t>
            </a:r>
            <a:endParaRPr lang="ru-RU" b="0" i="0" dirty="0">
              <a:solidFill>
                <a:srgbClr val="A02A1D"/>
              </a:solidFill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9228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86E0E42-8EF8-4100-8202-5F2D88A5D1A4}"/>
              </a:ext>
            </a:extLst>
          </p:cNvPr>
          <p:cNvSpPr/>
          <p:nvPr/>
        </p:nvSpPr>
        <p:spPr>
          <a:xfrm>
            <a:off x="323527" y="267494"/>
            <a:ext cx="1944217" cy="4320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23527" y="218244"/>
            <a:ext cx="8704741" cy="504056"/>
          </a:xfrm>
        </p:spPr>
        <p:txBody>
          <a:bodyPr/>
          <a:lstStyle/>
          <a:p>
            <a:r>
              <a:rPr lang="ru-RU" dirty="0"/>
              <a:t>Типы задач: 3. Поиск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dirty="0"/>
              <a:t>аномалий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8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0D95D62-FF2B-41C1-A5B7-FAF6870A3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278195"/>
            <a:ext cx="3086531" cy="990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9EE1B0-09D1-46A3-B35F-040540D34076}"/>
              </a:ext>
            </a:extLst>
          </p:cNvPr>
          <p:cNvSpPr txBox="1"/>
          <p:nvPr/>
        </p:nvSpPr>
        <p:spPr>
          <a:xfrm>
            <a:off x="323527" y="844694"/>
            <a:ext cx="30462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A02A1D"/>
                </a:solidFill>
              </a:rPr>
              <a:t>Тип: </a:t>
            </a:r>
            <a:r>
              <a:rPr lang="ru-RU" dirty="0">
                <a:solidFill>
                  <a:srgbClr val="A02A1D"/>
                </a:solidFill>
              </a:rPr>
              <a:t>обучение без учителя (поиск аномалий)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A02A1D"/>
                </a:solidFill>
              </a:rPr>
              <a:t>Цель: </a:t>
            </a:r>
            <a:r>
              <a:rPr lang="ru-RU" dirty="0">
                <a:solidFill>
                  <a:srgbClr val="A02A1D"/>
                </a:solidFill>
              </a:rPr>
              <a:t>найти необычные объекты, которые сильно отличаются от большинства.</a:t>
            </a:r>
            <a:r>
              <a:rPr lang="en-US" dirty="0">
                <a:solidFill>
                  <a:srgbClr val="A02A1D"/>
                </a:solidFill>
              </a:rPr>
              <a:t> (</a:t>
            </a:r>
            <a:r>
              <a:rPr lang="ru-RU" dirty="0">
                <a:solidFill>
                  <a:srgbClr val="A02A1D"/>
                </a:solidFill>
              </a:rPr>
              <a:t>списывание/тех. сбои)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A02A1D"/>
                </a:solidFill>
              </a:rPr>
              <a:t>Алгоритм: </a:t>
            </a:r>
            <a:r>
              <a:rPr lang="ru-RU" dirty="0">
                <a:solidFill>
                  <a:srgbClr val="A02A1D"/>
                </a:solidFill>
              </a:rPr>
              <a:t>изолирующий лес (</a:t>
            </a:r>
            <a:r>
              <a:rPr lang="ru-RU" dirty="0" err="1">
                <a:solidFill>
                  <a:srgbClr val="A02A1D"/>
                </a:solidFill>
              </a:rPr>
              <a:t>Isolation</a:t>
            </a:r>
            <a:r>
              <a:rPr lang="ru-RU" dirty="0">
                <a:solidFill>
                  <a:srgbClr val="A02A1D"/>
                </a:solidFill>
              </a:rPr>
              <a:t> </a:t>
            </a:r>
            <a:r>
              <a:rPr lang="ru-RU" dirty="0" err="1">
                <a:solidFill>
                  <a:srgbClr val="A02A1D"/>
                </a:solidFill>
              </a:rPr>
              <a:t>Forest</a:t>
            </a:r>
            <a:r>
              <a:rPr lang="ru-RU" dirty="0">
                <a:solidFill>
                  <a:srgbClr val="A02A1D"/>
                </a:solidFill>
              </a:rPr>
              <a:t>)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98DF64F-C767-446B-81F9-82C20EB2D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951452"/>
            <a:ext cx="4698397" cy="24102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33ACB4-FAEC-4828-BC5E-3896734615FA}"/>
              </a:ext>
            </a:extLst>
          </p:cNvPr>
          <p:cNvSpPr txBox="1"/>
          <p:nvPr/>
        </p:nvSpPr>
        <p:spPr>
          <a:xfrm>
            <a:off x="478523" y="3092043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solidFill>
                  <a:srgbClr val="5E7076"/>
                </a:solidFill>
                <a:effectLst/>
              </a:rPr>
              <a:t>Оценка аномальности:</a:t>
            </a:r>
            <a:endParaRPr lang="ru-RU" dirty="0">
              <a:solidFill>
                <a:srgbClr val="5E707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C24E04-7903-45DA-8FF1-3C83F9C3DEB3}"/>
              </a:ext>
            </a:extLst>
          </p:cNvPr>
          <p:cNvSpPr txBox="1"/>
          <p:nvPr/>
        </p:nvSpPr>
        <p:spPr>
          <a:xfrm>
            <a:off x="3433840" y="3421208"/>
            <a:ext cx="5458640" cy="1599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rgbClr val="5E7076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1400" dirty="0">
                <a:solidFill>
                  <a:srgbClr val="5E7076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→ 1 — точка </a:t>
            </a:r>
            <a:r>
              <a:rPr lang="ru-RU" sz="1400" b="1" dirty="0">
                <a:solidFill>
                  <a:srgbClr val="5E7076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очень аномальна</a:t>
            </a:r>
            <a:r>
              <a:rPr lang="ru-RU" sz="1400" dirty="0">
                <a:solidFill>
                  <a:srgbClr val="5E7076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(высокая вероятность, что это отклонение)</a:t>
            </a:r>
            <a:endParaRPr lang="ru-RU" sz="1400" dirty="0">
              <a:solidFill>
                <a:srgbClr val="5E7076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rgbClr val="5E7076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1400" dirty="0">
                <a:solidFill>
                  <a:srgbClr val="5E7076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≈0.5 — </a:t>
            </a:r>
            <a:r>
              <a:rPr lang="ru-RU" sz="1400" b="1" dirty="0">
                <a:solidFill>
                  <a:srgbClr val="5E7076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не отличается</a:t>
            </a:r>
            <a:r>
              <a:rPr lang="ru-RU" sz="1400" dirty="0">
                <a:solidFill>
                  <a:srgbClr val="5E7076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от случайного распределения</a:t>
            </a:r>
            <a:endParaRPr lang="ru-RU" sz="1400" dirty="0">
              <a:solidFill>
                <a:srgbClr val="5E7076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rgbClr val="5E7076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1400" dirty="0">
                <a:solidFill>
                  <a:srgbClr val="5E7076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→0</a:t>
            </a:r>
            <a:r>
              <a:rPr lang="ru-RU" sz="1400" i="1" dirty="0">
                <a:solidFill>
                  <a:srgbClr val="5E7076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rgbClr val="5E7076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— </a:t>
            </a:r>
            <a:r>
              <a:rPr lang="ru-RU" sz="1400" b="1" dirty="0">
                <a:solidFill>
                  <a:srgbClr val="5E7076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нормальная</a:t>
            </a:r>
            <a:r>
              <a:rPr lang="ru-RU" sz="1400" dirty="0">
                <a:solidFill>
                  <a:srgbClr val="5E7076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точка (трудно изолировать)</a:t>
            </a:r>
            <a:endParaRPr lang="ru-RU" sz="1400" dirty="0">
              <a:solidFill>
                <a:srgbClr val="5E7076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8823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86E0E42-8EF8-4100-8202-5F2D88A5D1A4}"/>
              </a:ext>
            </a:extLst>
          </p:cNvPr>
          <p:cNvSpPr/>
          <p:nvPr/>
        </p:nvSpPr>
        <p:spPr>
          <a:xfrm>
            <a:off x="323527" y="267494"/>
            <a:ext cx="1944217" cy="4320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23527" y="218244"/>
            <a:ext cx="8704741" cy="504056"/>
          </a:xfrm>
        </p:spPr>
        <p:txBody>
          <a:bodyPr/>
          <a:lstStyle/>
          <a:p>
            <a:r>
              <a:rPr lang="ru-RU" dirty="0"/>
              <a:t>Типы задач: 3. Поиск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dirty="0"/>
              <a:t>аномалий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083" y="1298364"/>
            <a:ext cx="8704741" cy="3024336"/>
          </a:xfrm>
        </p:spPr>
        <p:txBody>
          <a:bodyPr/>
          <a:lstStyle/>
          <a:p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85F316-E8D1-4DC5-B14A-B25EC1303FF9}"/>
              </a:ext>
            </a:extLst>
          </p:cNvPr>
          <p:cNvSpPr txBox="1"/>
          <p:nvPr/>
        </p:nvSpPr>
        <p:spPr>
          <a:xfrm>
            <a:off x="647564" y="1086574"/>
            <a:ext cx="324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i="0" dirty="0">
                <a:solidFill>
                  <a:srgbClr val="5E7076"/>
                </a:solidFill>
                <a:effectLst/>
              </a:rPr>
              <a:t>MV-кривая</a:t>
            </a:r>
            <a:r>
              <a:rPr lang="ru-RU" dirty="0">
                <a:solidFill>
                  <a:srgbClr val="5E7076"/>
                </a:solidFill>
              </a:rPr>
              <a:t> (</a:t>
            </a:r>
            <a:r>
              <a:rPr lang="ru-RU" b="0" i="0" dirty="0">
                <a:solidFill>
                  <a:srgbClr val="5E7076"/>
                </a:solidFill>
                <a:effectLst/>
              </a:rPr>
              <a:t>оценка аномалий без разметки)</a:t>
            </a:r>
            <a:endParaRPr lang="ru-RU" dirty="0">
              <a:solidFill>
                <a:srgbClr val="5E7076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D000940-B66C-4B6B-ACBA-D99DD7263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93" y="1816945"/>
            <a:ext cx="4561423" cy="6424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F175A5-A116-4895-9B68-0052024AA753}"/>
              </a:ext>
            </a:extLst>
          </p:cNvPr>
          <p:cNvSpPr txBox="1"/>
          <p:nvPr/>
        </p:nvSpPr>
        <p:spPr>
          <a:xfrm>
            <a:off x="539552" y="2405261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1" dirty="0">
                <a:solidFill>
                  <a:srgbClr val="5E7076"/>
                </a:solidFill>
                <a:effectLst/>
              </a:rPr>
              <a:t>MV-кривая = зависимость V от α</a:t>
            </a:r>
            <a:endParaRPr lang="ru-RU" dirty="0">
              <a:solidFill>
                <a:srgbClr val="5E7076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185F4F-8221-473C-9ABB-A8F983292093}"/>
              </a:ext>
            </a:extLst>
          </p:cNvPr>
          <p:cNvSpPr txBox="1"/>
          <p:nvPr/>
        </p:nvSpPr>
        <p:spPr>
          <a:xfrm rot="10800000" flipH="1" flipV="1">
            <a:off x="2850450" y="3287436"/>
            <a:ext cx="3731131" cy="67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b="1" dirty="0">
                <a:solidFill>
                  <a:srgbClr val="C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Площадь под MV-кривой</a:t>
            </a:r>
            <a:r>
              <a:rPr lang="ru-RU" sz="1800" dirty="0">
                <a:solidFill>
                  <a:srgbClr val="C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— чем меньше, тем лучше!</a:t>
            </a:r>
            <a:endParaRPr lang="ru-RU" sz="1800" dirty="0">
              <a:solidFill>
                <a:srgbClr val="C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F9AF31DE-C29E-415D-88BC-7CA797E95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448466"/>
              </p:ext>
            </p:extLst>
          </p:nvPr>
        </p:nvGraphicFramePr>
        <p:xfrm>
          <a:off x="4838309" y="1494433"/>
          <a:ext cx="3896222" cy="1280160"/>
        </p:xfrm>
        <a:graphic>
          <a:graphicData uri="http://schemas.openxmlformats.org/drawingml/2006/table">
            <a:tbl>
              <a:tblPr/>
              <a:tblGrid>
                <a:gridCol w="1948111">
                  <a:extLst>
                    <a:ext uri="{9D8B030D-6E8A-4147-A177-3AD203B41FA5}">
                      <a16:colId xmlns:a16="http://schemas.microsoft.com/office/drawing/2014/main" val="1895947066"/>
                    </a:ext>
                  </a:extLst>
                </a:gridCol>
                <a:gridCol w="1948111">
                  <a:extLst>
                    <a:ext uri="{9D8B030D-6E8A-4147-A177-3AD203B41FA5}">
                      <a16:colId xmlns:a16="http://schemas.microsoft.com/office/drawing/2014/main" val="4069475272"/>
                    </a:ext>
                  </a:extLst>
                </a:gridCol>
              </a:tblGrid>
              <a:tr h="557379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rgbClr val="5E7076"/>
                          </a:solidFill>
                          <a:effectLst/>
                          <a:latin typeface="+mn-lt"/>
                        </a:rPr>
                        <a:t>Аномалии компактны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rgbClr val="5E7076"/>
                          </a:solidFill>
                          <a:effectLst/>
                          <a:latin typeface="+mn-lt"/>
                        </a:rPr>
                        <a:t>Площадь под </a:t>
                      </a:r>
                      <a:r>
                        <a:rPr lang="en-US" sz="1600" b="0" dirty="0">
                          <a:solidFill>
                            <a:srgbClr val="5E7076"/>
                          </a:solidFill>
                          <a:effectLst/>
                          <a:latin typeface="+mn-lt"/>
                        </a:rPr>
                        <a:t>MV-</a:t>
                      </a:r>
                      <a:r>
                        <a:rPr lang="ru-RU" sz="1600" b="0" dirty="0">
                          <a:solidFill>
                            <a:srgbClr val="5E7076"/>
                          </a:solidFill>
                          <a:effectLst/>
                          <a:latin typeface="+mn-lt"/>
                        </a:rPr>
                        <a:t>кривой </a:t>
                      </a:r>
                      <a:r>
                        <a:rPr lang="ru-RU" sz="1600" b="1" dirty="0">
                          <a:solidFill>
                            <a:srgbClr val="5E7076"/>
                          </a:solidFill>
                          <a:effectLst/>
                          <a:latin typeface="+mn-lt"/>
                        </a:rPr>
                        <a:t>маленькая</a:t>
                      </a:r>
                      <a:r>
                        <a:rPr lang="ru-RU" sz="1600" b="0" dirty="0">
                          <a:solidFill>
                            <a:srgbClr val="5E7076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239218"/>
                  </a:ext>
                </a:extLst>
              </a:tr>
              <a:tr h="557379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rgbClr val="5E7076"/>
                          </a:solidFill>
                          <a:effectLst/>
                          <a:latin typeface="+mn-lt"/>
                        </a:rPr>
                        <a:t>Аномалии размазаны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rgbClr val="5E7076"/>
                          </a:solidFill>
                          <a:effectLst/>
                          <a:latin typeface="+mn-lt"/>
                        </a:rPr>
                        <a:t>Площадь под </a:t>
                      </a:r>
                      <a:r>
                        <a:rPr lang="en-US" sz="1600" b="0" dirty="0">
                          <a:solidFill>
                            <a:srgbClr val="5E7076"/>
                          </a:solidFill>
                          <a:effectLst/>
                          <a:latin typeface="+mn-lt"/>
                        </a:rPr>
                        <a:t>MV-</a:t>
                      </a:r>
                      <a:r>
                        <a:rPr lang="ru-RU" sz="1600" b="0" dirty="0">
                          <a:solidFill>
                            <a:srgbClr val="5E7076"/>
                          </a:solidFill>
                          <a:effectLst/>
                          <a:latin typeface="+mn-lt"/>
                        </a:rPr>
                        <a:t>кривой </a:t>
                      </a:r>
                      <a:r>
                        <a:rPr lang="ru-RU" sz="1600" b="1" dirty="0">
                          <a:solidFill>
                            <a:srgbClr val="5E7076"/>
                          </a:solidFill>
                          <a:effectLst/>
                          <a:latin typeface="+mn-lt"/>
                        </a:rPr>
                        <a:t>большая</a:t>
                      </a:r>
                      <a:r>
                        <a:rPr lang="ru-RU" sz="1600" b="0" dirty="0">
                          <a:solidFill>
                            <a:srgbClr val="5E7076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980288"/>
                  </a:ext>
                </a:extLst>
              </a:tr>
            </a:tbl>
          </a:graphicData>
        </a:graphic>
      </p:graphicFrame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948906D8-8B34-486C-BABD-C5FA1E92037F}"/>
              </a:ext>
            </a:extLst>
          </p:cNvPr>
          <p:cNvCxnSpPr>
            <a:cxnSpLocks/>
          </p:cNvCxnSpPr>
          <p:nvPr/>
        </p:nvCxnSpPr>
        <p:spPr>
          <a:xfrm>
            <a:off x="5991968" y="1816945"/>
            <a:ext cx="794452" cy="0"/>
          </a:xfrm>
          <a:prstGeom prst="straightConnector1">
            <a:avLst/>
          </a:prstGeom>
          <a:ln>
            <a:solidFill>
              <a:srgbClr val="5E707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37FA0134-4590-4F41-984E-4B17751A9061}"/>
              </a:ext>
            </a:extLst>
          </p:cNvPr>
          <p:cNvCxnSpPr>
            <a:cxnSpLocks/>
          </p:cNvCxnSpPr>
          <p:nvPr/>
        </p:nvCxnSpPr>
        <p:spPr>
          <a:xfrm>
            <a:off x="5991968" y="2394606"/>
            <a:ext cx="794452" cy="0"/>
          </a:xfrm>
          <a:prstGeom prst="straightConnector1">
            <a:avLst/>
          </a:prstGeom>
          <a:ln>
            <a:solidFill>
              <a:srgbClr val="5E707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331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86E0E42-8EF8-4100-8202-5F2D88A5D1A4}"/>
              </a:ext>
            </a:extLst>
          </p:cNvPr>
          <p:cNvSpPr/>
          <p:nvPr/>
        </p:nvSpPr>
        <p:spPr>
          <a:xfrm>
            <a:off x="323527" y="267494"/>
            <a:ext cx="1944217" cy="4320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23527" y="123478"/>
            <a:ext cx="8704741" cy="432048"/>
          </a:xfrm>
        </p:spPr>
        <p:txBody>
          <a:bodyPr/>
          <a:lstStyle/>
          <a:p>
            <a:r>
              <a:rPr lang="ru-RU" dirty="0"/>
              <a:t>Типы задач: 4. Поиск ассоциативных правил (рекомендация)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16178-9C25-4B06-A4C1-0FF85EFF3376}"/>
              </a:ext>
            </a:extLst>
          </p:cNvPr>
          <p:cNvSpPr txBox="1"/>
          <p:nvPr/>
        </p:nvSpPr>
        <p:spPr>
          <a:xfrm>
            <a:off x="373600" y="894439"/>
            <a:ext cx="3600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b="1" i="0" dirty="0">
                <a:solidFill>
                  <a:srgbClr val="C00000"/>
                </a:solidFill>
                <a:effectLst/>
              </a:rPr>
              <a:t>Тип:</a:t>
            </a:r>
            <a:r>
              <a:rPr lang="ru-RU" b="0" i="0" dirty="0">
                <a:solidFill>
                  <a:srgbClr val="C00000"/>
                </a:solidFill>
                <a:effectLst/>
              </a:rPr>
              <a:t> обучение без учителя (поиск ассоциативных правил)</a:t>
            </a:r>
          </a:p>
          <a:p>
            <a:pPr algn="l"/>
            <a:r>
              <a:rPr lang="ru-RU" b="1" i="0" dirty="0">
                <a:solidFill>
                  <a:srgbClr val="C00000"/>
                </a:solidFill>
                <a:effectLst/>
              </a:rPr>
              <a:t>Цель:</a:t>
            </a:r>
            <a:r>
              <a:rPr lang="ru-RU" b="0" i="0" dirty="0">
                <a:solidFill>
                  <a:srgbClr val="C00000"/>
                </a:solidFill>
                <a:effectLst/>
              </a:rPr>
              <a:t> найти правила вида «если A, то B» — какой курс следующий, какое видео дальше.</a:t>
            </a:r>
          </a:p>
          <a:p>
            <a:pPr algn="l"/>
            <a:r>
              <a:rPr lang="ru-RU" b="1" i="0" dirty="0">
                <a:solidFill>
                  <a:srgbClr val="C00000"/>
                </a:solidFill>
                <a:effectLst/>
              </a:rPr>
              <a:t>Алгоритм:</a:t>
            </a:r>
            <a:r>
              <a:rPr lang="ru-RU" b="0" i="0" dirty="0">
                <a:solidFill>
                  <a:srgbClr val="C00000"/>
                </a:solidFill>
                <a:effectLst/>
              </a:rPr>
              <a:t> </a:t>
            </a:r>
            <a:r>
              <a:rPr lang="ru-RU" b="0" i="0" dirty="0" err="1">
                <a:solidFill>
                  <a:srgbClr val="C00000"/>
                </a:solidFill>
                <a:effectLst/>
              </a:rPr>
              <a:t>Apriori</a:t>
            </a:r>
            <a:endParaRPr lang="ru-RU" b="0" i="0" dirty="0">
              <a:solidFill>
                <a:srgbClr val="C00000"/>
              </a:solidFill>
              <a:effectLst/>
            </a:endParaRPr>
          </a:p>
          <a:p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F3FF664-1F5B-4B81-91ED-379AAFBE0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59" y="1533411"/>
            <a:ext cx="4486905" cy="66098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E9A6459-951E-47F1-9323-D3DE4AD50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2438637"/>
            <a:ext cx="3600400" cy="86591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95DB7CA-2D91-499C-A339-88C2888BE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68" y="3648568"/>
            <a:ext cx="4009023" cy="7108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7486D6E-AA40-4511-8269-7C90BE490F9B}"/>
              </a:ext>
            </a:extLst>
          </p:cNvPr>
          <p:cNvSpPr txBox="1"/>
          <p:nvPr/>
        </p:nvSpPr>
        <p:spPr>
          <a:xfrm>
            <a:off x="4211959" y="770037"/>
            <a:ext cx="42484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5E7076"/>
                </a:solidFill>
              </a:rPr>
              <a:t>Метрики</a:t>
            </a:r>
          </a:p>
          <a:p>
            <a:pPr algn="l"/>
            <a:r>
              <a:rPr lang="ru-RU" sz="1400" i="0" dirty="0">
                <a:solidFill>
                  <a:srgbClr val="5E7076"/>
                </a:solidFill>
                <a:effectLst/>
              </a:rPr>
              <a:t>1.</a:t>
            </a:r>
            <a:r>
              <a:rPr lang="ru-RU" sz="1400" b="1" i="0" dirty="0">
                <a:solidFill>
                  <a:srgbClr val="5E7076"/>
                </a:solidFill>
                <a:effectLst/>
              </a:rPr>
              <a:t>Support (поддержка)</a:t>
            </a:r>
            <a:r>
              <a:rPr lang="ru-RU" sz="1400" b="0" i="0" dirty="0">
                <a:solidFill>
                  <a:srgbClr val="5E7076"/>
                </a:solidFill>
                <a:effectLst/>
              </a:rPr>
              <a:t> — насколько часто встречается набор {A, B}:</a:t>
            </a:r>
          </a:p>
          <a:p>
            <a:pPr algn="l"/>
            <a:endParaRPr lang="ru-RU" sz="1400" b="0" i="0" dirty="0">
              <a:solidFill>
                <a:srgbClr val="5E7076"/>
              </a:solidFill>
              <a:effectLst/>
            </a:endParaRPr>
          </a:p>
          <a:p>
            <a:endParaRPr lang="ru-RU" sz="1400" dirty="0">
              <a:solidFill>
                <a:srgbClr val="5E7076"/>
              </a:solidFill>
            </a:endParaRPr>
          </a:p>
          <a:p>
            <a:endParaRPr lang="ru-RU" sz="1400" dirty="0">
              <a:solidFill>
                <a:srgbClr val="5E7076"/>
              </a:solidFill>
            </a:endParaRPr>
          </a:p>
          <a:p>
            <a:r>
              <a:rPr lang="ru-RU" sz="1400" dirty="0">
                <a:solidFill>
                  <a:srgbClr val="5E7076"/>
                </a:solidFill>
              </a:rPr>
              <a:t>2.</a:t>
            </a: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sz="1400" b="1" i="0" dirty="0" err="1">
                <a:solidFill>
                  <a:srgbClr val="5E7076"/>
                </a:solidFill>
                <a:effectLst/>
              </a:rPr>
              <a:t>Confidence</a:t>
            </a:r>
            <a:r>
              <a:rPr lang="ru-RU" sz="1400" b="1" i="0" dirty="0">
                <a:solidFill>
                  <a:srgbClr val="5E7076"/>
                </a:solidFill>
                <a:effectLst/>
              </a:rPr>
              <a:t> (достоверность)</a:t>
            </a:r>
            <a:r>
              <a:rPr lang="ru-RU" sz="1400" b="0" i="0" dirty="0">
                <a:solidFill>
                  <a:srgbClr val="5E7076"/>
                </a:solidFill>
                <a:effectLst/>
              </a:rPr>
              <a:t> — условная вероятность B при условии A:</a:t>
            </a:r>
          </a:p>
          <a:p>
            <a:endParaRPr lang="ru-RU" sz="1400" dirty="0">
              <a:solidFill>
                <a:srgbClr val="5E7076"/>
              </a:solidFill>
            </a:endParaRPr>
          </a:p>
          <a:p>
            <a:endParaRPr lang="ru-RU" sz="1400" b="0" i="0" dirty="0">
              <a:solidFill>
                <a:srgbClr val="5E7076"/>
              </a:solidFill>
              <a:effectLst/>
            </a:endParaRPr>
          </a:p>
          <a:p>
            <a:endParaRPr lang="ru-RU" sz="1400" dirty="0">
              <a:solidFill>
                <a:srgbClr val="5E7076"/>
              </a:solidFill>
            </a:endParaRPr>
          </a:p>
          <a:p>
            <a:r>
              <a:rPr lang="ru-RU" sz="1400" b="0" i="0" dirty="0">
                <a:solidFill>
                  <a:srgbClr val="5E7076"/>
                </a:solidFill>
                <a:effectLst/>
              </a:rPr>
              <a:t>3.</a:t>
            </a:r>
            <a:r>
              <a:rPr lang="ru-RU" sz="1400" b="1" i="0" dirty="0">
                <a:solidFill>
                  <a:srgbClr val="5E7076"/>
                </a:solidFill>
                <a:effectLst/>
              </a:rPr>
              <a:t> </a:t>
            </a:r>
            <a:r>
              <a:rPr lang="ru-RU" sz="1400" b="1" i="0" dirty="0" err="1">
                <a:solidFill>
                  <a:srgbClr val="5E7076"/>
                </a:solidFill>
                <a:effectLst/>
              </a:rPr>
              <a:t>Lift</a:t>
            </a:r>
            <a:r>
              <a:rPr lang="ru-RU" sz="1400" b="1" i="0" dirty="0">
                <a:solidFill>
                  <a:srgbClr val="5E7076"/>
                </a:solidFill>
                <a:effectLst/>
              </a:rPr>
              <a:t> (подъём)</a:t>
            </a:r>
            <a:r>
              <a:rPr lang="ru-RU" sz="1400" b="0" i="0" dirty="0">
                <a:solidFill>
                  <a:srgbClr val="5E7076"/>
                </a:solidFill>
                <a:effectLst/>
              </a:rPr>
              <a:t> — насколько вероятность B увеличивается, если известно A:</a:t>
            </a:r>
          </a:p>
          <a:p>
            <a:endParaRPr lang="ru-RU" sz="1400" b="1" dirty="0">
              <a:solidFill>
                <a:srgbClr val="5E7076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A89827-3F80-463F-9B6F-078A4C490168}"/>
              </a:ext>
            </a:extLst>
          </p:cNvPr>
          <p:cNvSpPr txBox="1"/>
          <p:nvPr/>
        </p:nvSpPr>
        <p:spPr>
          <a:xfrm>
            <a:off x="732151" y="3280703"/>
            <a:ext cx="33123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 err="1">
                <a:solidFill>
                  <a:srgbClr val="5E7076"/>
                </a:solidFill>
                <a:effectLst/>
              </a:rPr>
              <a:t>Lift</a:t>
            </a:r>
            <a:r>
              <a:rPr lang="ru-RU" sz="1400" b="1" i="0" dirty="0">
                <a:solidFill>
                  <a:srgbClr val="5E7076"/>
                </a:solidFill>
                <a:effectLst/>
              </a:rPr>
              <a:t> = 1</a:t>
            </a:r>
            <a:r>
              <a:rPr lang="ru-RU" sz="1400" b="0" i="0" dirty="0">
                <a:solidFill>
                  <a:srgbClr val="5E7076"/>
                </a:solidFill>
                <a:effectLst/>
              </a:rPr>
              <a:t> — A и B независимы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 err="1">
                <a:solidFill>
                  <a:srgbClr val="5E7076"/>
                </a:solidFill>
                <a:effectLst/>
              </a:rPr>
              <a:t>Lift</a:t>
            </a:r>
            <a:r>
              <a:rPr lang="ru-RU" sz="1400" b="1" i="0" dirty="0">
                <a:solidFill>
                  <a:srgbClr val="5E7076"/>
                </a:solidFill>
                <a:effectLst/>
              </a:rPr>
              <a:t> &gt; 1</a:t>
            </a:r>
            <a:r>
              <a:rPr lang="ru-RU" sz="1400" b="0" i="0" dirty="0">
                <a:solidFill>
                  <a:srgbClr val="5E7076"/>
                </a:solidFill>
                <a:effectLst/>
              </a:rPr>
              <a:t> — положительная связь (A повышает вероятность B)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 err="1">
                <a:solidFill>
                  <a:srgbClr val="5E7076"/>
                </a:solidFill>
                <a:effectLst/>
              </a:rPr>
              <a:t>Lift</a:t>
            </a:r>
            <a:r>
              <a:rPr lang="ru-RU" sz="1400" b="1" i="0" dirty="0">
                <a:solidFill>
                  <a:srgbClr val="5E7076"/>
                </a:solidFill>
                <a:effectLst/>
              </a:rPr>
              <a:t> &lt; 1</a:t>
            </a:r>
            <a:r>
              <a:rPr lang="ru-RU" sz="1400" b="0" i="0" dirty="0">
                <a:solidFill>
                  <a:srgbClr val="5E7076"/>
                </a:solidFill>
                <a:effectLst/>
              </a:rPr>
              <a:t> — отрицательная связь (A понижает вероятность B)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8096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86E0E42-8EF8-4100-8202-5F2D88A5D1A4}"/>
              </a:ext>
            </a:extLst>
          </p:cNvPr>
          <p:cNvSpPr/>
          <p:nvPr/>
        </p:nvSpPr>
        <p:spPr>
          <a:xfrm>
            <a:off x="323527" y="267494"/>
            <a:ext cx="1944217" cy="4320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19629" y="117364"/>
            <a:ext cx="8704741" cy="504056"/>
          </a:xfrm>
        </p:spPr>
        <p:txBody>
          <a:bodyPr/>
          <a:lstStyle/>
          <a:p>
            <a:r>
              <a:rPr lang="ru-RU" dirty="0"/>
              <a:t>Типы задач: 4. Поиск ассоциативных правил (рекомендация)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DC1F3-B354-428A-9F84-29968D51A05B}"/>
              </a:ext>
            </a:extLst>
          </p:cNvPr>
          <p:cNvSpPr txBox="1"/>
          <p:nvPr/>
        </p:nvSpPr>
        <p:spPr>
          <a:xfrm>
            <a:off x="395536" y="941390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C00000"/>
                </a:solidFill>
              </a:rPr>
              <a:t>Пример: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DCE159-4D1A-4CC9-AD1A-F32397C8BF7C}"/>
              </a:ext>
            </a:extLst>
          </p:cNvPr>
          <p:cNvSpPr txBox="1"/>
          <p:nvPr/>
        </p:nvSpPr>
        <p:spPr>
          <a:xfrm>
            <a:off x="1115616" y="3088334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solidFill>
                  <a:srgbClr val="C00000"/>
                </a:solidFill>
                <a:effectLst/>
              </a:rPr>
              <a:t>Правило: Базы данных → </a:t>
            </a:r>
            <a:r>
              <a:rPr lang="en-US" b="1" i="0" dirty="0">
                <a:solidFill>
                  <a:srgbClr val="C00000"/>
                </a:solidFill>
                <a:effectLst/>
              </a:rPr>
              <a:t>Python</a:t>
            </a:r>
            <a:endParaRPr lang="ru-RU" b="1" dirty="0">
              <a:solidFill>
                <a:srgbClr val="C00000"/>
              </a:solidFill>
            </a:endParaRP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DA400F6E-49B2-495E-AAB5-565FB0B8F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080478"/>
              </p:ext>
            </p:extLst>
          </p:nvPr>
        </p:nvGraphicFramePr>
        <p:xfrm>
          <a:off x="539552" y="1507614"/>
          <a:ext cx="5730240" cy="1554480"/>
        </p:xfrm>
        <a:graphic>
          <a:graphicData uri="http://schemas.openxmlformats.org/drawingml/2006/table">
            <a:tbl>
              <a:tblPr/>
              <a:tblGrid>
                <a:gridCol w="1910080">
                  <a:extLst>
                    <a:ext uri="{9D8B030D-6E8A-4147-A177-3AD203B41FA5}">
                      <a16:colId xmlns:a16="http://schemas.microsoft.com/office/drawing/2014/main" val="775728492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700538058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1565162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effectLst/>
                          <a:latin typeface="quote-cjk-patch"/>
                        </a:rPr>
                        <a:t>N=1000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  <a:latin typeface="quote-cjk-patch"/>
                        </a:rPr>
                        <a:t>Python (500)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  <a:latin typeface="quote-cjk-patch"/>
                        </a:rPr>
                        <a:t>нет </a:t>
                      </a:r>
                      <a:r>
                        <a:rPr lang="en-US" b="1" dirty="0">
                          <a:effectLst/>
                          <a:latin typeface="quote-cjk-patch"/>
                        </a:rPr>
                        <a:t>Python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61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  <a:latin typeface="quote-cjk-patch"/>
                        </a:rPr>
                        <a:t>Базы данных</a:t>
                      </a:r>
                      <a:r>
                        <a:rPr lang="en-US" b="1" dirty="0">
                          <a:effectLst/>
                          <a:latin typeface="quote-cjk-patch"/>
                        </a:rPr>
                        <a:t> (400)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300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100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7916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quote-cjk-patch"/>
                        </a:rPr>
                        <a:t>нет БД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200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400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627332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3FEBB2D-3F2D-43D4-A9EB-A929ED66B50F}"/>
              </a:ext>
            </a:extLst>
          </p:cNvPr>
          <p:cNvSpPr txBox="1"/>
          <p:nvPr/>
        </p:nvSpPr>
        <p:spPr>
          <a:xfrm>
            <a:off x="5580112" y="2339927"/>
            <a:ext cx="30963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C00000"/>
                </a:solidFill>
                <a:effectLst/>
              </a:rPr>
              <a:t>Support</a:t>
            </a:r>
            <a:r>
              <a:rPr lang="ru-RU" b="0" i="0" dirty="0">
                <a:solidFill>
                  <a:srgbClr val="5E7076"/>
                </a:solidFill>
                <a:effectLst/>
              </a:rPr>
              <a:t> = 300/1000 = </a:t>
            </a:r>
            <a:r>
              <a:rPr lang="ru-RU" b="1" i="0" dirty="0">
                <a:solidFill>
                  <a:srgbClr val="C00000"/>
                </a:solidFill>
                <a:effectLst/>
              </a:rPr>
              <a:t>0,3</a:t>
            </a:r>
            <a:endParaRPr lang="ru-RU" b="0" i="0" dirty="0">
              <a:solidFill>
                <a:srgbClr val="C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C00000"/>
                </a:solidFill>
                <a:effectLst/>
              </a:rPr>
              <a:t>Confidence</a:t>
            </a:r>
            <a:r>
              <a:rPr lang="ru-RU" b="0" i="0" dirty="0">
                <a:solidFill>
                  <a:srgbClr val="5E7076"/>
                </a:solidFill>
                <a:effectLst/>
              </a:rPr>
              <a:t> = 300/400 = </a:t>
            </a:r>
            <a:r>
              <a:rPr lang="ru-RU" b="1" i="0" dirty="0">
                <a:solidFill>
                  <a:srgbClr val="C00000"/>
                </a:solidFill>
                <a:effectLst/>
              </a:rPr>
              <a:t>0,75</a:t>
            </a:r>
            <a:endParaRPr lang="ru-RU" b="0" i="0" dirty="0">
              <a:solidFill>
                <a:srgbClr val="C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C00000"/>
                </a:solidFill>
                <a:effectLst/>
              </a:rPr>
              <a:t>Lift</a:t>
            </a:r>
            <a:r>
              <a:rPr lang="ru-RU" b="0" i="0" dirty="0">
                <a:solidFill>
                  <a:srgbClr val="5E7076"/>
                </a:solidFill>
                <a:effectLst/>
              </a:rPr>
              <a:t> = 0,3 / (0,4×0,5) = </a:t>
            </a:r>
            <a:r>
              <a:rPr lang="ru-RU" b="1" i="0" dirty="0">
                <a:solidFill>
                  <a:srgbClr val="C00000"/>
                </a:solidFill>
                <a:effectLst/>
              </a:rPr>
              <a:t>1,5</a:t>
            </a:r>
            <a:endParaRPr lang="ru-RU" b="0" i="0" dirty="0">
              <a:solidFill>
                <a:srgbClr val="C00000"/>
              </a:solidFill>
              <a:effectLst/>
            </a:endParaRPr>
          </a:p>
          <a:p>
            <a:pPr algn="l"/>
            <a:r>
              <a:rPr lang="ru-RU" b="0" i="0" dirty="0">
                <a:solidFill>
                  <a:srgbClr val="5E7076"/>
                </a:solidFill>
                <a:effectLst/>
              </a:rPr>
              <a:t>→ Студенты с БД берут Python в</a:t>
            </a:r>
            <a:r>
              <a:rPr lang="ru-RU" b="0" i="0" dirty="0">
                <a:solidFill>
                  <a:srgbClr val="C00000"/>
                </a:solidFill>
                <a:effectLst/>
              </a:rPr>
              <a:t> </a:t>
            </a:r>
            <a:r>
              <a:rPr lang="ru-RU" b="1" i="0" dirty="0">
                <a:solidFill>
                  <a:srgbClr val="C00000"/>
                </a:solidFill>
                <a:effectLst/>
              </a:rPr>
              <a:t>1,5 раза чаще</a:t>
            </a:r>
            <a:r>
              <a:rPr lang="ru-RU" b="0" i="0" dirty="0">
                <a:solidFill>
                  <a:srgbClr val="C00000"/>
                </a:solidFill>
                <a:effectLst/>
              </a:rPr>
              <a:t> </a:t>
            </a:r>
            <a:r>
              <a:rPr lang="ru-RU" b="0" i="0" dirty="0">
                <a:solidFill>
                  <a:srgbClr val="5E7076"/>
                </a:solidFill>
                <a:effectLst/>
              </a:rPr>
              <a:t>случайного!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7480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86E0E42-8EF8-4100-8202-5F2D88A5D1A4}"/>
              </a:ext>
            </a:extLst>
          </p:cNvPr>
          <p:cNvSpPr/>
          <p:nvPr/>
        </p:nvSpPr>
        <p:spPr>
          <a:xfrm>
            <a:off x="323527" y="267494"/>
            <a:ext cx="1944217" cy="4320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23527" y="218244"/>
            <a:ext cx="8704741" cy="504056"/>
          </a:xfrm>
        </p:spPr>
        <p:txBody>
          <a:bodyPr/>
          <a:lstStyle/>
          <a:p>
            <a:r>
              <a:rPr lang="ru-RU" dirty="0"/>
              <a:t>Основные особенности и выводы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66640" y="1059582"/>
            <a:ext cx="8704741" cy="3024336"/>
          </a:xfrm>
        </p:spPr>
        <p:txBody>
          <a:bodyPr/>
          <a:lstStyle/>
          <a:p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B78530-67A2-4C0D-B66D-E1AFEC26C5A7}"/>
              </a:ext>
            </a:extLst>
          </p:cNvPr>
          <p:cNvSpPr txBox="1"/>
          <p:nvPr/>
        </p:nvSpPr>
        <p:spPr>
          <a:xfrm>
            <a:off x="380944" y="1275606"/>
            <a:ext cx="5400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C00000"/>
                </a:solidFill>
              </a:rPr>
              <a:t>Шум и несбалансированность данных;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C00000"/>
                </a:solidFill>
                <a:effectLst/>
                <a:ea typeface="Times New Roman" panose="02020603050405020304" pitchFamily="18" charset="0"/>
              </a:rPr>
              <a:t>Метрика ≠ истина;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C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Этическая ответственность;</a:t>
            </a:r>
            <a:endParaRPr lang="ru-RU" sz="1800" dirty="0">
              <a:solidFill>
                <a:srgbClr val="C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C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Временная нестабильность.</a:t>
            </a:r>
            <a:endParaRPr lang="ru-RU" sz="1800" dirty="0">
              <a:solidFill>
                <a:srgbClr val="C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122603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</TotalTime>
  <Words>689</Words>
  <Application>Microsoft Office PowerPoint</Application>
  <PresentationFormat>Экран (16:9)</PresentationFormat>
  <Paragraphs>125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quote-cjk-patch</vt:lpstr>
      <vt:lpstr>Symbol</vt:lpstr>
      <vt:lpstr>Тема Office</vt:lpstr>
      <vt:lpstr>Искусственный интеллект в сфере образования. Типы решаемых задач. Особенности.</vt:lpstr>
      <vt:lpstr>Данные и их особенности</vt:lpstr>
      <vt:lpstr>Архитектуры ИИ</vt:lpstr>
      <vt:lpstr>Типы задач: 1. Кластеризация студентов</vt:lpstr>
      <vt:lpstr>Типы задач: 1. Кластеризация студентов</vt:lpstr>
      <vt:lpstr>Типы задач: 2. Прогноз успеваемости и отчислений</vt:lpstr>
      <vt:lpstr>Типы задач: 2. Прогноз успеваемости и отчислений</vt:lpstr>
      <vt:lpstr>Типы задач: 3. Поиск аномалий</vt:lpstr>
      <vt:lpstr>Типы задач: 3. Поиск аномалий</vt:lpstr>
      <vt:lpstr>Типы задач: 4. Поиск ассоциативных правил (рекомендация)</vt:lpstr>
      <vt:lpstr>Типы задач: 4. Поиск ассоциативных правил (рекомендация)</vt:lpstr>
      <vt:lpstr>Основные особенности и выводы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</dc:title>
  <dc:creator>Баранова Ольга Владимировна</dc:creator>
  <cp:lastModifiedBy>Inga</cp:lastModifiedBy>
  <cp:revision>72</cp:revision>
  <dcterms:created xsi:type="dcterms:W3CDTF">2015-06-15T09:44:47Z</dcterms:created>
  <dcterms:modified xsi:type="dcterms:W3CDTF">2026-05-16T02:10:34Z</dcterms:modified>
</cp:coreProperties>
</file>