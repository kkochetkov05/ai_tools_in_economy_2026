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88" r:id="rId3"/>
    <p:sldId id="272" r:id="rId4"/>
    <p:sldId id="289" r:id="rId5"/>
    <p:sldId id="290" r:id="rId6"/>
    <p:sldId id="291" r:id="rId7"/>
    <p:sldId id="294" r:id="rId8"/>
    <p:sldId id="295" r:id="rId9"/>
    <p:sldId id="296" r:id="rId10"/>
    <p:sldId id="292" r:id="rId11"/>
    <p:sldId id="293" r:id="rId12"/>
    <p:sldId id="286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A1D"/>
    <a:srgbClr val="000000"/>
    <a:srgbClr val="5E707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-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-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793" autoAdjust="0"/>
  </p:normalViewPr>
  <p:slideViewPr>
    <p:cSldViewPr showGuides="1">
      <p:cViewPr>
        <p:scale>
          <a:sx n="110" d="100"/>
          <a:sy n="110" d="100"/>
        </p:scale>
        <p:origin x="-514" y="-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E57AF-17F8-4074-B199-13EDC5C91164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D7599-D370-4ABF-BD0A-1BED5BC5F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27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/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/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323247" y="833064"/>
            <a:ext cx="8705021" cy="58655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5E707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/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/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406C7-4D28-40E2-A2CB-00F1FE68E05F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D4DF-2351-4A60-A90B-60ED82532F7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511.1413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1131590"/>
            <a:ext cx="8496944" cy="2304256"/>
          </a:xfrm>
        </p:spPr>
        <p:txBody>
          <a:bodyPr>
            <a:noAutofit/>
          </a:bodyPr>
          <a:lstStyle/>
          <a:p>
            <a:r>
              <a:rPr lang="ru-RU" sz="4000" dirty="0"/>
              <a:t/>
            </a:r>
            <a:br>
              <a:rPr lang="ru-RU" sz="4000" dirty="0"/>
            </a:br>
            <a:r>
              <a:rPr lang="ru-RU" altLang="en-US" sz="3600" dirty="0" smtClean="0">
                <a:solidFill>
                  <a:schemeClr val="tx1"/>
                </a:solidFill>
              </a:rPr>
              <a:t>Метрики качества моделей. </a:t>
            </a:r>
            <a:r>
              <a:rPr lang="ru-RU" altLang="en-US" sz="3600" dirty="0">
                <a:solidFill>
                  <a:schemeClr val="tx1"/>
                </a:solidFill>
              </a:rPr>
              <a:t/>
            </a:r>
            <a:br>
              <a:rPr lang="ru-RU" altLang="en-US" sz="3600" dirty="0">
                <a:solidFill>
                  <a:schemeClr val="tx1"/>
                </a:solidFill>
              </a:rPr>
            </a:br>
            <a:r>
              <a:rPr lang="ru-RU" altLang="en-US" sz="3600" dirty="0" smtClean="0">
                <a:solidFill>
                  <a:schemeClr val="tx1"/>
                </a:solidFill>
              </a:rPr>
              <a:t>Проверка качества модели.</a:t>
            </a:r>
            <a:r>
              <a:rPr lang="ru-RU" sz="2000" dirty="0">
                <a:solidFill>
                  <a:schemeClr val="tx1"/>
                </a:solidFill>
              </a:rPr>
              <a:t/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1800" dirty="0" smtClean="0">
                <a:solidFill>
                  <a:schemeClr val="tx1"/>
                </a:solidFill>
              </a:rPr>
              <a:t>Направление </a:t>
            </a:r>
            <a:r>
              <a:rPr lang="ru-RU" sz="1800" dirty="0">
                <a:solidFill>
                  <a:schemeClr val="tx1"/>
                </a:solidFill>
              </a:rPr>
              <a:t>01.03.02 «Прикладная математика и информатика»</a:t>
            </a:r>
            <a:r>
              <a:rPr lang="ru-RU" sz="1600" dirty="0">
                <a:solidFill>
                  <a:schemeClr val="tx1"/>
                </a:solidFill>
              </a:rPr>
              <a:t/>
            </a:r>
            <a:br>
              <a:rPr lang="ru-RU" sz="1600" dirty="0">
                <a:solidFill>
                  <a:schemeClr val="tx1"/>
                </a:solidFill>
              </a:rPr>
            </a:b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72200" y="3795886"/>
            <a:ext cx="2664356" cy="580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dirty="0"/>
              <a:t>Выполнила: Смахтина Я. А.</a:t>
            </a:r>
          </a:p>
          <a:p>
            <a:r>
              <a:rPr lang="ru-RU" sz="1600" dirty="0"/>
              <a:t>Учебная группа: 23.Б02</a:t>
            </a:r>
          </a:p>
          <a:p>
            <a:endParaRPr lang="ru-RU" sz="1600" dirty="0"/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23247" y="1131590"/>
            <a:ext cx="8705021" cy="34458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2000" i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Классификация метрик качества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93362"/>
              </p:ext>
            </p:extLst>
          </p:nvPr>
        </p:nvGraphicFramePr>
        <p:xfrm>
          <a:off x="323528" y="1491630"/>
          <a:ext cx="8496945" cy="25202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0684"/>
                <a:gridCol w="2070684"/>
                <a:gridCol w="2142087"/>
                <a:gridCol w="2213490"/>
              </a:tblGrid>
              <a:tr h="580818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</a:rPr>
                        <a:t>Классическое 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ML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A0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</a:rPr>
                        <a:t>Метрики</a:t>
                      </a:r>
                      <a:r>
                        <a:rPr lang="ru-RU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</a:rPr>
                        <a:t>LLM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A0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</a:rPr>
                        <a:t>Агентные метрики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A02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bg1"/>
                          </a:solidFill>
                        </a:rPr>
                        <a:t>Метрики доверия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A02A1D"/>
                    </a:solidFill>
                  </a:tcPr>
                </a:tc>
              </a:tr>
              <a:tr h="1939462">
                <a:tc>
                  <a:txBody>
                    <a:bodyPr/>
                    <a:lstStyle/>
                    <a:p>
                      <a:pPr marL="0" indent="0" algn="l"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sz="1600" dirty="0" smtClean="0"/>
                        <a:t>○ MAE, MSE, RMSE</a:t>
                      </a:r>
                    </a:p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en-US" sz="1600" dirty="0" smtClean="0"/>
                        <a:t>○ Accuracy, Precision,</a:t>
                      </a:r>
                      <a:r>
                        <a:rPr lang="en-US" sz="1600" baseline="0" dirty="0" smtClean="0"/>
                        <a:t>  Recall</a:t>
                      </a:r>
                    </a:p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en-US" sz="1600" dirty="0" smtClean="0"/>
                        <a:t>○</a:t>
                      </a:r>
                      <a:r>
                        <a:rPr lang="en-US" sz="1600" kern="1200" dirty="0" smtClean="0"/>
                        <a:t> ROC-AUC, PR-AUC</a:t>
                      </a:r>
                    </a:p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en-US" sz="1600" dirty="0" smtClean="0"/>
                        <a:t>○ </a:t>
                      </a:r>
                      <a:r>
                        <a:rPr lang="en-US" sz="1600" kern="1200" dirty="0" smtClean="0"/>
                        <a:t>F1-score,</a:t>
                      </a:r>
                      <a:r>
                        <a:rPr lang="en-US" sz="1600" kern="1200" baseline="0" dirty="0" smtClean="0"/>
                        <a:t> F-beta</a:t>
                      </a:r>
                    </a:p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en-US" sz="1600" dirty="0" smtClean="0"/>
                        <a:t>○ </a:t>
                      </a:r>
                      <a:r>
                        <a:rPr lang="en-US" sz="1600" kern="1200" dirty="0" err="1" smtClean="0"/>
                        <a:t>Youden</a:t>
                      </a:r>
                      <a:r>
                        <a:rPr lang="en-US" sz="1600" kern="1200" dirty="0" smtClean="0"/>
                        <a:t> Index</a:t>
                      </a:r>
                      <a:endParaRPr lang="en-US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○ Semantic Entropy</a:t>
                      </a:r>
                    </a:p>
                    <a:p>
                      <a:pPr algn="l"/>
                      <a:r>
                        <a:rPr lang="en-US" sz="1600" dirty="0" smtClean="0"/>
                        <a:t>○ Hallucination Rate</a:t>
                      </a:r>
                    </a:p>
                    <a:p>
                      <a:pPr algn="l"/>
                      <a:r>
                        <a:rPr lang="en-US" sz="1600" dirty="0" smtClean="0"/>
                        <a:t>○ Perplexity</a:t>
                      </a:r>
                    </a:p>
                    <a:p>
                      <a:pPr algn="l"/>
                      <a:r>
                        <a:rPr lang="en-US" sz="1600" dirty="0" smtClean="0"/>
                        <a:t>○ BLEU, ROUGE,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BERTScore</a:t>
                      </a:r>
                      <a:endParaRPr lang="en-US" sz="1600" baseline="0" dirty="0" smtClean="0"/>
                    </a:p>
                    <a:p>
                      <a:pPr algn="l"/>
                      <a:r>
                        <a:rPr lang="en-US" sz="1600" dirty="0" smtClean="0"/>
                        <a:t>○ </a:t>
                      </a:r>
                      <a:r>
                        <a:rPr lang="en-US" sz="1600" baseline="0" dirty="0" smtClean="0"/>
                        <a:t>Calibration Error</a:t>
                      </a:r>
                      <a:endParaRPr lang="ru-RU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○ Success Rate (SR)</a:t>
                      </a:r>
                    </a:p>
                    <a:p>
                      <a:pPr algn="l"/>
                      <a:r>
                        <a:rPr lang="en-US" sz="1600" dirty="0" smtClean="0"/>
                        <a:t>○ Task Goal </a:t>
                      </a:r>
                    </a:p>
                    <a:p>
                      <a:pPr algn="l"/>
                      <a:r>
                        <a:rPr lang="en-US" sz="1600" dirty="0" smtClean="0"/>
                        <a:t>○ Completion</a:t>
                      </a:r>
                    </a:p>
                    <a:p>
                      <a:pPr algn="l"/>
                      <a:r>
                        <a:rPr lang="en-US" sz="1600" dirty="0" smtClean="0"/>
                        <a:t>Tool</a:t>
                      </a:r>
                      <a:r>
                        <a:rPr lang="en-US" sz="1600" baseline="0" dirty="0" smtClean="0"/>
                        <a:t> Use Accuracy</a:t>
                      </a:r>
                    </a:p>
                    <a:p>
                      <a:pPr algn="l"/>
                      <a:r>
                        <a:rPr lang="en-US" sz="1600" dirty="0" smtClean="0"/>
                        <a:t>○ </a:t>
                      </a:r>
                      <a:r>
                        <a:rPr lang="en-US" sz="1600" baseline="0" dirty="0" smtClean="0"/>
                        <a:t>Action </a:t>
                      </a:r>
                      <a:r>
                        <a:rPr lang="en-US" sz="1600" dirty="0" smtClean="0"/>
                        <a:t>Hallucination Rate</a:t>
                      </a:r>
                      <a:endParaRPr lang="ru-RU" sz="16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○ </a:t>
                      </a:r>
                      <a:r>
                        <a:rPr lang="en-US" sz="1600" kern="1200" dirty="0" smtClean="0">
                          <a:effectLst/>
                        </a:rPr>
                        <a:t>Reliability</a:t>
                      </a:r>
                      <a:endParaRPr lang="en-US" sz="1600" dirty="0" smtClean="0"/>
                    </a:p>
                    <a:p>
                      <a:pPr algn="l"/>
                      <a:r>
                        <a:rPr lang="en-US" sz="1600" dirty="0" smtClean="0"/>
                        <a:t>○ </a:t>
                      </a:r>
                      <a:r>
                        <a:rPr lang="en-US" sz="1600" kern="1200" dirty="0" smtClean="0">
                          <a:effectLst/>
                        </a:rPr>
                        <a:t>Calibration</a:t>
                      </a:r>
                    </a:p>
                    <a:p>
                      <a:pPr algn="l"/>
                      <a:r>
                        <a:rPr lang="en-US" sz="1600" dirty="0" smtClean="0"/>
                        <a:t>○ Robustness</a:t>
                      </a:r>
                    </a:p>
                    <a:p>
                      <a:pPr algn="l"/>
                      <a:r>
                        <a:rPr lang="en-US" sz="1600" dirty="0" smtClean="0"/>
                        <a:t>○ Fairness</a:t>
                      </a:r>
                    </a:p>
                    <a:p>
                      <a:pPr algn="l"/>
                      <a:r>
                        <a:rPr lang="en-US" sz="1600" dirty="0" smtClean="0"/>
                        <a:t>○ Safety</a:t>
                      </a:r>
                      <a:r>
                        <a:rPr lang="en-US" sz="1600" baseline="0" dirty="0" smtClean="0"/>
                        <a:t> score</a:t>
                      </a:r>
                    </a:p>
                    <a:p>
                      <a:pPr algn="l"/>
                      <a:r>
                        <a:rPr lang="en-US" sz="1600" dirty="0" smtClean="0"/>
                        <a:t>○ </a:t>
                      </a:r>
                      <a:r>
                        <a:rPr lang="en-US" sz="1600" baseline="0" dirty="0" smtClean="0"/>
                        <a:t>Uncertainty Coverage</a:t>
                      </a:r>
                      <a:endParaRPr lang="ru-RU" sz="1600" dirty="0"/>
                    </a:p>
                  </a:txBody>
                  <a:tcPr anchor="ctr" anchorCtr="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80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3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одзаголовок 3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3247" y="1491630"/>
                <a:ext cx="8705021" cy="3085851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sz="1900" b="1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Генеральная </a:t>
                </a:r>
                <a:r>
                  <a:rPr lang="en-US" altLang="en-US" sz="1900" b="1" dirty="0">
                    <a:solidFill>
                      <a:schemeClr val="accent2">
                        <a:lumMod val="50000"/>
                      </a:schemeClr>
                    </a:solidFill>
                  </a:rPr>
                  <a:t>совокупность:</a:t>
                </a:r>
                <a:r>
                  <a:rPr lang="en-US" altLang="en-US" sz="1900" dirty="0">
                    <a:solidFill>
                      <a:schemeClr val="accent2">
                        <a:lumMod val="50000"/>
                      </a:schemeClr>
                    </a:solidFill>
                  </a:rPr>
                  <a:t> распределение </a:t>
                </a:r>
                <a14:m>
                  <m:oMath xmlns:m="http://schemas.openxmlformats.org/officeDocument/2006/math"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𝑃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𝑋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, 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𝑌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ru-RU" sz="19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US" altLang="en-US" sz="1900" dirty="0" err="1">
                    <a:solidFill>
                      <a:schemeClr val="accent2">
                        <a:lumMod val="50000"/>
                      </a:schemeClr>
                    </a:solidFill>
                  </a:rPr>
                  <a:t>на</a:t>
                </a:r>
                <a:r>
                  <a:rPr lang="en-US" altLang="en-US" sz="19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US" altLang="en-US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𝑋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×</m:t>
                    </m:r>
                    <m:r>
                      <a:rPr lang="en-US" altLang="ru-RU" sz="19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𝑌</m:t>
                    </m:r>
                  </m:oMath>
                </a14:m>
                <a:endParaRPr lang="ru-RU" altLang="ru-RU" sz="1900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ru-RU" sz="1900" b="1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Функция потерь:</a:t>
                </a:r>
                <a:r>
                  <a:rPr lang="ru-RU" sz="1900" dirty="0">
                    <a:solidFill>
                      <a:schemeClr val="accent2">
                        <a:lumMod val="50000"/>
                      </a:schemeClr>
                    </a:solidFill>
                  </a:rPr>
                  <a:t> </a:t>
                </a:r>
                <a:r>
                  <a:rPr lang="en-US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𝐿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: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𝑌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𝑌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 → </m:t>
                    </m:r>
                    <m:sSup>
                      <m:sSupPr>
                        <m:ctrl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ru-RU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US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sz="1900" i="1" baseline="3000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es-ES" sz="1900" b="1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Истинный риск:</a:t>
                </a:r>
                <a:r>
                  <a:rPr lang="es-ES" sz="1900" dirty="0">
                    <a:solidFill>
                      <a:schemeClr val="accent2">
                        <a:lumMod val="50000"/>
                      </a:schemeClr>
                    </a:solidFill>
                  </a:rPr>
                  <a:t> </a:t>
                </a:r>
                <a:r>
                  <a:rPr lang="es-ES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~ 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𝑃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[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𝐿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𝑌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ru-RU" sz="1900" i="1" dirty="0" smtClean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ru-RU" sz="1900" b="1" dirty="0">
                    <a:solidFill>
                      <a:schemeClr val="accent2">
                        <a:lumMod val="50000"/>
                      </a:schemeClr>
                    </a:solidFill>
                  </a:rPr>
                  <a:t>Эмпирический риск</a:t>
                </a:r>
                <a:r>
                  <a:rPr lang="ru-RU" sz="1900" b="1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:</a:t>
                </a:r>
                <a:r>
                  <a:rPr lang="en-US" sz="1900" b="1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:r>
                  <a:rPr lang="en-US" sz="1900" dirty="0" smtClean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90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𝑆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9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sz="19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19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19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1900" dirty="0" smtClean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 sz="1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1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Задача: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ru-RU" sz="1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оценить</a:t>
                </a:r>
                <a:r>
                  <a:rPr lang="en-US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19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𝑅</m:t>
                    </m:r>
                    <m:r>
                      <a:rPr lang="ru-RU" sz="19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ru-RU" sz="19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𝑓</m:t>
                    </m:r>
                    <m:r>
                      <a:rPr lang="ru-RU" sz="19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 по конечной выборке </a:t>
                </a:r>
                <a14:m>
                  <m:oMath xmlns:m="http://schemas.openxmlformats.org/officeDocument/2006/math">
                    <m:r>
                      <a:rPr lang="ru-RU" sz="19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ru-RU" sz="1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1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Цель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процедур </a:t>
                </a:r>
                <a:r>
                  <a:rPr lang="ru-RU" sz="19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валидации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ru-RU" sz="1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– получить несмещенную 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или мало </a:t>
                </a:r>
                <a:r>
                  <a:rPr lang="ru-RU" sz="1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смещенную 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оценку истинного риска, избегая </a:t>
                </a:r>
                <a:r>
                  <a:rPr lang="ru-RU" sz="1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переобучения, когда</a:t>
                </a:r>
                <a:r>
                  <a:rPr lang="ru-RU" sz="1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9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</a:rPr>
                              <m:t>𝑆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9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190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  <a:ea typeface="Cambria Math"/>
                      </a:rPr>
                      <m:t>≪</m:t>
                    </m:r>
                    <m:r>
                      <a:rPr lang="en-US" sz="19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sz="19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9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19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ru-RU" sz="1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ru-RU" sz="2000" dirty="0" smtClean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s-ES" sz="2000" i="1" dirty="0"/>
              </a:p>
            </p:txBody>
          </p:sp>
        </mc:Choice>
        <mc:Fallback xmlns="">
          <p:sp>
            <p:nvSpPr>
              <p:cNvPr id="4" name="Подзаголовок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3247" y="1491630"/>
                <a:ext cx="8705021" cy="3085851"/>
              </a:xfrm>
              <a:blipFill rotWithShape="1">
                <a:blip r:embed="rId2"/>
                <a:stretch>
                  <a:fillRect l="-630" t="-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Метрики классического машинного </a:t>
            </a:r>
            <a:r>
              <a:rPr lang="ru-RU" dirty="0" smtClean="0"/>
              <a:t>обучения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326588" y="806347"/>
            <a:ext cx="5455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Математическая</a:t>
            </a:r>
            <a:r>
              <a:rPr lang="ru-RU" sz="2800" b="1" dirty="0" smtClean="0">
                <a:solidFill>
                  <a:schemeClr val="accent2">
                    <a:lumMod val="75000"/>
                  </a:schemeClr>
                </a:solidFill>
              </a:rPr>
              <a:t> постановка задачи</a:t>
            </a:r>
            <a:endParaRPr lang="ru-RU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4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Метрики классического машинного обучения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58500"/>
              </p:ext>
            </p:extLst>
          </p:nvPr>
        </p:nvGraphicFramePr>
        <p:xfrm>
          <a:off x="395536" y="1131590"/>
          <a:ext cx="8136904" cy="100811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44216"/>
                <a:gridCol w="6192688"/>
              </a:tblGrid>
              <a:tr h="49680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Classification</a:t>
                      </a:r>
                      <a:endParaRPr lang="ru-RU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A02A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en-US" sz="19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Accuracy, Precision,</a:t>
                      </a:r>
                      <a:r>
                        <a:rPr lang="en-US" sz="1900" baseline="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Recall, F1, ROC-AUC, PR-AUC</a:t>
                      </a:r>
                      <a:endParaRPr lang="en-US" sz="1900" kern="1200" baseline="0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113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1" kern="1200" dirty="0" smtClean="0">
                          <a:solidFill>
                            <a:schemeClr val="bg1"/>
                          </a:solidFill>
                        </a:rPr>
                        <a:t>Regression</a:t>
                      </a:r>
                      <a:endParaRPr lang="ru-RU" sz="2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A02A1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kern="12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MAE, MSE, RMSE, MAPE, </a:t>
                      </a:r>
                      <a:r>
                        <a:rPr lang="en-US" sz="1900" b="1" kern="12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sym typeface="Open Sans Medium"/>
                        </a:rPr>
                        <a:t>R²</a:t>
                      </a:r>
                      <a:endParaRPr lang="en-US" sz="1900" b="1" kern="1200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5536" y="2281436"/>
            <a:ext cx="4320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Наиболее частые проблемы: сильный дисбаланс классов, который влечет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Accuracy Paradox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, неверный порог, </a:t>
            </a:r>
          </a:p>
          <a:p>
            <a:pPr algn="just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неверно подобранная метрика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[1][2]</a:t>
            </a:r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endParaRPr lang="ru-RU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Выбор 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метрики — это всегда выбор функции потерь, которую мы готовы минимизировать.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94853"/>
            <a:ext cx="3816424" cy="219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51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67263" y="3147814"/>
            <a:ext cx="4464777" cy="1440160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Text overlap: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BLEU, ROUGE, </a:t>
            </a:r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</a:rPr>
              <a:t>BERTScore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Likelihood-based: 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perplexity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Quality/safety: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factuality, faithfulness, hallucination rate, semantic 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entropy</a:t>
            </a:r>
            <a:endParaRPr lang="ru-RU" sz="1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Метрики </a:t>
            </a:r>
            <a:r>
              <a:rPr lang="en-US" dirty="0" smtClean="0"/>
              <a:t>LLM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19622"/>
            <a:ext cx="4112665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Архитектура метрик оценки LL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68791"/>
            <a:ext cx="4349322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92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6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Метрики </a:t>
            </a:r>
            <a:r>
              <a:rPr lang="en-US" dirty="0" smtClean="0"/>
              <a:t>LLM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0608" y="915566"/>
            <a:ext cx="8208912" cy="251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7965" y="3579862"/>
            <a:ext cx="43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Factuality</a:t>
            </a:r>
            <a:r>
              <a:rPr lang="ru-RU" dirty="0" smtClean="0">
                <a:solidFill>
                  <a:schemeClr val="accent2">
                    <a:lumMod val="50000"/>
                  </a:schemeClr>
                </a:solidFill>
              </a:rPr>
              <a:t> – фактологичность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Faithfulness</a:t>
            </a:r>
            <a:r>
              <a:rPr lang="ru-RU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–</a:t>
            </a:r>
            <a:r>
              <a:rPr lang="ru-RU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верность источнику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Hallucination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Rate</a:t>
            </a:r>
            <a:r>
              <a:rPr lang="ru-RU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–</a:t>
            </a:r>
            <a:r>
              <a:rPr lang="ru-RU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частота галлюцинаций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6770" y="372387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[3]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035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56696" y="987574"/>
            <a:ext cx="8219760" cy="3528392"/>
          </a:xfrm>
        </p:spPr>
        <p:txBody>
          <a:bodyPr>
            <a:normAutofit/>
          </a:bodyPr>
          <a:lstStyle/>
          <a:p>
            <a:r>
              <a:rPr lang="ru-RU" sz="1800" b="1" dirty="0" smtClean="0"/>
              <a:t>      </a:t>
            </a:r>
            <a:r>
              <a:rPr lang="en-US" sz="1800" b="1" dirty="0" smtClean="0"/>
              <a:t>«</a:t>
            </a:r>
            <a:r>
              <a:rPr lang="en-US" sz="1800" b="1" dirty="0"/>
              <a:t>Towards Trustworthy Conversational Agents: A New Method for Hallucination Detection in NLG»</a:t>
            </a:r>
            <a:r>
              <a:rPr lang="en-US" sz="1800" dirty="0"/>
              <a:t> (2025</a:t>
            </a:r>
            <a:r>
              <a:rPr lang="en-US" sz="1800" dirty="0" smtClean="0"/>
              <a:t>)</a:t>
            </a:r>
            <a:r>
              <a:rPr lang="ru-RU" sz="1800" dirty="0" smtClean="0"/>
              <a:t>	</a:t>
            </a:r>
            <a:endParaRPr lang="en-US" sz="1800" dirty="0" smtClean="0"/>
          </a:p>
          <a:p>
            <a:endParaRPr lang="ru-RU" sz="1800" dirty="0" smtClean="0"/>
          </a:p>
          <a:p>
            <a:r>
              <a:rPr lang="ru-RU" sz="1800" b="1" dirty="0"/>
              <a:t> </a:t>
            </a:r>
            <a:r>
              <a:rPr lang="ru-RU" sz="1800" b="1" dirty="0" smtClean="0"/>
              <a:t>     </a:t>
            </a:r>
            <a:r>
              <a:rPr lang="en-US" sz="1800" b="1" dirty="0" smtClean="0"/>
              <a:t>Problem</a:t>
            </a:r>
            <a:r>
              <a:rPr lang="ru-RU" sz="1800" b="1" dirty="0" smtClean="0"/>
              <a:t>:</a:t>
            </a:r>
            <a:r>
              <a:rPr lang="ru-RU" sz="1800" dirty="0"/>
              <a:t> ни одна существующая метрика не охватывает все аспекты качества.</a:t>
            </a:r>
          </a:p>
          <a:p>
            <a:r>
              <a:rPr lang="en-US" sz="1800" b="1" dirty="0" smtClean="0"/>
              <a:t>      New metric</a:t>
            </a:r>
            <a:r>
              <a:rPr lang="ru-RU" sz="1800" dirty="0"/>
              <a:t> = </a:t>
            </a:r>
            <a:r>
              <a:rPr lang="en-US" sz="1800" dirty="0" err="1"/>
              <a:t>Jaccard</a:t>
            </a:r>
            <a:r>
              <a:rPr lang="en-US" sz="1800" dirty="0"/>
              <a:t> similarity </a:t>
            </a:r>
            <a:r>
              <a:rPr lang="ru-RU" sz="1800" dirty="0" smtClean="0"/>
              <a:t>+ </a:t>
            </a:r>
            <a:r>
              <a:rPr lang="en-US" sz="1800" dirty="0" smtClean="0"/>
              <a:t>NLI</a:t>
            </a:r>
            <a:r>
              <a:rPr lang="ru-RU" sz="1800" dirty="0" smtClean="0"/>
              <a:t> </a:t>
            </a:r>
            <a:r>
              <a:rPr lang="ru-RU" sz="1800" dirty="0"/>
              <a:t>+ </a:t>
            </a:r>
            <a:r>
              <a:rPr lang="en-US" sz="1800" dirty="0"/>
              <a:t>normalized </a:t>
            </a:r>
            <a:r>
              <a:rPr lang="en-US" sz="1800" dirty="0" smtClean="0"/>
              <a:t>perplexity</a:t>
            </a:r>
            <a:r>
              <a:rPr lang="ru-RU" sz="1800" dirty="0" smtClean="0"/>
              <a:t>.</a:t>
            </a:r>
            <a:endParaRPr lang="ru-RU" sz="1800" dirty="0"/>
          </a:p>
          <a:p>
            <a:r>
              <a:rPr lang="en-US" sz="1800" b="1" dirty="0" smtClean="0"/>
              <a:t>      Result</a:t>
            </a:r>
            <a:r>
              <a:rPr lang="ru-RU" sz="1800" b="1" dirty="0" smtClean="0"/>
              <a:t>:</a:t>
            </a:r>
            <a:r>
              <a:rPr lang="ru-RU" sz="1800" dirty="0"/>
              <a:t> сбалансированный подход к идентификации галлюцинаций.</a:t>
            </a:r>
          </a:p>
          <a:p>
            <a:r>
              <a:rPr lang="en-US" sz="1800" b="1" dirty="0" smtClean="0"/>
              <a:t>      Validation</a:t>
            </a:r>
            <a:r>
              <a:rPr lang="ru-RU" sz="1800" b="1" dirty="0" smtClean="0"/>
              <a:t>:</a:t>
            </a:r>
            <a:r>
              <a:rPr lang="ru-RU" sz="1800" dirty="0"/>
              <a:t> </a:t>
            </a:r>
            <a:r>
              <a:rPr lang="ru-RU" sz="1800" dirty="0" err="1"/>
              <a:t>бенчмарки</a:t>
            </a:r>
            <a:r>
              <a:rPr lang="ru-RU" sz="1800" dirty="0"/>
              <a:t> </a:t>
            </a:r>
            <a:r>
              <a:rPr lang="en-US" sz="1800" dirty="0"/>
              <a:t>BEGIN </a:t>
            </a:r>
            <a:r>
              <a:rPr lang="ru-RU" sz="1800" dirty="0"/>
              <a:t>и </a:t>
            </a:r>
            <a:r>
              <a:rPr lang="en-US" sz="1800" dirty="0"/>
              <a:t>FEVER.</a:t>
            </a:r>
          </a:p>
          <a:p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1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Исследования подходов </a:t>
            </a:r>
            <a:r>
              <a:rPr lang="ru-RU" dirty="0" err="1" smtClean="0"/>
              <a:t>детекции</a:t>
            </a:r>
            <a:r>
              <a:rPr lang="ru-RU" dirty="0" smtClean="0"/>
              <a:t> </a:t>
            </a:r>
            <a:r>
              <a:rPr lang="ru-RU" dirty="0" err="1" smtClean="0"/>
              <a:t>галюцинаций</a:t>
            </a:r>
            <a:endParaRPr lang="ru-RU" dirty="0"/>
          </a:p>
        </p:txBody>
      </p:sp>
      <p:sp>
        <p:nvSpPr>
          <p:cNvPr id="2" name="AutoShape 2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88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56696" y="987574"/>
            <a:ext cx="8219760" cy="3528392"/>
          </a:xfrm>
        </p:spPr>
        <p:txBody>
          <a:bodyPr>
            <a:normAutofit/>
          </a:bodyPr>
          <a:lstStyle/>
          <a:p>
            <a:r>
              <a:rPr lang="ru-RU" sz="1800" b="1" dirty="0" smtClean="0"/>
              <a:t>      </a:t>
            </a:r>
            <a:r>
              <a:rPr lang="en-US" sz="1800" b="1" dirty="0" smtClean="0"/>
              <a:t>«</a:t>
            </a:r>
            <a:r>
              <a:rPr lang="en-US" sz="1800" b="1" dirty="0"/>
              <a:t>Hallucination Detection and Evaluation of Large Language Model»</a:t>
            </a:r>
            <a:r>
              <a:rPr lang="en-US" sz="1800" dirty="0"/>
              <a:t> (2025) </a:t>
            </a:r>
            <a:endParaRPr lang="en-US" sz="1800" dirty="0" smtClean="0"/>
          </a:p>
          <a:p>
            <a:endParaRPr lang="ru-RU" sz="1800" dirty="0"/>
          </a:p>
          <a:p>
            <a:r>
              <a:rPr lang="ru-RU" sz="1800" dirty="0" smtClean="0"/>
              <a:t>      </a:t>
            </a:r>
            <a:r>
              <a:rPr lang="en-US" sz="1800" b="1" dirty="0" err="1" smtClean="0"/>
              <a:t>KnowHalu</a:t>
            </a:r>
            <a:r>
              <a:rPr lang="en-US" sz="1800" b="1" dirty="0"/>
              <a:t>:</a:t>
            </a:r>
            <a:r>
              <a:rPr lang="en-US" sz="1800" dirty="0"/>
              <a:t> </a:t>
            </a:r>
            <a:r>
              <a:rPr lang="ru-RU" sz="1800" dirty="0"/>
              <a:t>многоэтапная </a:t>
            </a:r>
            <a:r>
              <a:rPr lang="en-US" sz="1800" dirty="0"/>
              <a:t>LLM-</a:t>
            </a:r>
            <a:r>
              <a:rPr lang="ru-RU" sz="1800" dirty="0" smtClean="0"/>
              <a:t>верификация</a:t>
            </a:r>
          </a:p>
          <a:p>
            <a:r>
              <a:rPr lang="ru-RU" sz="1800" b="1" dirty="0" smtClean="0"/>
              <a:t>      HHEM</a:t>
            </a:r>
            <a:r>
              <a:rPr lang="ru-RU" sz="1800" b="1" dirty="0"/>
              <a:t>:</a:t>
            </a:r>
            <a:r>
              <a:rPr lang="ru-RU" sz="1800" dirty="0"/>
              <a:t> </a:t>
            </a:r>
            <a:r>
              <a:rPr lang="ru-RU" sz="1800" dirty="0" smtClean="0"/>
              <a:t>легкая </a:t>
            </a:r>
            <a:r>
              <a:rPr lang="ru-RU" sz="1800" dirty="0"/>
              <a:t>классификационная модель без </a:t>
            </a:r>
            <a:r>
              <a:rPr lang="ru-RU" sz="1800" dirty="0" smtClean="0"/>
              <a:t>вызовов LLM</a:t>
            </a:r>
            <a:r>
              <a:rPr lang="ru-RU" sz="1800" b="1" dirty="0" smtClean="0"/>
              <a:t>      </a:t>
            </a:r>
          </a:p>
          <a:p>
            <a:r>
              <a:rPr lang="en-US" sz="1800" b="1" dirty="0" smtClean="0"/>
              <a:t>      Decision</a:t>
            </a:r>
            <a:r>
              <a:rPr lang="ru-RU" sz="1800" b="1" dirty="0" smtClean="0"/>
              <a:t>:</a:t>
            </a:r>
            <a:r>
              <a:rPr lang="ru-RU" sz="1800" dirty="0"/>
              <a:t> </a:t>
            </a:r>
            <a:r>
              <a:rPr lang="en-US" sz="1800" dirty="0"/>
              <a:t>segment-based retrieval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1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Исследования подходов </a:t>
            </a:r>
            <a:r>
              <a:rPr lang="ru-RU" dirty="0" err="1" smtClean="0"/>
              <a:t>детекции</a:t>
            </a:r>
            <a:r>
              <a:rPr lang="ru-RU" dirty="0" smtClean="0"/>
              <a:t> </a:t>
            </a:r>
            <a:r>
              <a:rPr lang="ru-RU" dirty="0" err="1" smtClean="0"/>
              <a:t>галюцинаций</a:t>
            </a:r>
            <a:endParaRPr lang="ru-RU" dirty="0"/>
          </a:p>
        </p:txBody>
      </p:sp>
      <p:sp>
        <p:nvSpPr>
          <p:cNvPr id="2" name="AutoShape 2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13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56696" y="987574"/>
            <a:ext cx="8219760" cy="3528392"/>
          </a:xfrm>
        </p:spPr>
        <p:txBody>
          <a:bodyPr>
            <a:normAutofit/>
          </a:bodyPr>
          <a:lstStyle/>
          <a:p>
            <a:r>
              <a:rPr lang="en-US" sz="1800" b="1" dirty="0"/>
              <a:t> </a:t>
            </a:r>
            <a:r>
              <a:rPr lang="en-US" sz="1800" b="1" dirty="0" smtClean="0"/>
              <a:t>    </a:t>
            </a:r>
            <a:r>
              <a:rPr lang="en-US" sz="1800" b="1" dirty="0"/>
              <a:t>«Hallucination Detection via Internal Representations: An Empirical Study» (2025</a:t>
            </a:r>
            <a:r>
              <a:rPr lang="en-US" sz="1800" b="1" dirty="0" smtClean="0"/>
              <a:t>)</a:t>
            </a:r>
          </a:p>
          <a:p>
            <a:endParaRPr lang="ru-RU" sz="1800" b="1" dirty="0"/>
          </a:p>
          <a:p>
            <a:r>
              <a:rPr lang="en-US" sz="1800" b="1" dirty="0"/>
              <a:t>     </a:t>
            </a:r>
            <a:r>
              <a:rPr lang="en-US" sz="1800" b="1" dirty="0" smtClean="0"/>
              <a:t>Hypothesis: </a:t>
            </a:r>
            <a:r>
              <a:rPr lang="ru-RU" sz="1800" dirty="0"/>
              <a:t>информация о галлюцинациях закодирована в скрытых состояниях </a:t>
            </a:r>
            <a:r>
              <a:rPr lang="ru-RU" sz="1800" dirty="0" err="1" smtClean="0"/>
              <a:t>трансформера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     Result</a:t>
            </a:r>
            <a:r>
              <a:rPr lang="ru-RU" sz="1800" b="1" dirty="0"/>
              <a:t>:</a:t>
            </a:r>
            <a:r>
              <a:rPr lang="ru-RU" sz="1800" dirty="0"/>
              <a:t> </a:t>
            </a:r>
            <a:r>
              <a:rPr lang="en-US" sz="1800" dirty="0" smtClean="0"/>
              <a:t>84% accuracy, 91% AUC, 75% F1.</a:t>
            </a:r>
          </a:p>
          <a:p>
            <a:r>
              <a:rPr lang="en-US" sz="1800" b="1" dirty="0" smtClean="0"/>
              <a:t>     Key discovery: </a:t>
            </a:r>
            <a:r>
              <a:rPr lang="ru-RU" sz="1800" dirty="0"/>
              <a:t>сигнал сконцентрирован не во всех, а в конкретных средних </a:t>
            </a:r>
            <a:r>
              <a:rPr lang="ru-RU" sz="1800" dirty="0" smtClean="0"/>
              <a:t>слоях</a:t>
            </a:r>
            <a:endParaRPr lang="en-US" sz="1800" dirty="0" smtClean="0"/>
          </a:p>
          <a:p>
            <a:r>
              <a:rPr lang="en-US" sz="1800" b="1" dirty="0" smtClean="0"/>
              <a:t>     Implication</a:t>
            </a:r>
            <a:r>
              <a:rPr lang="ru-RU" sz="1800" b="1" dirty="0" smtClean="0"/>
              <a:t>:</a:t>
            </a:r>
            <a:r>
              <a:rPr lang="ru-RU" sz="1800" dirty="0"/>
              <a:t> можно детектировать галлюцинации без LLM-судей, без внешнего источника, без множественной генерации.</a:t>
            </a:r>
          </a:p>
          <a:p>
            <a:endParaRPr lang="ru-RU" sz="18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Исследования подходов </a:t>
            </a:r>
            <a:r>
              <a:rPr lang="ru-RU" dirty="0" err="1" smtClean="0"/>
              <a:t>детекции</a:t>
            </a:r>
            <a:r>
              <a:rPr lang="ru-RU" dirty="0" smtClean="0"/>
              <a:t> </a:t>
            </a:r>
            <a:r>
              <a:rPr lang="ru-RU" dirty="0" err="1" smtClean="0"/>
              <a:t>галюцинаций</a:t>
            </a:r>
            <a:endParaRPr lang="ru-RU" dirty="0"/>
          </a:p>
        </p:txBody>
      </p:sp>
      <p:sp>
        <p:nvSpPr>
          <p:cNvPr id="2" name="AutoShape 2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36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56696" y="987574"/>
            <a:ext cx="4763376" cy="3528392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</a:rPr>
              <a:t>Key metrics: 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success rate,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ask completion,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</a:rPr>
              <a:t>pass@k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, tool-use accuracy.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Benchmarks: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</a:rPr>
              <a:t>Ambig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-DS</a:t>
            </a:r>
            <a:r>
              <a:rPr lang="ru-RU" sz="1800" dirty="0" smtClean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</a:rPr>
              <a:t>AgentBench</a:t>
            </a:r>
            <a:r>
              <a:rPr lang="ru-RU" sz="1800" dirty="0" smtClean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SWE-bench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WebArena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, GAIA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endParaRPr lang="ru-RU" sz="1800" dirty="0" smtClean="0"/>
          </a:p>
          <a:p>
            <a:r>
              <a:rPr lang="ru-RU" sz="1800" dirty="0" smtClean="0"/>
              <a:t>Ограничения метрик</a:t>
            </a:r>
            <a:r>
              <a:rPr lang="en-US" sz="1800" dirty="0" smtClean="0"/>
              <a:t> [4]</a:t>
            </a:r>
            <a:r>
              <a:rPr lang="ru-RU" sz="1800" dirty="0" smtClean="0"/>
              <a:t>: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ru-RU" sz="1800" b="1" dirty="0" smtClean="0"/>
              <a:t>Отсутствие </a:t>
            </a:r>
            <a:r>
              <a:rPr lang="ru-RU" sz="1800" b="1" dirty="0"/>
              <a:t>оценки </a:t>
            </a:r>
            <a:r>
              <a:rPr lang="ru-RU" sz="1800" b="1" dirty="0" smtClean="0"/>
              <a:t>стоимости</a:t>
            </a:r>
            <a:endParaRPr lang="en-US" sz="1800" b="1" dirty="0" smtClean="0"/>
          </a:p>
          <a:p>
            <a:pPr marL="342900" indent="-342900">
              <a:buAutoNum type="arabicPeriod"/>
            </a:pPr>
            <a:r>
              <a:rPr lang="ru-RU" sz="1800" b="1" dirty="0" smtClean="0"/>
              <a:t>Низкая надежность</a:t>
            </a:r>
            <a:r>
              <a:rPr lang="ru-RU" sz="1800" dirty="0" smtClean="0"/>
              <a:t>.</a:t>
            </a:r>
            <a:endParaRPr lang="ru-RU" sz="1800" dirty="0"/>
          </a:p>
          <a:p>
            <a:pPr marL="342900" indent="-342900">
              <a:buAutoNum type="arabicPeriod"/>
            </a:pPr>
            <a:r>
              <a:rPr lang="ru-RU" sz="1800" b="1" dirty="0" err="1" smtClean="0"/>
              <a:t>Outcome</a:t>
            </a:r>
            <a:r>
              <a:rPr lang="ru-RU" sz="1800" b="1" dirty="0" smtClean="0"/>
              <a:t> </a:t>
            </a:r>
            <a:r>
              <a:rPr lang="ru-RU" sz="1800" b="1" dirty="0" err="1" smtClean="0"/>
              <a:t>validity</a:t>
            </a:r>
            <a:r>
              <a:rPr lang="ru-RU" sz="1800" b="1" dirty="0" smtClean="0"/>
              <a:t> </a:t>
            </a:r>
            <a:r>
              <a:rPr lang="ru-RU" sz="1800" dirty="0" smtClean="0"/>
              <a:t>(«</a:t>
            </a:r>
            <a:r>
              <a:rPr lang="ru-RU" sz="1800" dirty="0" err="1"/>
              <a:t>silent</a:t>
            </a:r>
            <a:r>
              <a:rPr lang="ru-RU" sz="1800" dirty="0"/>
              <a:t> </a:t>
            </a:r>
            <a:r>
              <a:rPr lang="ru-RU" sz="1800" dirty="0" err="1"/>
              <a:t>misframing</a:t>
            </a:r>
            <a:r>
              <a:rPr lang="ru-RU" sz="1800" dirty="0"/>
              <a:t>»)</a:t>
            </a:r>
          </a:p>
          <a:p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1900" b="1" dirty="0" smtClean="0">
                <a:solidFill>
                  <a:schemeClr val="bg1">
                    <a:lumMod val="50000"/>
                  </a:schemeClr>
                </a:solidFill>
              </a:rPr>
              <a:t>Решение: </a:t>
            </a:r>
            <a:r>
              <a:rPr lang="ru-RU" sz="2000" dirty="0" err="1"/>
              <a:t>фреймворк</a:t>
            </a:r>
            <a:r>
              <a:rPr lang="ru-RU" sz="2000" dirty="0"/>
              <a:t> </a:t>
            </a:r>
            <a:r>
              <a:rPr lang="en-US" sz="2000" dirty="0" smtClean="0"/>
              <a:t>CLEAR</a:t>
            </a:r>
            <a:r>
              <a:rPr lang="ru-RU" sz="2000" dirty="0" smtClean="0"/>
              <a:t> = (</a:t>
            </a:r>
            <a:r>
              <a:rPr lang="en-US" sz="2000" dirty="0" smtClean="0"/>
              <a:t>Cost, Latency, Efficacy, Assurance, </a:t>
            </a:r>
            <a:r>
              <a:rPr lang="en-US" sz="2000" dirty="0"/>
              <a:t>Reliability</a:t>
            </a:r>
            <a:r>
              <a:rPr lang="ru-RU" sz="2000" dirty="0" smtClean="0"/>
              <a:t>)</a:t>
            </a:r>
            <a:endParaRPr lang="ru-RU" sz="1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Метрики </a:t>
            </a:r>
            <a:r>
              <a:rPr lang="ru-RU" dirty="0" err="1" smtClean="0"/>
              <a:t>агентных</a:t>
            </a:r>
            <a:r>
              <a:rPr lang="ru-RU" dirty="0" smtClean="0"/>
              <a:t> систем</a:t>
            </a:r>
            <a:endParaRPr lang="ru-RU" dirty="0"/>
          </a:p>
        </p:txBody>
      </p:sp>
      <p:sp>
        <p:nvSpPr>
          <p:cNvPr id="2" name="AutoShape 2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08" y="843558"/>
            <a:ext cx="3798492" cy="359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749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11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56696" y="987574"/>
            <a:ext cx="8579800" cy="352839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800" b="1" dirty="0" err="1" smtClean="0"/>
              <a:t>Калибровка</a:t>
            </a:r>
            <a:r>
              <a:rPr lang="en-US" sz="1800" b="1" dirty="0"/>
              <a:t>: Expected Calibration Error (ECE</a:t>
            </a:r>
            <a:r>
              <a:rPr lang="en-US" sz="1800" b="1" dirty="0" smtClean="0"/>
              <a:t>).</a:t>
            </a:r>
            <a:endParaRPr lang="ru-RU" sz="1800" b="1" dirty="0" smtClean="0"/>
          </a:p>
          <a:p>
            <a:pPr marL="342900" indent="-342900">
              <a:buAutoNum type="arabicPeriod"/>
            </a:pPr>
            <a:r>
              <a:rPr lang="ru-RU" sz="1800" b="1" dirty="0" smtClean="0"/>
              <a:t>Робастность: </a:t>
            </a:r>
            <a:r>
              <a:rPr lang="ru-RU" sz="1800" dirty="0"/>
              <a:t> устойчивость к </a:t>
            </a:r>
            <a:r>
              <a:rPr lang="ru-RU" sz="1800" dirty="0" err="1"/>
              <a:t>adversarial</a:t>
            </a:r>
            <a:r>
              <a:rPr lang="ru-RU" sz="1800" dirty="0"/>
              <a:t> атакам и сдвигу распределения данных.</a:t>
            </a:r>
            <a:endParaRPr lang="ru-RU" sz="1800" b="1" dirty="0" smtClean="0"/>
          </a:p>
          <a:p>
            <a:pPr marL="342900" indent="-342900">
              <a:buAutoNum type="arabicPeriod"/>
            </a:pPr>
            <a:r>
              <a:rPr lang="ru-RU" sz="1800" b="1" dirty="0"/>
              <a:t>Справедливость</a:t>
            </a:r>
            <a:r>
              <a:rPr lang="ru-RU" sz="1800" b="1" dirty="0" smtClean="0"/>
              <a:t>: </a:t>
            </a:r>
            <a:r>
              <a:rPr lang="ru-RU" sz="1800" dirty="0"/>
              <a:t>равенство </a:t>
            </a:r>
            <a:r>
              <a:rPr lang="en-US" sz="1800" dirty="0"/>
              <a:t>False Positive </a:t>
            </a:r>
            <a:r>
              <a:rPr lang="ru-RU" sz="1800" dirty="0"/>
              <a:t>и </a:t>
            </a:r>
            <a:r>
              <a:rPr lang="en-US" sz="1800" dirty="0"/>
              <a:t>False Positive Rate </a:t>
            </a:r>
            <a:r>
              <a:rPr lang="ru-RU" sz="1800" dirty="0"/>
              <a:t>для разных </a:t>
            </a:r>
            <a:r>
              <a:rPr lang="ru-RU" sz="1800" dirty="0" smtClean="0"/>
              <a:t>групп</a:t>
            </a:r>
            <a:r>
              <a:rPr lang="en-US" sz="1800" dirty="0" smtClean="0"/>
              <a:t>.</a:t>
            </a:r>
          </a:p>
          <a:p>
            <a:pPr marL="342900" indent="-342900">
              <a:buAutoNum type="arabicPeriod"/>
            </a:pP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1800" dirty="0" smtClean="0"/>
              <a:t>    </a:t>
            </a:r>
            <a:r>
              <a:rPr lang="ru-RU" sz="1800" b="1" dirty="0" smtClean="0"/>
              <a:t>Теорема </a:t>
            </a:r>
            <a:r>
              <a:rPr lang="ru-RU" sz="1800" b="1" dirty="0"/>
              <a:t>о невозможности </a:t>
            </a:r>
            <a:r>
              <a:rPr lang="ru-RU" sz="1800" dirty="0"/>
              <a:t>(</a:t>
            </a:r>
            <a:r>
              <a:rPr lang="ru-RU" sz="1800" dirty="0" err="1"/>
              <a:t>Kleinberg</a:t>
            </a:r>
            <a:r>
              <a:rPr lang="ru-RU" sz="1800" dirty="0"/>
              <a:t>, 2016) — невозможно одновременно удовлетворить всем критериям справедливости.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1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 smtClean="0"/>
              <a:t>Метрики доверия</a:t>
            </a:r>
            <a:endParaRPr lang="ru-RU" dirty="0"/>
          </a:p>
        </p:txBody>
      </p:sp>
      <p:sp>
        <p:nvSpPr>
          <p:cNvPr id="2" name="AutoShape 2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Агентный ИИ и YOLO11 для автоматизации | Ultralytic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36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t>12</a:t>
            </a:fld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395536" y="771550"/>
            <a:ext cx="8632732" cy="4032448"/>
          </a:xfrm>
        </p:spPr>
        <p:txBody>
          <a:bodyPr>
            <a:normAutofit/>
          </a:bodyPr>
          <a:lstStyle/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[1] </a:t>
            </a:r>
            <a:r>
              <a:rPr lang="ru-RU" sz="1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Metrics</a:t>
            </a: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Reloaded</a:t>
            </a: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Stanford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Helm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2022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[2]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Measuring What Matters: Construct Validity in Large Language Model 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Benchmarks</a:t>
            </a:r>
            <a:r>
              <a:rPr lang="ru-RU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sz="1800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[3] Largest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systematic review of AI benchmarks highlights need for clearer definitions and stronger scientific standards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Oxford Internet Institute (OII), University of Oxford, 2025. </a:t>
            </a:r>
            <a:endParaRPr lang="ru-RU" sz="1800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[4]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Beyond Accuracy: A Multi-Dimensional Framework for Evaluating Enterprise Agentic AI 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Systems.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Sushant 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Mehta, 2025</a:t>
            </a:r>
            <a:endParaRPr lang="ru-RU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[5] Towards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Trustworthy Conversational Agents: A New Method for Hallucination Detection in 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NLG,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</a:t>
            </a:r>
            <a:r>
              <a:rPr lang="en-US" sz="1800" dirty="0" err="1" smtClean="0"/>
              <a:t>ScienceDirect</a:t>
            </a:r>
            <a:r>
              <a:rPr lang="en-US" sz="1800" dirty="0" smtClean="0"/>
              <a:t>, 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2025</a:t>
            </a:r>
            <a:endParaRPr lang="ru-RU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[6] Hallucination Detection and Evaluation of Large Language Model,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800" dirty="0" err="1"/>
              <a:t>Chenggong</a:t>
            </a:r>
            <a:r>
              <a:rPr lang="en-US" sz="1800" dirty="0"/>
              <a:t> Zhang, </a:t>
            </a:r>
            <a:r>
              <a:rPr lang="en-US" sz="1800" dirty="0" err="1"/>
              <a:t>Haopeng</a:t>
            </a:r>
            <a:r>
              <a:rPr lang="en-US" sz="1800" dirty="0"/>
              <a:t> Wang, </a:t>
            </a:r>
            <a:r>
              <a:rPr lang="en-US" sz="1800" dirty="0" err="1"/>
              <a:t>Hexi</a:t>
            </a:r>
            <a:r>
              <a:rPr lang="en-US" sz="1800" dirty="0"/>
              <a:t> </a:t>
            </a:r>
            <a:r>
              <a:rPr lang="en-US" sz="1800" dirty="0" err="1" smtClean="0"/>
              <a:t>Meng</a:t>
            </a:r>
            <a:r>
              <a:rPr lang="en-US" sz="1800" dirty="0" smtClean="0"/>
              <a:t>, 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2025 </a:t>
            </a:r>
          </a:p>
          <a:p>
            <a:pPr marL="71755">
              <a:spcBef>
                <a:spcPts val="600"/>
              </a:spcBef>
            </a:pP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[7] Hallucination 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Detection via Internal Representations: An Empirical </a:t>
            </a:r>
            <a:r>
              <a:rPr 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Study,</a:t>
            </a:r>
            <a:r>
              <a:rPr 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2025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71755">
              <a:spcBef>
                <a:spcPts val="600"/>
              </a:spcBef>
            </a:pPr>
            <a:endParaRPr lang="ru-RU" sz="1800" dirty="0" smtClean="0"/>
          </a:p>
          <a:p>
            <a:pPr marL="71755">
              <a:spcBef>
                <a:spcPts val="600"/>
              </a:spcBef>
            </a:pPr>
            <a:endParaRPr lang="en-US" sz="1800" b="1" dirty="0">
              <a:hlinkClick r:id="rId2"/>
            </a:endParaRPr>
          </a:p>
          <a:p>
            <a:pPr marL="71755">
              <a:spcBef>
                <a:spcPts val="600"/>
              </a:spcBef>
            </a:pPr>
            <a:endParaRPr lang="ru-RU" sz="20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323247" y="195486"/>
            <a:ext cx="8705021" cy="586557"/>
          </a:xfrm>
        </p:spPr>
        <p:txBody>
          <a:bodyPr/>
          <a:lstStyle/>
          <a:p>
            <a:r>
              <a:rPr lang="ru-RU" dirty="0"/>
              <a:t>Литература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480</Words>
  <Application>Microsoft Office PowerPoint</Application>
  <PresentationFormat>Экран (16:9)</PresentationFormat>
  <Paragraphs>113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 Метрики качества моделей.  Проверка качества модели.  Направление 01.03.02 «Прикладная математика и информатика»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Баранова Ольга Владимировна</dc:creator>
  <cp:lastModifiedBy>Яна</cp:lastModifiedBy>
  <cp:revision>100</cp:revision>
  <dcterms:created xsi:type="dcterms:W3CDTF">2015-06-15T09:44:00Z</dcterms:created>
  <dcterms:modified xsi:type="dcterms:W3CDTF">2026-05-16T11:33:56Z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7E32A111DA8F495E9BBED27B1A2829E8_12</vt:lpwstr>
  </property>
  <property fmtid="{D5CDD505-2E9C-101B-9397-08002B2CF9AE}" pid="3" name="KSOProductBuildVer">
    <vt:lpwstr>1049-12.1.0.25862</vt:lpwstr>
  </property>
</Properties>
</file>