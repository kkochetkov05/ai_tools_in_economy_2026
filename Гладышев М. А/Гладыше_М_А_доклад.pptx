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Open Sans ExtraBold"/>
      <p:bold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ExtraBold-boldItalic.fntdata"/><Relationship Id="rId30" Type="http://schemas.openxmlformats.org/officeDocument/2006/relationships/font" Target="fonts/OpenSansExtraBold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.fntdata"/><Relationship Id="rId10" Type="http://schemas.openxmlformats.org/officeDocument/2006/relationships/slide" Target="slides/slide5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bold.fntdata"/><Relationship Id="rId14" Type="http://schemas.openxmlformats.org/officeDocument/2006/relationships/slide" Target="slides/slide9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23bb4f480_0_59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23bb4f480_0_598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2033a884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2033a8847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2033a884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2033a8847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2033a8847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2033a8847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2033a8847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e2033a8847_0_4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2033a8847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2033a8847_0_5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23bb4f48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e23bb4f480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23bb4f48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23bb4f480_0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23bb4f480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e23bb4f480_0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23bb4f480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e23bb4f480_0_4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23bb4f480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e23bb4f480_0_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23bb4f480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e23bb4f480_0_9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23bb4f480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e23bb4f480_0_7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BLANK_1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3"/>
          <p:cNvCxnSpPr/>
          <p:nvPr/>
        </p:nvCxnSpPr>
        <p:spPr>
          <a:xfrm>
            <a:off x="0" y="163800"/>
            <a:ext cx="10548300" cy="300"/>
          </a:xfrm>
          <a:prstGeom prst="straightConnector1">
            <a:avLst/>
          </a:prstGeom>
          <a:noFill/>
          <a:ln cap="flat" cmpd="sng" w="9525">
            <a:solidFill>
              <a:srgbClr val="9238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3"/>
          <p:cNvSpPr/>
          <p:nvPr/>
        </p:nvSpPr>
        <p:spPr>
          <a:xfrm>
            <a:off x="8204040" y="0"/>
            <a:ext cx="3987300" cy="3684600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203678" cy="685763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/>
          <p:nvPr/>
        </p:nvSpPr>
        <p:spPr>
          <a:xfrm>
            <a:off x="8204040" y="6200640"/>
            <a:ext cx="3987300" cy="657000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204040" y="396720"/>
            <a:ext cx="3987300" cy="11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086840" y="3684960"/>
            <a:ext cx="7116900" cy="25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168560" y="3746520"/>
            <a:ext cx="11023200" cy="23871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2080" y="-267480"/>
            <a:ext cx="4571999" cy="24685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 ExtraBold"/>
              <a:buNone/>
              <a:defRPr b="0" i="0" sz="4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4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47.png"/><Relationship Id="rId6" Type="http://schemas.openxmlformats.org/officeDocument/2006/relationships/image" Target="../media/image25.png"/><Relationship Id="rId7" Type="http://schemas.openxmlformats.org/officeDocument/2006/relationships/image" Target="../media/image18.png"/><Relationship Id="rId8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8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image" Target="../media/image29.png"/><Relationship Id="rId6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9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52.png"/><Relationship Id="rId7" Type="http://schemas.openxmlformats.org/officeDocument/2006/relationships/image" Target="../media/image43.png"/><Relationship Id="rId8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9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62.png"/><Relationship Id="rId9" Type="http://schemas.openxmlformats.org/officeDocument/2006/relationships/image" Target="../media/image53.png"/><Relationship Id="rId5" Type="http://schemas.openxmlformats.org/officeDocument/2006/relationships/image" Target="../media/image55.png"/><Relationship Id="rId6" Type="http://schemas.openxmlformats.org/officeDocument/2006/relationships/image" Target="../media/image50.png"/><Relationship Id="rId7" Type="http://schemas.openxmlformats.org/officeDocument/2006/relationships/image" Target="../media/image61.png"/><Relationship Id="rId8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Relationship Id="rId5" Type="http://schemas.openxmlformats.org/officeDocument/2006/relationships/image" Target="../media/image70.png"/><Relationship Id="rId6" Type="http://schemas.openxmlformats.org/officeDocument/2006/relationships/image" Target="../media/image76.png"/><Relationship Id="rId7" Type="http://schemas.openxmlformats.org/officeDocument/2006/relationships/image" Target="../media/image64.png"/><Relationship Id="rId8" Type="http://schemas.openxmlformats.org/officeDocument/2006/relationships/image" Target="../media/image6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7.png"/><Relationship Id="rId4" Type="http://schemas.openxmlformats.org/officeDocument/2006/relationships/image" Target="../media/image63.png"/><Relationship Id="rId5" Type="http://schemas.openxmlformats.org/officeDocument/2006/relationships/image" Target="../media/image69.png"/><Relationship Id="rId6" Type="http://schemas.openxmlformats.org/officeDocument/2006/relationships/image" Target="../media/image65.png"/><Relationship Id="rId7" Type="http://schemas.openxmlformats.org/officeDocument/2006/relationships/image" Target="../media/image78.png"/><Relationship Id="rId8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4.png"/><Relationship Id="rId1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7.png"/><Relationship Id="rId4" Type="http://schemas.openxmlformats.org/officeDocument/2006/relationships/image" Target="../media/image82.png"/><Relationship Id="rId9" Type="http://schemas.openxmlformats.org/officeDocument/2006/relationships/image" Target="../media/image79.png"/><Relationship Id="rId5" Type="http://schemas.openxmlformats.org/officeDocument/2006/relationships/image" Target="../media/image83.png"/><Relationship Id="rId6" Type="http://schemas.openxmlformats.org/officeDocument/2006/relationships/image" Target="../media/image74.png"/><Relationship Id="rId7" Type="http://schemas.openxmlformats.org/officeDocument/2006/relationships/image" Target="../media/image72.png"/><Relationship Id="rId8" Type="http://schemas.openxmlformats.org/officeDocument/2006/relationships/image" Target="../media/image7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1712880" y="4212360"/>
            <a:ext cx="90588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Обучение с подкреплением: Применение методов обучения с подкреплением в робототехнике и играх.</a:t>
            </a:r>
            <a:br>
              <a:rPr b="1" i="0" lang="en-US" sz="3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1" lang="en-US" sz="2400" u="none" cap="none" strike="noStrike">
                <a:solidFill>
                  <a:srgbClr val="F8F1F1"/>
                </a:solidFill>
                <a:latin typeface="Open Sans"/>
                <a:ea typeface="Open Sans"/>
                <a:cs typeface="Open Sans"/>
                <a:sym typeface="Open Sans"/>
              </a:rPr>
              <a:t> Гладышев М.А.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Зачем нам Reinforcement Learning?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762000" y="1181100"/>
            <a:ext cx="10668000" cy="476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244316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857250" y="3205162"/>
            <a:ext cx="326697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Стратегическое планирование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4043362"/>
            <a:ext cx="311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Возможность строить длинные цепочки решений, где агент жертвует малым сейчас ради крупной победы в будущем.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0150" y="244316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4540150" y="3205162"/>
            <a:ext cx="32671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Автономное обучение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540150" y="3719512"/>
            <a:ext cx="3111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Агент формирует знания на собственном опыте, без эталонных ответов, используя лишь редкие сигналы наград.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3200" y="244316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223200" y="3205162"/>
            <a:ext cx="326697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Динамические системы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223200" y="4043362"/>
            <a:ext cx="311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RL — единственный способ эффективно управлять сложной робототехникой и адаптивными игровыми мирами.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Основные понятия: Цикл RL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762000" y="1181100"/>
            <a:ext cx="10668000" cy="476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8128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33851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9573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6529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190625" y="2633662"/>
            <a:ext cx="3019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Агент (Agent)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90625" y="2862262"/>
            <a:ext cx="3019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Сущность, принимающая решения.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190625" y="3290887"/>
            <a:ext cx="2162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Среда (Environment)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90625" y="3519487"/>
            <a:ext cx="21621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Внешний мир для агента.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90625" y="3948112"/>
            <a:ext cx="2752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Действие (Action)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190625" y="4176712"/>
            <a:ext cx="2752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Выбор, изменяющий состояние.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190625" y="4605337"/>
            <a:ext cx="31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Награда (Reward)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190625" y="4833937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Числовой сигнал качества действия.</a:t>
            </a:r>
            <a:endParaRPr/>
          </a:p>
        </p:txBody>
      </p:sp>
      <p:pic>
        <p:nvPicPr>
          <p:cNvPr descr="Обучение с подкреплением в Super Mario Bros. Сравнение алгоритмов DQN и  Dueling DQN / Хабр" id="129" name="Google Shape;12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7750" y="2272350"/>
            <a:ext cx="6904894" cy="32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196598" y="2402298"/>
            <a:ext cx="2718600" cy="27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850" lIns="82850" spcFirstLastPara="1" rIns="82850" wrap="square" tIns="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/>
              <a:t>  </a:t>
            </a:r>
            <a:endParaRPr sz="126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371600"/>
            <a:ext cx="10668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95500"/>
            <a:ext cx="10668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19400"/>
            <a:ext cx="10668000" cy="906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39765"/>
            <a:ext cx="10668000" cy="63743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47625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Формализация: MDP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762000" y="1038225"/>
            <a:ext cx="10668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1095375" y="1576387"/>
            <a:ext cx="266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КОРТЕЖ MDP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095375" y="2300287"/>
            <a:ext cx="266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МАРКОВСКОЕ СВОЙСТВО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95375" y="3172420"/>
            <a:ext cx="266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ВОЗВРАТ (RETURN GT)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95375" y="4058394"/>
            <a:ext cx="266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ФУНКЦИИ ЦЕННОСТИ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62375" y="1562100"/>
            <a:ext cx="246474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62375" y="2286000"/>
            <a:ext cx="511194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62375" y="3009900"/>
            <a:ext cx="5549354" cy="525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62375" y="4030265"/>
            <a:ext cx="7521922" cy="256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158900"/>
            <a:ext cx="10668000" cy="873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765774"/>
            <a:ext cx="106680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17974"/>
            <a:ext cx="5238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3317974"/>
            <a:ext cx="5238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041874"/>
            <a:ext cx="5238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4041874"/>
            <a:ext cx="5238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762000" y="571500"/>
            <a:ext cx="11201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Алгоритм Q-learning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762000" y="1181100"/>
            <a:ext cx="10668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454175"/>
            <a:ext cx="10077449" cy="28277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1047750" y="4908649"/>
            <a:ext cx="1014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Temporal Difference (TD Error)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047750" y="5251549"/>
            <a:ext cx="1014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Разница между новым опытом (награда + прогноз) и старым ожиданием. На эту величину корректируется Q-значение.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62025" y="3470374"/>
            <a:ext cx="95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Q(s</a:t>
            </a:r>
            <a:r>
              <a:rPr b="1" lang="en-US" sz="15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, at)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1895475" y="3470374"/>
            <a:ext cx="1920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2105025" y="3489424"/>
            <a:ext cx="312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Оценка полезности действия в состоянии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391275" y="3470374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α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7324725" y="3470374"/>
            <a:ext cx="1920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7534275" y="3489424"/>
            <a:ext cx="2619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Скорость обучения (Learning Rate)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62025" y="4194274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rt + 1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895475" y="4194274"/>
            <a:ext cx="1920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2105025" y="4213325"/>
            <a:ext cx="271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Мгновенная награда от среды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391275" y="4194274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max Q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7324725" y="4194274"/>
            <a:ext cx="1920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7534275" y="4213324"/>
            <a:ext cx="2076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Прогноз лучшего будущего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4052887"/>
            <a:ext cx="5715000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952500" y="571500"/>
            <a:ext cx="108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Применение и ограничения Q-learning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952500" y="1152525"/>
            <a:ext cx="10287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952500" y="2062162"/>
            <a:ext cx="5715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Фундамент RL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247775" y="2643187"/>
            <a:ext cx="54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Простые игры (Крестики-нолики)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247775" y="3043237"/>
            <a:ext cx="54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Дискретная логистика (Маршрутизация)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247775" y="3443287"/>
            <a:ext cx="54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Grid World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247775" y="4300537"/>
            <a:ext cx="51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Ограничение: Q-таблица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247775" y="4624387"/>
            <a:ext cx="517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Если у нас миллион состояний (как в шахматах или картинке 640x480), таблица просто не влезет в память компьютера. Мы не можем хранить опыт для каждой точки пространства отдельно.</a:t>
            </a:r>
            <a:endParaRPr/>
          </a:p>
        </p:txBody>
      </p:sp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6670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0670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671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0050" y="2231537"/>
            <a:ext cx="3144150" cy="265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813" y="1254925"/>
            <a:ext cx="106680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25" y="2390775"/>
            <a:ext cx="10668000" cy="1298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25" y="3746896"/>
            <a:ext cx="10668000" cy="1298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139931"/>
            <a:ext cx="10668000" cy="102393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762000" y="47625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Алгоритм DQN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762000" y="1038225"/>
            <a:ext cx="10668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104900" y="1571625"/>
            <a:ext cx="10029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rPr>
              <a:t>1. Аппроксимация Q-функции нейронной сетью: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104863" y="2552338"/>
            <a:ext cx="10029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rPr>
              <a:t>2. Оптимизация среднеквадратичной ошибки (Loss function):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137613" y="3928696"/>
            <a:ext cx="10029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rPr>
              <a:t>3. Производная функции потерь (Градиент):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104913" y="5245893"/>
            <a:ext cx="10029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rPr>
              <a:t>4. Обновление параметров сети в сторону антиградиента: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8082" y="1914525"/>
            <a:ext cx="244346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3237" y="2886075"/>
            <a:ext cx="6153150" cy="508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01887" y="4242196"/>
            <a:ext cx="8235851" cy="508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46018" y="5598318"/>
            <a:ext cx="1947564" cy="23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2166937"/>
            <a:ext cx="38862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048000"/>
            <a:ext cx="58293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705225"/>
            <a:ext cx="58293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533900"/>
            <a:ext cx="58293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5362575"/>
            <a:ext cx="58293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952500" y="571500"/>
            <a:ext cx="108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Прорыв: Игры Atari и DeepMind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952500" y="1133475"/>
            <a:ext cx="10287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952500" y="1771650"/>
            <a:ext cx="582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В 2013 году DeepMind представила модель, которая научилась играть в классические видеоигры «с нуля», видя только </a:t>
            </a: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пиксели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на экране.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190625" y="3190875"/>
            <a:ext cx="28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666875" y="3205162"/>
            <a:ext cx="413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Вход:</a:t>
            </a:r>
            <a:r>
              <a:rPr b="0" i="0" lang="en-US" sz="135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 Сырые пиксели (последние 4 кадра игры)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190625" y="3933825"/>
            <a:ext cx="28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666875" y="3848100"/>
            <a:ext cx="492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Сверточная сеть (CNN):</a:t>
            </a:r>
            <a:r>
              <a:rPr b="0" i="0" lang="en-US" sz="135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 Распознавание объектов и движения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190625" y="4762500"/>
            <a:ext cx="28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666875" y="4676775"/>
            <a:ext cx="492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DQN:</a:t>
            </a:r>
            <a:r>
              <a:rPr b="0" i="0" lang="en-US" sz="135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 Расчет полезности каждого действия в этой ситуации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190625" y="5505450"/>
            <a:ext cx="28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666875" y="5519725"/>
            <a:ext cx="500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Выход:</a:t>
            </a:r>
            <a:r>
              <a:rPr b="0" i="0" lang="en-US" sz="135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 Оптимальное нажатие кнопок контроллера</a:t>
            </a:r>
            <a:endParaRPr/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3562" y="2617038"/>
            <a:ext cx="3625675" cy="271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048000"/>
            <a:ext cx="58293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876675"/>
            <a:ext cx="58293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4705350"/>
            <a:ext cx="58293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5534025"/>
            <a:ext cx="58293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952500" y="571500"/>
            <a:ext cx="108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DQN в робототехнике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952500" y="1133475"/>
            <a:ext cx="10287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952500" y="1771650"/>
            <a:ext cx="582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Использование DQN позволяет обучать роботов в безопасной цифровой среде, постепенно перенося накопленный опыт на реальные механизмы. 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190625" y="3276600"/>
            <a:ext cx="28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666875" y="3190875"/>
            <a:ext cx="492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Вход:</a:t>
            </a:r>
            <a:r>
              <a:rPr b="0" i="0" lang="en-US" sz="135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 Данные сенсоров (RGB-D камеры, лидары, датчики момента)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190625" y="4105275"/>
            <a:ext cx="28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666875" y="4019550"/>
            <a:ext cx="492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CNN / MLP:</a:t>
            </a:r>
            <a:r>
              <a:rPr b="0" i="0" lang="en-US" sz="135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 Извлечение признаков среды и состояния робота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90625" y="4933950"/>
            <a:ext cx="28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666875" y="4848225"/>
            <a:ext cx="492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DQN:</a:t>
            </a:r>
            <a:r>
              <a:rPr b="0" i="0" lang="en-US" sz="135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 Оценка полезности движений (например, захват объекта)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1190625" y="5676900"/>
            <a:ext cx="28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666875" y="5709250"/>
            <a:ext cx="460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Выход:</a:t>
            </a:r>
            <a:r>
              <a:rPr b="0" i="0" lang="en-US" sz="135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 Сигналы на приводы и сервомоторы</a:t>
            </a:r>
            <a:endParaRPr/>
          </a:p>
        </p:txBody>
      </p:sp>
      <p:pic>
        <p:nvPicPr>
          <p:cNvPr descr="image.png" id="251" name="Google Shape;25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8888" y="1822012"/>
            <a:ext cx="4187220" cy="3899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1263" y="2111675"/>
            <a:ext cx="3942471" cy="3320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181100"/>
            <a:ext cx="102870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143125"/>
            <a:ext cx="10287000" cy="1108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394174"/>
            <a:ext cx="10287000" cy="1415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3025" y="3775174"/>
            <a:ext cx="9553575" cy="417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43025" y="4239964"/>
            <a:ext cx="9553575" cy="41716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952500" y="381000"/>
            <a:ext cx="108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Алгоритм A2C (Advantage Actor-Critic)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952500" y="895350"/>
            <a:ext cx="10287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1343025" y="1333500"/>
            <a:ext cx="9553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1. ОЦЕНКА ПРЕИМУЩЕСТВА (КРИТИК)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343025" y="2295525"/>
            <a:ext cx="9553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2. ЦЕЛЕВАЯ ФУНКЦИЯ (TOTAL LOSS)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343025" y="3546574"/>
            <a:ext cx="9553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3. ШАГИ ОБНОВЛЕНИЯ ЧЕРЕЗ ГРАДИЕНТНЫЙ СПУСК</a:t>
            </a:r>
            <a:endParaRPr/>
          </a:p>
        </p:txBody>
      </p:sp>
      <p:pic>
        <p:nvPicPr>
          <p:cNvPr descr="image.png" id="267" name="Google Shape;26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8260" y="1609725"/>
            <a:ext cx="3403103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3547" y="2571750"/>
            <a:ext cx="5952380" cy="47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4295775" y="3870424"/>
            <a:ext cx="6200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Для Актера:</a:t>
            </a:r>
            <a:r>
              <a:rPr b="0" i="0" lang="en-US" sz="12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Меняем стратегию так, чтобы чаще выбирать действия с </a:t>
            </a: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 &gt; 0</a:t>
            </a:r>
            <a:r>
              <a:rPr b="0" i="0" lang="en-US" sz="12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4295775" y="4335225"/>
            <a:ext cx="6600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Для Критика:</a:t>
            </a:r>
            <a:r>
              <a:rPr b="0" i="0" lang="en-US" sz="12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Минимизируем ошибку прогноза ценности состояния (TD-error).</a:t>
            </a:r>
            <a:endParaRPr/>
          </a:p>
        </p:txBody>
      </p:sp>
      <p:pic>
        <p:nvPicPr>
          <p:cNvPr descr="image.png" id="271" name="Google Shape;271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33525" y="3884562"/>
            <a:ext cx="2362200" cy="198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33525" y="4349353"/>
            <a:ext cx="2362200" cy="19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24310"/>
            <a:ext cx="3524250" cy="4166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1624310"/>
            <a:ext cx="3524250" cy="4166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1624310"/>
            <a:ext cx="3524250" cy="416688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571500" y="776585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Современные SOTA-алгоритмы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571500" y="1290935"/>
            <a:ext cx="11049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819150" y="1967210"/>
            <a:ext cx="31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PPO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819150" y="2338685"/>
            <a:ext cx="302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PROXIMAL POLICY OPTIMIZATION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819150" y="2643485"/>
            <a:ext cx="3029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Самый востребованный алгоритм «общего назначения». Сочетает простоту реализации и стабильность обучения.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4581525" y="1967210"/>
            <a:ext cx="31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DDPG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4581525" y="2338685"/>
            <a:ext cx="302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DEEP DETERMINISTIC PG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4581525" y="2643485"/>
            <a:ext cx="302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Классический метод, адаптировавший успех DQN для систем с непрерывным пространством действий.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8343900" y="1967210"/>
            <a:ext cx="31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SAC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8343900" y="2338685"/>
            <a:ext cx="302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SOFT ACTOR-CRITIC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8343900" y="2643485"/>
            <a:ext cx="302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Лидер в задачах, требующих высокой эффективности использования данных (Sample Efficiency).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1085850" y="4191000"/>
            <a:ext cx="27624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Стабильность:</a:t>
            </a:r>
            <a:r>
              <a:rPr b="0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Защищен от резких и катастрофических изменений стратегии.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1085850" y="4843462"/>
            <a:ext cx="27624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Масштабируемость:</a:t>
            </a:r>
            <a:r>
              <a:rPr b="0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База для </a:t>
            </a:r>
            <a:r>
              <a:rPr b="1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OpenAI Five</a:t>
            </a:r>
            <a:r>
              <a:rPr b="0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и ключевой метод обучения ChatGPT (RLHF).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848225" y="4191000"/>
            <a:ext cx="27624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Детерминизм:</a:t>
            </a:r>
            <a:r>
              <a:rPr b="0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Актор выдает одно четкое значение (например, угол поворота руля).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4848225" y="4843462"/>
            <a:ext cx="27624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Фундамент:</a:t>
            </a:r>
            <a:r>
              <a:rPr b="0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Базовая архитектура, на которой выросли современные TD3 и SAC.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8610600" y="4191000"/>
            <a:ext cx="27624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Энтропия:</a:t>
            </a:r>
            <a:r>
              <a:rPr b="0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Агент поощряется за «любопытство», что помогает находить более сложные решения.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8610600" y="4843462"/>
            <a:ext cx="27624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Робототехника:</a:t>
            </a:r>
            <a:r>
              <a:rPr b="0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Золотой стандарт в управлении сложными физическими манипуляторами.</a:t>
            </a:r>
            <a:endParaRPr/>
          </a:p>
        </p:txBody>
      </p:sp>
      <p:pic>
        <p:nvPicPr>
          <p:cNvPr descr="image.png" id="297" name="Google Shape;29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1910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84346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1525" y="41910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1525" y="484346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43900" y="41910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43900" y="4843462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863060"/>
            <a:ext cx="10668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762000" y="776585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Примеры успеха: Киберспорт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762000" y="1290935"/>
            <a:ext cx="10668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762000" y="7063085"/>
            <a:ext cx="12096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Гладышев Матвей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8353425" y="7063085"/>
            <a:ext cx="30765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Победы ИИ в средах с неполной информацией</a:t>
            </a:r>
            <a:endParaRPr/>
          </a:p>
        </p:txBody>
      </p:sp>
      <p:pic>
        <p:nvPicPr>
          <p:cNvPr descr="image.png" id="312" name="Google Shape;31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1250" y="1556088"/>
            <a:ext cx="5106200" cy="229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1262" y="4072625"/>
            <a:ext cx="5106184" cy="22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1504950" y="2174974"/>
            <a:ext cx="4064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Dota 2: OpenAI Five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1047750" y="2641699"/>
            <a:ext cx="45219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Система ИИ, победившая чемпионов мира (команду OG). Обучалась с помощью алгоритма </a:t>
            </a:r>
            <a:r>
              <a:rPr b="1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PPO</a:t>
            </a: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на протяжении 10 месяцев, проходя эквивалент 45 000 лет игрового времени.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438275" y="4291310"/>
            <a:ext cx="4131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StarCraft II: AlphaStar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1047750" y="4758035"/>
            <a:ext cx="45219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Агент от DeepMind, достигший уровня </a:t>
            </a:r>
            <a:r>
              <a:rPr b="1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Grandmaster</a:t>
            </a: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 Использовал комбинацию </a:t>
            </a:r>
            <a:r>
              <a:rPr b="1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Actor-Critic</a:t>
            </a: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имитационного обучения и уникальную «Лигу» агентов для отработки контр-стратегий.</a:t>
            </a:r>
            <a:endParaRPr/>
          </a:p>
        </p:txBody>
      </p:sp>
      <p:pic>
        <p:nvPicPr>
          <p:cNvPr descr="image.png" id="318" name="Google Shape;31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121" y="23863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121" y="495806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2198786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4315122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3900" y="1611675"/>
            <a:ext cx="4593801" cy="218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83900" y="4128200"/>
            <a:ext cx="4593800" cy="21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863060"/>
            <a:ext cx="10668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 txBox="1"/>
          <p:nvPr/>
        </p:nvSpPr>
        <p:spPr>
          <a:xfrm>
            <a:off x="762000" y="776585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Примеры успеха: Робототехника и Индустрия</a:t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762000" y="1290935"/>
            <a:ext cx="10668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762000" y="7063085"/>
            <a:ext cx="12096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Гладышев Матвей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8248650" y="7063085"/>
            <a:ext cx="31812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RL: От виртуальных миров к реальным задачам</a:t>
            </a:r>
            <a:endParaRPr/>
          </a:p>
        </p:txBody>
      </p:sp>
      <p:pic>
        <p:nvPicPr>
          <p:cNvPr descr="image.png" id="333" name="Google Shape;3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6425" y="1624300"/>
            <a:ext cx="422669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6425" y="4196050"/>
            <a:ext cx="422669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 txBox="1"/>
          <p:nvPr/>
        </p:nvSpPr>
        <p:spPr>
          <a:xfrm>
            <a:off x="1400175" y="1686222"/>
            <a:ext cx="416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Локомоция (ANYmal / Unitree)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1000125" y="2114847"/>
            <a:ext cx="456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Обучение четвероногих роботов ходьбе по пересеченной местности, льду и лестницам. RL позволяет находить устойчивые паттерны движения, которые невозможно запрограммировать вручную.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1314450" y="3467397"/>
            <a:ext cx="425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Сверхловкость (OpenAI Dactyl)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1000125" y="3896022"/>
            <a:ext cx="456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Антропоморфная робо-рука научилась собирать кубик Рубика одной рукой. Система обучалась исключительно в симуляции, успешно перенеся опыт на реальное «железо» (Sim-to-Real).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1343025" y="5248572"/>
            <a:ext cx="422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Энергоэффективность (DeepMind)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1000125" y="5677197"/>
            <a:ext cx="456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Использование RL для управления системами охлаждения в дата-центрах Google. Результат: снижение затрат на электроэнергию для охлаждения на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40%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341" name="Google Shape;34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3221" y="244822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3221" y="501997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171003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349121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0125" y="527238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35013" y="1710038"/>
            <a:ext cx="3301228" cy="220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61450" y="4377600"/>
            <a:ext cx="3522308" cy="21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719560"/>
            <a:ext cx="3365450" cy="3919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1719560"/>
            <a:ext cx="3365450" cy="3919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719560"/>
            <a:ext cx="3365599" cy="391923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7"/>
          <p:cNvSpPr txBox="1"/>
          <p:nvPr/>
        </p:nvSpPr>
        <p:spPr>
          <a:xfrm>
            <a:off x="762000" y="776585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Будущее и горизонты развития RL</a:t>
            </a:r>
            <a:endParaRPr/>
          </a:p>
        </p:txBody>
      </p:sp>
      <p:sp>
        <p:nvSpPr>
          <p:cNvPr id="356" name="Google Shape;356;p27"/>
          <p:cNvSpPr/>
          <p:nvPr/>
        </p:nvSpPr>
        <p:spPr>
          <a:xfrm>
            <a:off x="762000" y="1290935"/>
            <a:ext cx="10668000" cy="477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7"/>
          <p:cNvSpPr txBox="1"/>
          <p:nvPr/>
        </p:nvSpPr>
        <p:spPr>
          <a:xfrm>
            <a:off x="1057275" y="2624435"/>
            <a:ext cx="27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MARL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1057275" y="3043535"/>
            <a:ext cx="277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Multi-Agent RL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Обучение групп агентов совместной работе. Применяется в управлении </a:t>
            </a: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трафиком умных городов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роями дронов и в логистических хабах.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4708475" y="2624435"/>
            <a:ext cx="27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RLHF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4708475" y="3043535"/>
            <a:ext cx="2775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Human Feedback RL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Дообучение моделей (LLM) на основе оценок человека. Ключевой метод, сделавший ответы </a:t>
            </a: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и Claude полезными и безопасными.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8359675" y="2624435"/>
            <a:ext cx="27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HRL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8359675" y="3043535"/>
            <a:ext cx="277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Hierarchical RL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Разбиение сложных задач на иерархию подцелей. Позволяет ИИ планировать на </a:t>
            </a: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длинные горизонты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отделяя стратегию от тактики.</a:t>
            </a:r>
            <a:endParaRPr/>
          </a:p>
        </p:txBody>
      </p:sp>
      <p:pic>
        <p:nvPicPr>
          <p:cNvPr descr="image.png" id="363" name="Google Shape;36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09103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8475" y="209103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9675" y="2091035"/>
            <a:ext cx="3429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0" name="Google Shape;3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 txBox="1"/>
          <p:nvPr/>
        </p:nvSpPr>
        <p:spPr>
          <a:xfrm>
            <a:off x="762000" y="90353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Список источников</a:t>
            </a:r>
            <a:endParaRPr/>
          </a:p>
        </p:txBody>
      </p:sp>
      <p:pic>
        <p:nvPicPr>
          <p:cNvPr descr="image.png" id="372" name="Google Shape;37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6556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6556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34193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4193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81831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00843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8"/>
          <p:cNvSpPr txBox="1"/>
          <p:nvPr/>
        </p:nvSpPr>
        <p:spPr>
          <a:xfrm>
            <a:off x="1428750" y="1865560"/>
            <a:ext cx="4381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ТЕОРИЯ / БАЗА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1428750" y="2056060"/>
            <a:ext cx="438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Обучение с подкреплением: Введение</a:t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1238250" y="2360850"/>
            <a:ext cx="4572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Р. Саттон, Э. Барто.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Классический труд, описывающий основы MDP и TD-обучения.</a:t>
            </a:r>
            <a:endParaRPr/>
          </a:p>
        </p:txBody>
      </p:sp>
      <p:pic>
        <p:nvPicPr>
          <p:cNvPr descr="image.png" id="381" name="Google Shape;38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48437" y="2008435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/>
          <p:nvPr/>
        </p:nvSpPr>
        <p:spPr>
          <a:xfrm>
            <a:off x="7048500" y="1865560"/>
            <a:ext cx="4381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КЕЙС: DOTA 2</a:t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7048500" y="2056060"/>
            <a:ext cx="438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Dota 2 with Large Scale Deep RL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6921275" y="2360850"/>
            <a:ext cx="450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OpenAI (C. Berner et al.)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Технический отчет о победе над чемпионами мира через PPO.</a:t>
            </a:r>
            <a:endParaRPr/>
          </a:p>
        </p:txBody>
      </p:sp>
      <p:pic>
        <p:nvPicPr>
          <p:cNvPr descr="image.png" id="385" name="Google Shape;385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8687" y="348481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8"/>
          <p:cNvSpPr txBox="1"/>
          <p:nvPr/>
        </p:nvSpPr>
        <p:spPr>
          <a:xfrm>
            <a:off x="1428750" y="3341935"/>
            <a:ext cx="4381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ПРАКТИКА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1428750" y="3532435"/>
            <a:ext cx="438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Грокаем обучение с подкреплением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1198200" y="3837225"/>
            <a:ext cx="4842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Мигель Моралес.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Современное руководство по реализации алгоритмов на Python.</a:t>
            </a:r>
            <a:endParaRPr/>
          </a:p>
        </p:txBody>
      </p:sp>
      <p:pic>
        <p:nvPicPr>
          <p:cNvPr descr="image.png" id="389" name="Google Shape;389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348481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8"/>
          <p:cNvSpPr txBox="1"/>
          <p:nvPr/>
        </p:nvSpPr>
        <p:spPr>
          <a:xfrm>
            <a:off x="7048500" y="3341935"/>
            <a:ext cx="43242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КЕЙС: STARCRAFT II</a:t>
            </a:r>
            <a:endParaRPr/>
          </a:p>
        </p:txBody>
      </p:sp>
      <p:sp>
        <p:nvSpPr>
          <p:cNvPr id="391" name="Google Shape;391;p28"/>
          <p:cNvSpPr txBox="1"/>
          <p:nvPr/>
        </p:nvSpPr>
        <p:spPr>
          <a:xfrm>
            <a:off x="7048500" y="3532435"/>
            <a:ext cx="432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AlphaStar: Grandmaster level in SC II</a:t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6921275" y="3837225"/>
            <a:ext cx="4451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DeepMind (O. Vinyals et al.)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Публикация в Nature об иерархическом и многоагентном RL.</a:t>
            </a:r>
            <a:endParaRPr/>
          </a:p>
        </p:txBody>
      </p:sp>
      <p:pic>
        <p:nvPicPr>
          <p:cNvPr descr="image.png" id="393" name="Google Shape;393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0587" y="496118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8"/>
          <p:cNvSpPr txBox="1"/>
          <p:nvPr/>
        </p:nvSpPr>
        <p:spPr>
          <a:xfrm>
            <a:off x="1428750" y="4818310"/>
            <a:ext cx="4381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ОБРАЗОВАНИЕ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1428750" y="5008810"/>
            <a:ext cx="438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Spinning Up in Deep RL</a:t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988950" y="5303400"/>
            <a:ext cx="5070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OpenAI Education.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Ключевой онлайн-ресурс с теорией и бенчмарками SOTA-алгоритмов.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9"/>
          <p:cNvSpPr txBox="1"/>
          <p:nvPr/>
        </p:nvSpPr>
        <p:spPr>
          <a:xfrm>
            <a:off x="1595437" y="2081212"/>
            <a:ext cx="90012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Спасибо за внимание!</a:t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5524500" y="3405187"/>
            <a:ext cx="1143000" cy="381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1809750" y="3824287"/>
            <a:ext cx="857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Гладышев Матвей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1809750" y="4319587"/>
            <a:ext cx="857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309 группа, факультет ПМ-ПУ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